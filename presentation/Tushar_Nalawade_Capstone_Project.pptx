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0"/>
  </p:notesMasterIdLst>
  <p:handoutMasterIdLst>
    <p:handoutMasterId r:id="rId15"/>
  </p:handoutMasterIdLst>
  <p:sldIdLst>
    <p:sldId id="256" r:id="rId3"/>
    <p:sldId id="714" r:id="rId4"/>
    <p:sldId id="715" r:id="rId5"/>
    <p:sldId id="716" r:id="rId6"/>
    <p:sldId id="717" r:id="rId7"/>
    <p:sldId id="713" r:id="rId8"/>
    <p:sldId id="676" r:id="rId9"/>
    <p:sldId id="719" r:id="rId11"/>
    <p:sldId id="720" r:id="rId12"/>
    <p:sldId id="711" r:id="rId13"/>
    <p:sldId id="303" r:id="rId14"/>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E0EA"/>
    <a:srgbClr val="161A3E"/>
    <a:srgbClr val="8FAADC"/>
    <a:srgbClr val="626CC7"/>
    <a:srgbClr val="333F50"/>
    <a:srgbClr val="8497B0"/>
    <a:srgbClr val="2F559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66.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Arrow: Pentagon 5"/>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p:cNvSpPr txBox="1"/>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p:cNvSpPr txBox="1"/>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endParaRPr lang="en-US" sz="3400" dirty="0">
              <a:solidFill>
                <a:srgbClr val="1D1B58"/>
              </a:solidFill>
              <a:latin typeface="Calibri" panose="020F0502020204030204" pitchFamily="34" charset="0"/>
            </a:endParaRPr>
          </a:p>
        </p:txBody>
      </p:sp>
      <p:sp>
        <p:nvSpPr>
          <p:cNvPr id="13" name="Freeform: Shape 12"/>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Title 1"/>
          <p:cNvSpPr txBox="1"/>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
        <p:nvSpPr>
          <p:cNvPr id="13" name="Freeform: Shape 12"/>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2052" name="Picture 4" descr="Top Ranked Data Science Institute, Classroom Plus Online Training | Boston  Institute of Analytics"/>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a:fillRect/>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endParaRPr lang="en-US" sz="1100" dirty="0">
              <a:solidFill>
                <a:schemeClr val="bg2">
                  <a:lumMod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2" Type="http://schemas.openxmlformats.org/officeDocument/2006/relationships/slideLayout" Target="../slideLayouts/slideLayout3.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1" Type="http://schemas.openxmlformats.org/officeDocument/2006/relationships/slideLayout" Target="../slideLayouts/slideLayout2.xml"/><Relationship Id="rId10" Type="http://schemas.openxmlformats.org/officeDocument/2006/relationships/tags" Target="../tags/tag47.xml"/><Relationship Id="rId1" Type="http://schemas.openxmlformats.org/officeDocument/2006/relationships/tags" Target="../tags/tag3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7.png"/><Relationship Id="rId19" Type="http://schemas.openxmlformats.org/officeDocument/2006/relationships/notesSlide" Target="../notesSlides/notesSlide1.xml"/><Relationship Id="rId18" Type="http://schemas.openxmlformats.org/officeDocument/2006/relationships/slideLayout" Target="../slideLayouts/slideLayout2.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8.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65.xml"/><Relationship Id="rId1" Type="http://schemas.openxmlformats.org/officeDocument/2006/relationships/tags" Target="../tags/tag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9245" y="2753360"/>
            <a:ext cx="6493510" cy="1574165"/>
          </a:xfrm>
          <a:prstGeom prst="rect">
            <a:avLst/>
          </a:prstGeom>
          <a:solidFill>
            <a:schemeClr val="bg2">
              <a:alpha val="80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lnSpc>
                <a:spcPct val="100000"/>
              </a:lnSpc>
              <a:buNone/>
            </a:pPr>
            <a:r>
              <a:rPr lang="en-US" sz="3600" b="1" dirty="0">
                <a:solidFill>
                  <a:schemeClr val="tx1"/>
                </a:solidFill>
                <a:effectLst>
                  <a:outerShdw blurRad="38100" dist="19050" dir="2700000" algn="tl" rotWithShape="0">
                    <a:schemeClr val="dk1">
                      <a:alpha val="40000"/>
                    </a:schemeClr>
                  </a:outerShdw>
                </a:effectLst>
                <a:latin typeface="Georgia Pro Black" panose="02040A02050405020203" charset="0"/>
                <a:ea typeface="SimSun" panose="02010600030101010101" pitchFamily="2" charset="-122"/>
                <a:cs typeface="Georgia Pro Black" panose="02040A02050405020203" charset="0"/>
                <a:sym typeface="+mn-ea"/>
              </a:rPr>
              <a:t>Customer Segmentation</a:t>
            </a:r>
            <a:endParaRPr lang="en-US" sz="3600" dirty="0">
              <a:solidFill>
                <a:schemeClr val="tx1"/>
              </a:solidFill>
              <a:effectLst>
                <a:outerShdw blurRad="38100" dist="19050" dir="2700000" algn="tl" rotWithShape="0">
                  <a:schemeClr val="dk1">
                    <a:alpha val="40000"/>
                  </a:schemeClr>
                </a:outerShdw>
              </a:effectLst>
              <a:latin typeface="Georgia Pro Black" panose="02040A02050405020203" charset="0"/>
              <a:cs typeface="Georgia Pro Black" panose="02040A02050405020203" charset="0"/>
            </a:endParaRPr>
          </a:p>
          <a:p>
            <a:pPr marL="0" indent="0" algn="ctr">
              <a:lnSpc>
                <a:spcPct val="100000"/>
              </a:lnSpc>
              <a:buNone/>
            </a:pPr>
            <a:r>
              <a:rPr lang="en-US" sz="3600" b="1" dirty="0">
                <a:solidFill>
                  <a:schemeClr val="tx1"/>
                </a:solidFill>
                <a:effectLst>
                  <a:outerShdw blurRad="38100" dist="19050" dir="2700000" algn="tl" rotWithShape="0">
                    <a:schemeClr val="dk1">
                      <a:alpha val="40000"/>
                    </a:schemeClr>
                  </a:outerShdw>
                </a:effectLst>
                <a:latin typeface="Georgia Pro Black" panose="02040A02050405020203" charset="0"/>
                <a:ea typeface="SimSun" panose="02010600030101010101" pitchFamily="2" charset="-122"/>
                <a:cs typeface="Georgia Pro Black" panose="02040A02050405020203" charset="0"/>
                <a:sym typeface="+mn-ea"/>
              </a:rPr>
              <a:t>&amp; Predictive Modelling</a:t>
            </a:r>
            <a:endParaRPr lang="en-US" sz="3600" b="1" dirty="0">
              <a:solidFill>
                <a:schemeClr val="tx1"/>
              </a:solidFill>
              <a:effectLst>
                <a:outerShdw blurRad="38100" dist="19050" dir="2700000" algn="tl" rotWithShape="0">
                  <a:schemeClr val="dk1">
                    <a:alpha val="40000"/>
                  </a:schemeClr>
                </a:outerShdw>
              </a:effectLst>
              <a:latin typeface="Georgia Pro Black" panose="02040A02050405020203" charset="0"/>
              <a:ea typeface="SimSun" panose="02010600030101010101" pitchFamily="2" charset="-122"/>
              <a:cs typeface="Georgia Pro Black" panose="02040A02050405020203" charset="0"/>
              <a:sym typeface="+mn-ea"/>
            </a:endParaRPr>
          </a:p>
        </p:txBody>
      </p:sp>
      <p:sp>
        <p:nvSpPr>
          <p:cNvPr id="3" name="Text Box 2"/>
          <p:cNvSpPr txBox="1"/>
          <p:nvPr/>
        </p:nvSpPr>
        <p:spPr>
          <a:xfrm>
            <a:off x="1778000" y="5078095"/>
            <a:ext cx="8950960" cy="558800"/>
          </a:xfrm>
          <a:prstGeom prst="rect">
            <a:avLst/>
          </a:prstGeom>
          <a:solidFill>
            <a:schemeClr val="accent2">
              <a:lumMod val="50000"/>
            </a:schemeClr>
          </a:solidFill>
        </p:spPr>
        <p:txBody>
          <a:bodyPr wrap="square" rtlCol="0">
            <a:noAutofit/>
          </a:bodyPr>
          <a:p>
            <a:pPr indent="0" algn="ctr">
              <a:lnSpc>
                <a:spcPct val="120000"/>
              </a:lnSpc>
              <a:buNone/>
            </a:pPr>
            <a:r>
              <a:rPr lang="en-US" sz="2400" dirty="0">
                <a:solidFill>
                  <a:schemeClr val="accent4"/>
                </a:solidFill>
                <a:latin typeface="Georgia Pro Cond Light" panose="02040306050405020303" charset="0"/>
                <a:ea typeface="SimSun" panose="02010600030101010101" pitchFamily="2" charset="-122"/>
                <a:cs typeface="Georgia Pro Cond Light" panose="02040306050405020303" charset="0"/>
                <a:sym typeface="+mn-ea"/>
              </a:rPr>
              <a:t>RFM Analysis · Clustering · Risk Modeling · Predictive Classifier </a:t>
            </a:r>
            <a:endParaRPr lang="en-US" sz="2400" dirty="0">
              <a:solidFill>
                <a:schemeClr val="accent4"/>
              </a:solidFill>
              <a:latin typeface="Georgia Pro Cond Light" panose="02040306050405020303" charset="0"/>
              <a:cs typeface="Georgia Pro Cond Light" panose="02040306050405020303" charset="0"/>
            </a:endParaRPr>
          </a:p>
          <a:p>
            <a:pPr indent="0" algn="ctr">
              <a:buNone/>
            </a:pPr>
            <a:endParaRPr lang="en-US" altLang="en-US" sz="2400" dirty="0">
              <a:solidFill>
                <a:schemeClr val="accent4"/>
              </a:solidFill>
              <a:latin typeface="Georgia Pro Cond Light" panose="02040306050405020303" charset="0"/>
              <a:cs typeface="Georgia Pro Cond Light" panose="02040306050405020303"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7094855" y="3708400"/>
            <a:ext cx="3952875" cy="2214880"/>
          </a:xfrm>
          <a:prstGeom prst="roundRect">
            <a:avLst/>
          </a:prstGeom>
          <a:solidFill>
            <a:schemeClr val="accent2">
              <a:lumMod val="20000"/>
              <a:lumOff val="8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2" name="Title 1"/>
          <p:cNvSpPr>
            <a:spLocks noGrp="1"/>
          </p:cNvSpPr>
          <p:nvPr>
            <p:ph type="title"/>
          </p:nvPr>
        </p:nvSpPr>
        <p:spPr>
          <a:xfrm>
            <a:off x="774134" y="603666"/>
            <a:ext cx="10834234" cy="612775"/>
          </a:xfrm>
        </p:spPr>
        <p:txBody>
          <a:bodyPr>
            <a:noAutofit/>
          </a:bodyPr>
          <a:lstStyle/>
          <a:p>
            <a:r>
              <a:rPr lang="en-US" sz="4400"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Introduction &amp; Objectives</a:t>
            </a:r>
            <a:endParaRPr lang="en-US" sz="4400"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endParaRPr>
          </a:p>
        </p:txBody>
      </p:sp>
      <p:sp>
        <p:nvSpPr>
          <p:cNvPr id="3" name="Content Placeholder 2"/>
          <p:cNvSpPr>
            <a:spLocks noGrp="1"/>
          </p:cNvSpPr>
          <p:nvPr>
            <p:ph idx="1"/>
          </p:nvPr>
        </p:nvSpPr>
        <p:spPr>
          <a:xfrm>
            <a:off x="1552575" y="1675130"/>
            <a:ext cx="4159250" cy="4398010"/>
          </a:xfrm>
        </p:spPr>
        <p:txBody>
          <a:bodyPr/>
          <a:lstStyle/>
          <a:p>
            <a:pPr marL="0" indent="0" algn="ctr">
              <a:buNone/>
            </a:pPr>
            <a:r>
              <a:rPr lang="en-US" sz="1800"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rPr>
              <a:t>Main Objective</a:t>
            </a:r>
            <a:endParaRPr lang="en-US" sz="1800"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endParaRPr>
          </a:p>
          <a:p>
            <a:pPr marL="0" indent="0" algn="l">
              <a:buNone/>
            </a:pPr>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Segment customers for targeted marketing &amp; retention</a:t>
            </a:r>
            <a:endParaRPr lang="en-US" dirty="0">
              <a:latin typeface="Georgia Pro Cond Light" panose="02040306050405020303" charset="0"/>
              <a:cs typeface="Georgia Pro Cond Light" panose="02040306050405020303" charset="0"/>
            </a:endParaRPr>
          </a:p>
          <a:p>
            <a:endParaRPr lang="en-IN">
              <a:latin typeface="Georgia Pro Cond Light" panose="02040306050405020303" charset="0"/>
              <a:cs typeface="Georgia Pro Cond Light" panose="02040306050405020303" charset="0"/>
            </a:endParaRPr>
          </a:p>
        </p:txBody>
      </p:sp>
      <p:sp>
        <p:nvSpPr>
          <p:cNvPr id="4" name="Text Box 3"/>
          <p:cNvSpPr txBox="1"/>
          <p:nvPr/>
        </p:nvSpPr>
        <p:spPr>
          <a:xfrm>
            <a:off x="1647825" y="3507740"/>
            <a:ext cx="4064000" cy="2214880"/>
          </a:xfrm>
          <a:prstGeom prst="rect">
            <a:avLst/>
          </a:prstGeom>
          <a:noFill/>
        </p:spPr>
        <p:txBody>
          <a:bodyPr wrap="square" rtlCol="0">
            <a:spAutoFit/>
          </a:bodyPr>
          <a:p>
            <a:pPr marL="0" indent="0" algn="just">
              <a:lnSpc>
                <a:spcPts val="1800"/>
              </a:lnSpc>
              <a:buSzPct val="100000"/>
              <a:buNone/>
            </a:pPr>
            <a:r>
              <a:rPr lang="en-US" dirty="0">
                <a:solidFill>
                  <a:srgbClr val="2563EB"/>
                </a:solidFill>
                <a:latin typeface="Georgia Pro Cond Light" panose="02040306050405020303" charset="0"/>
                <a:ea typeface="SimSun" panose="02010600030101010101" pitchFamily="2" charset="-122"/>
                <a:cs typeface="Georgia Pro Cond Light" panose="02040306050405020303" charset="0"/>
                <a:sym typeface="+mn-ea"/>
              </a:rPr>
              <a:t>→</a:t>
            </a:r>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Identify high-value VIP customers for upselling</a:t>
            </a:r>
            <a:endParaRPr lang="en-US" dirty="0">
              <a:latin typeface="Georgia Pro Cond Light" panose="02040306050405020303" charset="0"/>
              <a:cs typeface="Georgia Pro Cond Light" panose="02040306050405020303" charset="0"/>
            </a:endParaRPr>
          </a:p>
          <a:p>
            <a:pPr marL="0" indent="0" algn="just">
              <a:lnSpc>
                <a:spcPts val="1800"/>
              </a:lnSpc>
              <a:buSzPct val="100000"/>
              <a:buNone/>
            </a:pPr>
            <a:r>
              <a:rPr lang="en-US" dirty="0">
                <a:solidFill>
                  <a:srgbClr val="7C3AED"/>
                </a:solidFill>
                <a:latin typeface="Georgia Pro Cond Light" panose="02040306050405020303" charset="0"/>
                <a:ea typeface="SimSun" panose="02010600030101010101" pitchFamily="2" charset="-122"/>
                <a:cs typeface="Georgia Pro Cond Light" panose="02040306050405020303" charset="0"/>
                <a:sym typeface="+mn-ea"/>
              </a:rPr>
              <a:t>→</a:t>
            </a:r>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Flag at-risk customers before churn occurs</a:t>
            </a:r>
            <a:endParaRPr lang="en-US" dirty="0">
              <a:latin typeface="Georgia Pro Cond Light" panose="02040306050405020303" charset="0"/>
              <a:cs typeface="Georgia Pro Cond Light" panose="02040306050405020303" charset="0"/>
            </a:endParaRPr>
          </a:p>
          <a:p>
            <a:pPr marL="0" indent="0" algn="just">
              <a:lnSpc>
                <a:spcPts val="1800"/>
              </a:lnSpc>
              <a:buSzPct val="100000"/>
              <a:buNone/>
            </a:pPr>
            <a:r>
              <a:rPr lang="en-US" dirty="0">
                <a:solidFill>
                  <a:srgbClr val="0891B2"/>
                </a:solidFill>
                <a:latin typeface="Georgia Pro Cond Light" panose="02040306050405020303" charset="0"/>
                <a:ea typeface="SimSun" panose="02010600030101010101" pitchFamily="2" charset="-122"/>
                <a:cs typeface="Georgia Pro Cond Light" panose="02040306050405020303" charset="0"/>
                <a:sym typeface="+mn-ea"/>
              </a:rPr>
              <a:t>→</a:t>
            </a:r>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Discover growth opportunities in Potential segment</a:t>
            </a:r>
            <a:endParaRPr lang="en-US" dirty="0">
              <a:latin typeface="Georgia Pro Cond Light" panose="02040306050405020303" charset="0"/>
              <a:cs typeface="Georgia Pro Cond Light" panose="02040306050405020303" charset="0"/>
            </a:endParaRPr>
          </a:p>
          <a:p>
            <a:pPr marL="0" indent="0" algn="just">
              <a:lnSpc>
                <a:spcPts val="1800"/>
              </a:lnSpc>
              <a:buSzPct val="100000"/>
              <a:buNone/>
            </a:pPr>
            <a:r>
              <a:rPr lang="en-US" dirty="0">
                <a:solidFill>
                  <a:srgbClr val="10B981"/>
                </a:solidFill>
                <a:latin typeface="Georgia Pro Cond Light" panose="02040306050405020303" charset="0"/>
                <a:ea typeface="SimSun" panose="02010600030101010101" pitchFamily="2" charset="-122"/>
                <a:cs typeface="Georgia Pro Cond Light" panose="02040306050405020303" charset="0"/>
                <a:sym typeface="+mn-ea"/>
              </a:rPr>
              <a:t>→</a:t>
            </a:r>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Enable personalized campaign targeting at scale</a:t>
            </a:r>
            <a:endParaRPr lang="en-US" dirty="0">
              <a:latin typeface="Georgia Pro Cond Light" panose="02040306050405020303" charset="0"/>
              <a:cs typeface="Georgia Pro Cond Light" panose="02040306050405020303" charset="0"/>
            </a:endParaRPr>
          </a:p>
          <a:p>
            <a:pPr algn="just"/>
            <a:endParaRPr lang="en-GB" altLang="en-US">
              <a:latin typeface="Georgia Pro Cond Light" panose="02040306050405020303" charset="0"/>
              <a:cs typeface="Georgia Pro Cond Light" panose="02040306050405020303" charset="0"/>
            </a:endParaRPr>
          </a:p>
        </p:txBody>
      </p:sp>
      <p:sp>
        <p:nvSpPr>
          <p:cNvPr id="6" name="Text 2"/>
          <p:cNvSpPr/>
          <p:nvPr/>
        </p:nvSpPr>
        <p:spPr>
          <a:xfrm>
            <a:off x="6861175" y="1732915"/>
            <a:ext cx="3952875" cy="1508760"/>
          </a:xfrm>
          <a:prstGeom prst="roundRect">
            <a:avLst>
              <a:gd name="adj" fmla="val 84845"/>
            </a:avLst>
          </a:prstGeom>
          <a:solidFill>
            <a:schemeClr val="accent4">
              <a:lumMod val="20000"/>
              <a:lumOff val="80000"/>
            </a:schemeClr>
          </a:solidFill>
          <a:ln w="9525">
            <a:solidFill>
              <a:srgbClr val="000000"/>
            </a:solidFill>
          </a:ln>
          <a:effectLst>
            <a:outerShdw blurRad="190500" dist="38100" dir="5400000" algn="bl" rotWithShape="0">
              <a:srgbClr val="2563EB">
                <a:alpha val="6000"/>
              </a:srgbClr>
            </a:outerShdw>
          </a:effectLst>
        </p:spPr>
        <p:txBody>
          <a:bodyPr wrap="none" lIns="0" tIns="0" rIns="0" bIns="0" rtlCol="0" anchor="ctr">
            <a:normAutofit/>
          </a:bodyPr>
          <a:lstStyle/>
          <a:p>
            <a:pPr marL="0" indent="0" algn="ctr">
              <a:buNone/>
            </a:pPr>
            <a:endParaRPr lang="en-US" sz="1600" dirty="0">
              <a:latin typeface="Georgia Pro Cond Light" panose="02040306050405020303" charset="0"/>
              <a:cs typeface="Georgia Pro Cond Light" panose="02040306050405020303" charset="0"/>
            </a:endParaRPr>
          </a:p>
          <a:p>
            <a:pPr marL="0" indent="0" algn="ctr">
              <a:buNone/>
            </a:pPr>
            <a:endParaRPr lang="en-US" sz="1600" dirty="0">
              <a:latin typeface="Georgia Pro Cond Light" panose="02040306050405020303" charset="0"/>
              <a:cs typeface="Georgia Pro Cond Light" panose="02040306050405020303" charset="0"/>
            </a:endParaRPr>
          </a:p>
          <a:p>
            <a:pPr marL="0" indent="0" algn="ctr">
              <a:buNone/>
            </a:pPr>
            <a:r>
              <a:rPr lang="en-US" sz="1600" dirty="0">
                <a:latin typeface="Georgia Pro Cond Light" panose="02040306050405020303" charset="0"/>
                <a:cs typeface="Georgia Pro Cond Light" panose="02040306050405020303" charset="0"/>
              </a:rPr>
              <a:t>RFM Analysis -&gt; Clustering -&gt;</a:t>
            </a:r>
            <a:endParaRPr lang="en-US" sz="1600" dirty="0">
              <a:latin typeface="Georgia Pro Cond Light" panose="02040306050405020303" charset="0"/>
              <a:cs typeface="Georgia Pro Cond Light" panose="02040306050405020303" charset="0"/>
            </a:endParaRPr>
          </a:p>
          <a:p>
            <a:pPr marL="0" indent="0" algn="ctr">
              <a:buNone/>
            </a:pPr>
            <a:r>
              <a:rPr lang="en-US" sz="1600" dirty="0">
                <a:latin typeface="Georgia Pro Cond Light" panose="02040306050405020303" charset="0"/>
                <a:cs typeface="Georgia Pro Cond Light" panose="02040306050405020303" charset="0"/>
              </a:rPr>
              <a:t>Risk Scoring -&gt; Predictions</a:t>
            </a:r>
            <a:endParaRPr lang="en-US" sz="1600" dirty="0">
              <a:latin typeface="Georgia Pro Cond Light" panose="02040306050405020303" charset="0"/>
              <a:cs typeface="Georgia Pro Cond Light" panose="02040306050405020303" charset="0"/>
            </a:endParaRPr>
          </a:p>
        </p:txBody>
      </p:sp>
      <p:sp>
        <p:nvSpPr>
          <p:cNvPr id="7" name="Text Box 6"/>
          <p:cNvSpPr txBox="1"/>
          <p:nvPr/>
        </p:nvSpPr>
        <p:spPr>
          <a:xfrm>
            <a:off x="7988935" y="1910080"/>
            <a:ext cx="1878965" cy="368300"/>
          </a:xfrm>
          <a:prstGeom prst="rect">
            <a:avLst/>
          </a:prstGeom>
          <a:solidFill>
            <a:schemeClr val="accent4">
              <a:lumMod val="20000"/>
              <a:lumOff val="80000"/>
            </a:schemeClr>
          </a:solidFill>
        </p:spPr>
        <p:txBody>
          <a:bodyPr wrap="square" rtlCol="0">
            <a:spAutoFit/>
          </a:bodyPr>
          <a:p>
            <a:r>
              <a:rPr lang="en-US"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rPr>
              <a:t>Approach Pipeline</a:t>
            </a:r>
            <a:endParaRPr lang="en-US" altLang="en-US"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endParaRPr>
          </a:p>
        </p:txBody>
      </p:sp>
      <p:sp>
        <p:nvSpPr>
          <p:cNvPr id="11" name="Text 9"/>
          <p:cNvSpPr/>
          <p:nvPr/>
        </p:nvSpPr>
        <p:spPr>
          <a:xfrm>
            <a:off x="9168765" y="4345940"/>
            <a:ext cx="1645285" cy="1196975"/>
          </a:xfrm>
          <a:prstGeom prst="roundRect">
            <a:avLst>
              <a:gd name="adj" fmla="val 96226"/>
            </a:avLst>
          </a:prstGeom>
          <a:blipFill rotWithShape="1">
            <a:blip r:embed="rId1"/>
            <a:tile tx="0" ty="0" sx="100000" sy="100000" flip="none" algn="tl"/>
          </a:blipFill>
        </p:spPr>
        <p:txBody>
          <a:bodyPr wrap="none" lIns="0" tIns="0" rIns="0" bIns="0" rtlCol="0" anchor="ctr">
            <a:normAutofit/>
          </a:bodyPr>
          <a:lstStyle/>
          <a:p>
            <a:pPr marL="0" indent="0">
              <a:buNone/>
            </a:pPr>
            <a:endParaRPr lang="en-US" dirty="0"/>
          </a:p>
        </p:txBody>
      </p:sp>
      <p:sp>
        <p:nvSpPr>
          <p:cNvPr id="8" name="Text Box 7"/>
          <p:cNvSpPr txBox="1"/>
          <p:nvPr/>
        </p:nvSpPr>
        <p:spPr>
          <a:xfrm>
            <a:off x="9239250" y="4406900"/>
            <a:ext cx="1504315" cy="1014730"/>
          </a:xfrm>
          <a:prstGeom prst="rect">
            <a:avLst/>
          </a:prstGeom>
          <a:noFill/>
        </p:spPr>
        <p:txBody>
          <a:bodyPr wrap="square" rtlCol="0">
            <a:spAutoFit/>
          </a:bodyPr>
          <a:p>
            <a:pPr algn="ctr"/>
            <a:r>
              <a:rPr lang="en-US" altLang="en-GB" sz="3200">
                <a:solidFill>
                  <a:schemeClr val="accent2">
                    <a:lumMod val="20000"/>
                    <a:lumOff val="80000"/>
                  </a:schemeClr>
                </a:solidFill>
                <a:latin typeface="Georgia Pro Cond" panose="02040506050405020303" charset="0"/>
                <a:cs typeface="Georgia Pro Cond" panose="02040506050405020303" charset="0"/>
              </a:rPr>
              <a:t>20%</a:t>
            </a:r>
            <a:endParaRPr lang="en-US" altLang="en-GB" sz="3200">
              <a:solidFill>
                <a:schemeClr val="accent2">
                  <a:lumMod val="20000"/>
                  <a:lumOff val="80000"/>
                </a:schemeClr>
              </a:solidFill>
              <a:latin typeface="Georgia Pro Cond" panose="02040506050405020303" charset="0"/>
              <a:cs typeface="Georgia Pro Cond" panose="02040506050405020303" charset="0"/>
            </a:endParaRPr>
          </a:p>
          <a:p>
            <a:pPr algn="ctr"/>
            <a:r>
              <a:rPr lang="en-US" altLang="en-GB" sz="1400">
                <a:solidFill>
                  <a:schemeClr val="bg2"/>
                </a:solidFill>
                <a:latin typeface="Georgia Pro Cond" panose="02040506050405020303" charset="0"/>
                <a:cs typeface="Georgia Pro Cond" panose="02040506050405020303" charset="0"/>
              </a:rPr>
              <a:t>Churn Reduction</a:t>
            </a:r>
            <a:endParaRPr lang="en-US" altLang="en-GB" sz="1400">
              <a:solidFill>
                <a:schemeClr val="bg2"/>
              </a:solidFill>
              <a:latin typeface="Georgia Pro Cond" panose="02040506050405020303" charset="0"/>
              <a:cs typeface="Georgia Pro Cond" panose="02040506050405020303" charset="0"/>
            </a:endParaRPr>
          </a:p>
          <a:p>
            <a:pPr algn="ctr"/>
            <a:r>
              <a:rPr lang="en-US" altLang="en-GB" sz="1400">
                <a:solidFill>
                  <a:schemeClr val="bg2"/>
                </a:solidFill>
                <a:latin typeface="Georgia Pro Cond" panose="02040506050405020303" charset="0"/>
                <a:cs typeface="Georgia Pro Cond" panose="02040506050405020303" charset="0"/>
              </a:rPr>
              <a:t> Potential</a:t>
            </a:r>
            <a:endParaRPr lang="en-US" altLang="en-GB" sz="1400">
              <a:solidFill>
                <a:schemeClr val="bg2"/>
              </a:solidFill>
              <a:latin typeface="Georgia Pro Cond" panose="02040506050405020303" charset="0"/>
              <a:cs typeface="Georgia Pro Cond" panose="02040506050405020303" charset="0"/>
            </a:endParaRPr>
          </a:p>
        </p:txBody>
      </p:sp>
      <p:sp>
        <p:nvSpPr>
          <p:cNvPr id="13" name="Text 9"/>
          <p:cNvSpPr/>
          <p:nvPr/>
        </p:nvSpPr>
        <p:spPr>
          <a:xfrm>
            <a:off x="7266940" y="4345940"/>
            <a:ext cx="1717040" cy="1196975"/>
          </a:xfrm>
          <a:prstGeom prst="roundRect">
            <a:avLst>
              <a:gd name="adj" fmla="val 96226"/>
            </a:avLst>
          </a:prstGeom>
          <a:blipFill rotWithShape="1">
            <a:blip r:embed="rId1"/>
            <a:tile tx="0" ty="0" sx="100000" sy="100000" flip="none" algn="tl"/>
          </a:blipFill>
        </p:spPr>
        <p:txBody>
          <a:bodyPr wrap="none" lIns="0" tIns="0" rIns="0" bIns="0" rtlCol="0" anchor="ctr">
            <a:normAutofit/>
          </a:bodyPr>
          <a:lstStyle/>
          <a:p>
            <a:pPr marL="0" indent="0">
              <a:buNone/>
            </a:pPr>
            <a:endParaRPr lang="en-US" dirty="0"/>
          </a:p>
        </p:txBody>
      </p:sp>
      <p:sp>
        <p:nvSpPr>
          <p:cNvPr id="15" name="Text Box 14"/>
          <p:cNvSpPr txBox="1"/>
          <p:nvPr/>
        </p:nvSpPr>
        <p:spPr>
          <a:xfrm>
            <a:off x="7266940" y="4406900"/>
            <a:ext cx="1808480" cy="1014730"/>
          </a:xfrm>
          <a:prstGeom prst="rect">
            <a:avLst/>
          </a:prstGeom>
          <a:noFill/>
        </p:spPr>
        <p:txBody>
          <a:bodyPr wrap="square" rtlCol="0">
            <a:noAutofit/>
          </a:bodyPr>
          <a:p>
            <a:pPr algn="ctr"/>
            <a:r>
              <a:rPr lang="en-US" altLang="en-GB" sz="3200">
                <a:solidFill>
                  <a:schemeClr val="accent2">
                    <a:lumMod val="20000"/>
                    <a:lumOff val="80000"/>
                  </a:schemeClr>
                </a:solidFill>
                <a:latin typeface="Georgia Pro Cond" panose="02040506050405020303" charset="0"/>
                <a:cs typeface="Georgia Pro Cond" panose="02040506050405020303" charset="0"/>
              </a:rPr>
              <a:t>5-15%</a:t>
            </a:r>
            <a:endParaRPr lang="en-US" altLang="en-GB" sz="3200">
              <a:solidFill>
                <a:schemeClr val="accent2">
                  <a:lumMod val="20000"/>
                  <a:lumOff val="80000"/>
                </a:schemeClr>
              </a:solidFill>
              <a:latin typeface="Georgia Pro Cond" panose="02040506050405020303" charset="0"/>
              <a:cs typeface="Georgia Pro Cond" panose="02040506050405020303" charset="0"/>
            </a:endParaRPr>
          </a:p>
          <a:p>
            <a:pPr algn="ctr"/>
            <a:r>
              <a:rPr lang="en-US" altLang="en-GB" sz="1400">
                <a:solidFill>
                  <a:schemeClr val="bg2"/>
                </a:solidFill>
                <a:latin typeface="Georgia Pro Cond" panose="02040506050405020303" charset="0"/>
                <a:cs typeface="Georgia Pro Cond" panose="02040506050405020303" charset="0"/>
              </a:rPr>
              <a:t>Customer Retention</a:t>
            </a:r>
            <a:endParaRPr lang="en-US" altLang="en-GB" sz="1400">
              <a:solidFill>
                <a:schemeClr val="bg2"/>
              </a:solidFill>
              <a:latin typeface="Georgia Pro Cond" panose="02040506050405020303" charset="0"/>
              <a:cs typeface="Georgia Pro Cond" panose="02040506050405020303" charset="0"/>
            </a:endParaRPr>
          </a:p>
          <a:p>
            <a:pPr algn="ctr"/>
            <a:r>
              <a:rPr lang="en-US" altLang="en-GB" sz="1400">
                <a:solidFill>
                  <a:schemeClr val="bg2"/>
                </a:solidFill>
                <a:latin typeface="Georgia Pro Cond" panose="02040506050405020303" charset="0"/>
                <a:cs typeface="Georgia Pro Cond" panose="02040506050405020303" charset="0"/>
              </a:rPr>
              <a:t>Opportunity</a:t>
            </a:r>
            <a:endParaRPr lang="en-US" altLang="en-GB" sz="1400">
              <a:solidFill>
                <a:schemeClr val="bg2"/>
              </a:solidFill>
              <a:latin typeface="Georgia Pro Cond" panose="02040506050405020303" charset="0"/>
              <a:cs typeface="Georgia Pro Cond" panose="02040506050405020303" charset="0"/>
            </a:endParaRPr>
          </a:p>
          <a:p>
            <a:pPr algn="ctr"/>
            <a:endParaRPr lang="en-US" altLang="en-GB" sz="1400">
              <a:solidFill>
                <a:schemeClr val="bg2"/>
              </a:solidFill>
              <a:latin typeface="Georgia Pro Cond" panose="02040506050405020303" charset="0"/>
              <a:cs typeface="Georgia Pro Cond" panose="02040506050405020303" charset="0"/>
            </a:endParaRPr>
          </a:p>
        </p:txBody>
      </p:sp>
      <p:sp>
        <p:nvSpPr>
          <p:cNvPr id="16" name="Text Box 15"/>
          <p:cNvSpPr txBox="1"/>
          <p:nvPr/>
        </p:nvSpPr>
        <p:spPr>
          <a:xfrm>
            <a:off x="7216775" y="3825875"/>
            <a:ext cx="3708400" cy="368300"/>
          </a:xfrm>
          <a:prstGeom prst="rect">
            <a:avLst/>
          </a:prstGeom>
          <a:noFill/>
        </p:spPr>
        <p:txBody>
          <a:bodyPr wrap="square" rtlCol="0" anchor="t">
            <a:spAutoFit/>
          </a:bodyPr>
          <a:p>
            <a:pPr algn="ctr"/>
            <a:r>
              <a:rPr lang="en-US" altLang="en-US"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rPr>
              <a:t>Business Impact</a:t>
            </a:r>
            <a:endParaRPr lang="en-US" altLang="en-US"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Group 14"/>
          <p:cNvGrpSpPr/>
          <p:nvPr/>
        </p:nvGrpSpPr>
        <p:grpSpPr>
          <a:xfrm>
            <a:off x="322580" y="967105"/>
            <a:ext cx="3290570" cy="5368290"/>
            <a:chOff x="7043" y="1181"/>
            <a:chExt cx="5182" cy="7495"/>
          </a:xfrm>
        </p:grpSpPr>
        <p:sp>
          <p:nvSpPr>
            <p:cNvPr id="6" name="Text 2"/>
            <p:cNvSpPr/>
            <p:nvPr>
              <p:custDataLst>
                <p:tags r:id="rId1"/>
              </p:custDataLst>
            </p:nvPr>
          </p:nvSpPr>
          <p:spPr>
            <a:xfrm>
              <a:off x="7043" y="1181"/>
              <a:ext cx="5182" cy="1141"/>
            </a:xfrm>
            <a:prstGeom prst="roundRect">
              <a:avLst>
                <a:gd name="adj" fmla="val 147692"/>
              </a:avLst>
            </a:prstGeom>
            <a:solidFill>
              <a:srgbClr val="2563EB">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22" name="Text 20"/>
            <p:cNvSpPr/>
            <p:nvPr>
              <p:custDataLst>
                <p:tags r:id="rId2"/>
              </p:custDataLst>
            </p:nvPr>
          </p:nvSpPr>
          <p:spPr>
            <a:xfrm>
              <a:off x="7297" y="1379"/>
              <a:ext cx="1474"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InvoiceNo</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23" name="Text 21"/>
            <p:cNvSpPr/>
            <p:nvPr>
              <p:custDataLst>
                <p:tags r:id="rId3"/>
              </p:custDataLst>
            </p:nvPr>
          </p:nvSpPr>
          <p:spPr>
            <a:xfrm>
              <a:off x="7297" y="1773"/>
              <a:ext cx="2069"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Transaction ID</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7" name="Text 3"/>
            <p:cNvSpPr/>
            <p:nvPr>
              <p:custDataLst>
                <p:tags r:id="rId4"/>
              </p:custDataLst>
            </p:nvPr>
          </p:nvSpPr>
          <p:spPr>
            <a:xfrm>
              <a:off x="7043" y="2454"/>
              <a:ext cx="5182" cy="1141"/>
            </a:xfrm>
            <a:prstGeom prst="roundRect">
              <a:avLst>
                <a:gd name="adj" fmla="val 147692"/>
              </a:avLst>
            </a:prstGeom>
            <a:solidFill>
              <a:srgbClr val="2563EB">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9" name="Text 5"/>
            <p:cNvSpPr/>
            <p:nvPr>
              <p:custDataLst>
                <p:tags r:id="rId5"/>
              </p:custDataLst>
            </p:nvPr>
          </p:nvSpPr>
          <p:spPr>
            <a:xfrm>
              <a:off x="7043" y="3711"/>
              <a:ext cx="5182" cy="1141"/>
            </a:xfrm>
            <a:prstGeom prst="roundRect">
              <a:avLst>
                <a:gd name="adj" fmla="val 147692"/>
              </a:avLst>
            </a:prstGeom>
            <a:solidFill>
              <a:srgbClr val="7C3AED">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24" name="Text 22"/>
            <p:cNvSpPr/>
            <p:nvPr>
              <p:custDataLst>
                <p:tags r:id="rId6"/>
              </p:custDataLst>
            </p:nvPr>
          </p:nvSpPr>
          <p:spPr>
            <a:xfrm>
              <a:off x="7297" y="2636"/>
              <a:ext cx="1655"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StockCode</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25" name="Text 23"/>
            <p:cNvSpPr/>
            <p:nvPr>
              <p:custDataLst>
                <p:tags r:id="rId7"/>
              </p:custDataLst>
            </p:nvPr>
          </p:nvSpPr>
          <p:spPr>
            <a:xfrm>
              <a:off x="7297" y="3030"/>
              <a:ext cx="1992"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Product code</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28" name="Text 26"/>
            <p:cNvSpPr/>
            <p:nvPr>
              <p:custDataLst>
                <p:tags r:id="rId8"/>
              </p:custDataLst>
            </p:nvPr>
          </p:nvSpPr>
          <p:spPr>
            <a:xfrm>
              <a:off x="7297" y="3908"/>
              <a:ext cx="1758"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InvoiceDate</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29" name="Text 27"/>
            <p:cNvSpPr/>
            <p:nvPr>
              <p:custDataLst>
                <p:tags r:id="rId9"/>
              </p:custDataLst>
            </p:nvPr>
          </p:nvSpPr>
          <p:spPr>
            <a:xfrm>
              <a:off x="7297" y="4303"/>
              <a:ext cx="1680"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Timestamp</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11" name="Text 7"/>
            <p:cNvSpPr/>
            <p:nvPr>
              <p:custDataLst>
                <p:tags r:id="rId10"/>
              </p:custDataLst>
            </p:nvPr>
          </p:nvSpPr>
          <p:spPr>
            <a:xfrm>
              <a:off x="7043" y="7536"/>
              <a:ext cx="5182" cy="1141"/>
            </a:xfrm>
            <a:prstGeom prst="roundRect">
              <a:avLst>
                <a:gd name="adj" fmla="val 147692"/>
              </a:avLst>
            </a:prstGeom>
            <a:solidFill>
              <a:srgbClr val="0891B2">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8" name="Text 4"/>
            <p:cNvSpPr/>
            <p:nvPr>
              <p:custDataLst>
                <p:tags r:id="rId11"/>
              </p:custDataLst>
            </p:nvPr>
          </p:nvSpPr>
          <p:spPr>
            <a:xfrm>
              <a:off x="7043" y="4991"/>
              <a:ext cx="5182" cy="1141"/>
            </a:xfrm>
            <a:prstGeom prst="roundRect">
              <a:avLst>
                <a:gd name="adj" fmla="val 147692"/>
              </a:avLst>
            </a:prstGeom>
            <a:solidFill>
              <a:srgbClr val="7C3AED">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10" name="Text 6"/>
            <p:cNvSpPr/>
            <p:nvPr>
              <p:custDataLst>
                <p:tags r:id="rId12"/>
              </p:custDataLst>
            </p:nvPr>
          </p:nvSpPr>
          <p:spPr>
            <a:xfrm>
              <a:off x="7043" y="6263"/>
              <a:ext cx="5182" cy="1141"/>
            </a:xfrm>
            <a:prstGeom prst="roundRect">
              <a:avLst>
                <a:gd name="adj" fmla="val 147692"/>
              </a:avLst>
            </a:prstGeom>
            <a:solidFill>
              <a:srgbClr val="0891B2">
                <a:alpha val="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26" name="Text 24"/>
            <p:cNvSpPr/>
            <p:nvPr>
              <p:custDataLst>
                <p:tags r:id="rId13"/>
              </p:custDataLst>
            </p:nvPr>
          </p:nvSpPr>
          <p:spPr>
            <a:xfrm>
              <a:off x="7297" y="5188"/>
              <a:ext cx="1758"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CustomerID</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27" name="Text 25"/>
            <p:cNvSpPr/>
            <p:nvPr>
              <p:custDataLst>
                <p:tags r:id="rId14"/>
              </p:custDataLst>
            </p:nvPr>
          </p:nvSpPr>
          <p:spPr>
            <a:xfrm>
              <a:off x="7297" y="5583"/>
              <a:ext cx="1396"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Unique ID</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30" name="Text 28"/>
            <p:cNvSpPr/>
            <p:nvPr>
              <p:custDataLst>
                <p:tags r:id="rId15"/>
              </p:custDataLst>
            </p:nvPr>
          </p:nvSpPr>
          <p:spPr>
            <a:xfrm>
              <a:off x="7297" y="6461"/>
              <a:ext cx="1293"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Quantity</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31" name="Text 29"/>
            <p:cNvSpPr/>
            <p:nvPr>
              <p:custDataLst>
                <p:tags r:id="rId16"/>
              </p:custDataLst>
            </p:nvPr>
          </p:nvSpPr>
          <p:spPr>
            <a:xfrm>
              <a:off x="7297" y="6856"/>
              <a:ext cx="1992"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Units ordered</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32" name="Text 30"/>
            <p:cNvSpPr/>
            <p:nvPr>
              <p:custDataLst>
                <p:tags r:id="rId17"/>
              </p:custDataLst>
            </p:nvPr>
          </p:nvSpPr>
          <p:spPr>
            <a:xfrm>
              <a:off x="7297" y="7750"/>
              <a:ext cx="1346" cy="351"/>
            </a:xfrm>
            <a:prstGeom prst="rect">
              <a:avLst/>
            </a:prstGeom>
            <a:noFill/>
          </p:spPr>
          <p:txBody>
            <a:bodyPr wrap="square" lIns="0" tIns="0" rIns="0" bIns="0" rtlCol="0" anchor="t"/>
            <a:lstStyle/>
            <a:p>
              <a:pPr marL="0" indent="0">
                <a:lnSpc>
                  <a:spcPts val="1350"/>
                </a:lnSpc>
                <a:buNone/>
              </a:pPr>
              <a:r>
                <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rPr>
                <a:t>UnitPrice</a:t>
              </a:r>
              <a:endParaRPr lang="en-US" sz="1600" b="1" dirty="0">
                <a:solidFill>
                  <a:schemeClr val="accent2">
                    <a:lumMod val="60000"/>
                    <a:lumOff val="40000"/>
                  </a:schemeClr>
                </a:solidFill>
                <a:latin typeface="Georgia Pro Cond Light" panose="02040306050405020303" charset="0"/>
                <a:ea typeface="SimSun" panose="02010600030101010101" pitchFamily="2" charset="-122"/>
                <a:cs typeface="Georgia Pro Cond Light" panose="02040306050405020303" charset="0"/>
              </a:endParaRPr>
            </a:p>
          </p:txBody>
        </p:sp>
        <p:sp>
          <p:nvSpPr>
            <p:cNvPr id="33" name="Text 31"/>
            <p:cNvSpPr/>
            <p:nvPr>
              <p:custDataLst>
                <p:tags r:id="rId18"/>
              </p:custDataLst>
            </p:nvPr>
          </p:nvSpPr>
          <p:spPr>
            <a:xfrm>
              <a:off x="7297" y="8129"/>
              <a:ext cx="1396" cy="351"/>
            </a:xfrm>
            <a:prstGeom prst="rect">
              <a:avLst/>
            </a:prstGeom>
            <a:noFill/>
          </p:spPr>
          <p:txBody>
            <a:bodyPr wrap="square" lIns="0" tIns="0" rIns="0" bIns="0" rtlCol="0" anchor="t"/>
            <a:lstStyle/>
            <a:p>
              <a:pPr marL="0" indent="0">
                <a:lnSpc>
                  <a:spcPts val="1350"/>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 per unit</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grpSp>
      <p:sp>
        <p:nvSpPr>
          <p:cNvPr id="16" name="Text Box 15"/>
          <p:cNvSpPr txBox="1"/>
          <p:nvPr/>
        </p:nvSpPr>
        <p:spPr>
          <a:xfrm>
            <a:off x="322580" y="327025"/>
            <a:ext cx="3290570" cy="368300"/>
          </a:xfrm>
          <a:prstGeom prst="rect">
            <a:avLst/>
          </a:prstGeom>
          <a:solidFill>
            <a:schemeClr val="accent2">
              <a:lumMod val="50000"/>
              <a:alpha val="62000"/>
            </a:schemeClr>
          </a:solidFill>
        </p:spPr>
        <p:txBody>
          <a:bodyPr wrap="square" rtlCol="0">
            <a:spAutoFit/>
          </a:bodyPr>
          <a:p>
            <a:r>
              <a:rPr lang="en-US" b="1" dirty="0">
                <a:solidFill>
                  <a:schemeClr val="bg2"/>
                </a:solidFill>
                <a:latin typeface="Georgia Pro Cond" panose="02040506050405020303" charset="0"/>
                <a:ea typeface="SimSun" panose="02010600030101010101" pitchFamily="2" charset="-122"/>
                <a:cs typeface="Georgia Pro Cond" panose="02040506050405020303" charset="0"/>
                <a:sym typeface="+mn-ea"/>
              </a:rPr>
              <a:t>Dataset Features</a:t>
            </a:r>
            <a:endParaRPr lang="en-US" altLang="en-US" b="1" dirty="0">
              <a:solidFill>
                <a:schemeClr val="bg2"/>
              </a:solidFill>
              <a:latin typeface="Georgia Pro Cond" panose="02040506050405020303" charset="0"/>
              <a:ea typeface="SimSun" panose="02010600030101010101" pitchFamily="2" charset="-122"/>
              <a:cs typeface="Georgia Pro Cond" panose="02040506050405020303" charset="0"/>
              <a:sym typeface="+mn-ea"/>
            </a:endParaRPr>
          </a:p>
        </p:txBody>
      </p:sp>
      <p:grpSp>
        <p:nvGrpSpPr>
          <p:cNvPr id="36" name="Group 35"/>
          <p:cNvGrpSpPr/>
          <p:nvPr>
            <p:custDataLst>
              <p:tags r:id="rId19"/>
            </p:custDataLst>
          </p:nvPr>
        </p:nvGrpSpPr>
        <p:grpSpPr>
          <a:xfrm>
            <a:off x="4274185" y="1015365"/>
            <a:ext cx="7205345" cy="3212465"/>
            <a:chOff x="7007" y="1754"/>
            <a:chExt cx="11347" cy="5059"/>
          </a:xfrm>
        </p:grpSpPr>
        <p:sp>
          <p:nvSpPr>
            <p:cNvPr id="35" name="Text 16"/>
            <p:cNvSpPr/>
            <p:nvPr>
              <p:custDataLst>
                <p:tags r:id="rId20"/>
              </p:custDataLst>
            </p:nvPr>
          </p:nvSpPr>
          <p:spPr>
            <a:xfrm>
              <a:off x="7007" y="5531"/>
              <a:ext cx="11160" cy="1283"/>
            </a:xfrm>
            <a:prstGeom prst="roundRect">
              <a:avLst>
                <a:gd name="adj" fmla="val 112281"/>
              </a:avLst>
            </a:prstGeom>
            <a:solidFill>
              <a:srgbClr val="10B981">
                <a:alpha val="6000"/>
              </a:srgbClr>
            </a:solidFill>
          </p:spPr>
          <p:txBody>
            <a:bodyPr wrap="none" lIns="0" tIns="0" rIns="0" bIns="0" rtlCol="0" anchor="ctr">
              <a:normAutofit/>
            </a:bodyPr>
            <a:lstStyle/>
            <a:p>
              <a:pPr marL="0" indent="0">
                <a:buNone/>
              </a:pPr>
              <a:endParaRPr lang="en-US" dirty="0"/>
            </a:p>
          </p:txBody>
        </p:sp>
        <p:sp>
          <p:nvSpPr>
            <p:cNvPr id="17" name="Text 13"/>
            <p:cNvSpPr/>
            <p:nvPr>
              <p:custDataLst>
                <p:tags r:id="rId21"/>
              </p:custDataLst>
            </p:nvPr>
          </p:nvSpPr>
          <p:spPr>
            <a:xfrm>
              <a:off x="7194" y="1754"/>
              <a:ext cx="11160" cy="1104"/>
            </a:xfrm>
            <a:prstGeom prst="roundRect">
              <a:avLst>
                <a:gd name="adj" fmla="val 112281"/>
              </a:avLst>
            </a:prstGeom>
            <a:solidFill>
              <a:srgbClr val="2563EB">
                <a:alpha val="6000"/>
              </a:srgbClr>
            </a:solidFill>
          </p:spPr>
          <p:txBody>
            <a:bodyPr wrap="none" lIns="0" tIns="0" rIns="0" bIns="0" rtlCol="0" anchor="ctr">
              <a:normAutofit/>
            </a:bodyPr>
            <a:lstStyle/>
            <a:p>
              <a:pPr marL="0" indent="0">
                <a:buNone/>
              </a:pPr>
              <a:endParaRPr lang="en-US" sz="1400" dirty="0">
                <a:latin typeface="Georgia Pro Cond Light" panose="02040306050405020303" charset="0"/>
                <a:cs typeface="Georgia Pro Cond Light" panose="02040306050405020303" charset="0"/>
              </a:endParaRPr>
            </a:p>
          </p:txBody>
        </p:sp>
        <p:sp>
          <p:nvSpPr>
            <p:cNvPr id="18" name="Text 14"/>
            <p:cNvSpPr/>
            <p:nvPr>
              <p:custDataLst>
                <p:tags r:id="rId22"/>
              </p:custDataLst>
            </p:nvPr>
          </p:nvSpPr>
          <p:spPr>
            <a:xfrm>
              <a:off x="7194" y="3012"/>
              <a:ext cx="11160" cy="1104"/>
            </a:xfrm>
            <a:prstGeom prst="roundRect">
              <a:avLst>
                <a:gd name="adj" fmla="val 112281"/>
              </a:avLst>
            </a:prstGeom>
            <a:solidFill>
              <a:srgbClr val="7C3AED">
                <a:alpha val="6000"/>
              </a:srgbClr>
            </a:solidFill>
          </p:spPr>
          <p:txBody>
            <a:bodyPr wrap="none" lIns="0" tIns="0" rIns="0" bIns="0" rtlCol="0" anchor="ctr">
              <a:normAutofit/>
            </a:bodyPr>
            <a:lstStyle/>
            <a:p>
              <a:pPr marL="0" indent="0">
                <a:buNone/>
              </a:pPr>
              <a:endParaRPr lang="en-US" sz="1400" dirty="0">
                <a:latin typeface="Georgia Pro Cond Light" panose="02040306050405020303" charset="0"/>
                <a:cs typeface="Georgia Pro Cond Light" panose="02040306050405020303" charset="0"/>
              </a:endParaRPr>
            </a:p>
          </p:txBody>
        </p:sp>
        <p:sp>
          <p:nvSpPr>
            <p:cNvPr id="19" name="Text 15"/>
            <p:cNvSpPr/>
            <p:nvPr>
              <p:custDataLst>
                <p:tags r:id="rId23"/>
              </p:custDataLst>
            </p:nvPr>
          </p:nvSpPr>
          <p:spPr>
            <a:xfrm>
              <a:off x="7194" y="4272"/>
              <a:ext cx="11160" cy="1104"/>
            </a:xfrm>
            <a:prstGeom prst="roundRect">
              <a:avLst>
                <a:gd name="adj" fmla="val 112281"/>
              </a:avLst>
            </a:prstGeom>
            <a:solidFill>
              <a:srgbClr val="0891B2">
                <a:alpha val="6000"/>
              </a:srgbClr>
            </a:solidFill>
          </p:spPr>
          <p:txBody>
            <a:bodyPr wrap="none" lIns="0" tIns="0" rIns="0" bIns="0" rtlCol="0" anchor="ctr">
              <a:normAutofit/>
            </a:bodyPr>
            <a:lstStyle/>
            <a:p>
              <a:pPr marL="0" indent="0">
                <a:buNone/>
              </a:pPr>
              <a:endParaRPr lang="en-US" sz="1400" dirty="0">
                <a:latin typeface="Georgia Pro Cond Light" panose="02040306050405020303" charset="0"/>
                <a:cs typeface="Georgia Pro Cond Light" panose="02040306050405020303" charset="0"/>
              </a:endParaRPr>
            </a:p>
          </p:txBody>
        </p:sp>
        <p:sp>
          <p:nvSpPr>
            <p:cNvPr id="42" name="Text 40"/>
            <p:cNvSpPr/>
            <p:nvPr>
              <p:custDataLst>
                <p:tags r:id="rId24"/>
              </p:custDataLst>
            </p:nvPr>
          </p:nvSpPr>
          <p:spPr>
            <a:xfrm>
              <a:off x="7589" y="1909"/>
              <a:ext cx="10578" cy="211"/>
            </a:xfrm>
            <a:prstGeom prst="rect">
              <a:avLst/>
            </a:prstGeom>
            <a:noFill/>
          </p:spPr>
          <p:txBody>
            <a:bodyPr wrap="square" lIns="0" tIns="0" rIns="0" bIns="0" rtlCol="0" anchor="t"/>
            <a:lstStyle/>
            <a:p>
              <a:pPr marL="0" indent="0">
                <a:lnSpc>
                  <a:spcPts val="1225"/>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UNIQUE CUSTOMERS</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43" name="Text 41"/>
            <p:cNvSpPr/>
            <p:nvPr>
              <p:custDataLst>
                <p:tags r:id="rId25"/>
              </p:custDataLst>
            </p:nvPr>
          </p:nvSpPr>
          <p:spPr>
            <a:xfrm>
              <a:off x="7589" y="2146"/>
              <a:ext cx="10578" cy="558"/>
            </a:xfrm>
            <a:prstGeom prst="rect">
              <a:avLst/>
            </a:prstGeom>
            <a:noFill/>
          </p:spPr>
          <p:txBody>
            <a:bodyPr wrap="square" lIns="0" tIns="0" rIns="0" bIns="0" rtlCol="0" anchor="t"/>
            <a:lstStyle/>
            <a:p>
              <a:pPr marL="0" indent="0">
                <a:lnSpc>
                  <a:spcPts val="3240"/>
                </a:lnSpc>
                <a:buNone/>
              </a:pPr>
              <a:r>
                <a:rPr lang="en-US" sz="1400" dirty="0">
                  <a:solidFill>
                    <a:srgbClr val="2563EB"/>
                  </a:solidFill>
                  <a:latin typeface="Georgia Pro Cond" panose="02040506050405020303" charset="0"/>
                  <a:ea typeface="SimSun" panose="02010600030101010101" pitchFamily="2" charset="-122"/>
                  <a:cs typeface="Georgia Pro Cond" panose="02040506050405020303" charset="0"/>
                </a:rPr>
                <a:t>4372</a:t>
              </a:r>
              <a:endParaRPr lang="en-US" sz="1400" dirty="0">
                <a:solidFill>
                  <a:srgbClr val="2563EB"/>
                </a:solidFill>
                <a:latin typeface="Georgia Pro Cond" panose="02040506050405020303" charset="0"/>
                <a:ea typeface="SimSun" panose="02010600030101010101" pitchFamily="2" charset="-122"/>
                <a:cs typeface="Georgia Pro Cond" panose="02040506050405020303" charset="0"/>
              </a:endParaRPr>
            </a:p>
          </p:txBody>
        </p:sp>
        <p:sp>
          <p:nvSpPr>
            <p:cNvPr id="44" name="Text 42"/>
            <p:cNvSpPr/>
            <p:nvPr>
              <p:custDataLst>
                <p:tags r:id="rId26"/>
              </p:custDataLst>
            </p:nvPr>
          </p:nvSpPr>
          <p:spPr>
            <a:xfrm>
              <a:off x="7589" y="3167"/>
              <a:ext cx="10578" cy="211"/>
            </a:xfrm>
            <a:prstGeom prst="rect">
              <a:avLst/>
            </a:prstGeom>
            <a:noFill/>
          </p:spPr>
          <p:txBody>
            <a:bodyPr wrap="square" lIns="0" tIns="0" rIns="0" bIns="0" rtlCol="0" anchor="t"/>
            <a:lstStyle/>
            <a:p>
              <a:pPr marL="0" indent="0">
                <a:lnSpc>
                  <a:spcPts val="1225"/>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TOTAL TRANSACTIONS</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45" name="Text 43"/>
            <p:cNvSpPr/>
            <p:nvPr>
              <p:custDataLst>
                <p:tags r:id="rId27"/>
              </p:custDataLst>
            </p:nvPr>
          </p:nvSpPr>
          <p:spPr>
            <a:xfrm>
              <a:off x="7589" y="3404"/>
              <a:ext cx="10578" cy="558"/>
            </a:xfrm>
            <a:prstGeom prst="rect">
              <a:avLst/>
            </a:prstGeom>
            <a:noFill/>
          </p:spPr>
          <p:txBody>
            <a:bodyPr wrap="square" lIns="0" tIns="0" rIns="0" bIns="0" rtlCol="0" anchor="t"/>
            <a:lstStyle/>
            <a:p>
              <a:pPr marL="0" indent="0">
                <a:lnSpc>
                  <a:spcPts val="3240"/>
                </a:lnSpc>
                <a:buNone/>
              </a:pPr>
              <a:r>
                <a:rPr lang="en-US" altLang="en-GB" sz="1400" dirty="0">
                  <a:solidFill>
                    <a:srgbClr val="7C3AED"/>
                  </a:solidFill>
                  <a:latin typeface="Georgia Pro Cond" panose="02040506050405020303" charset="0"/>
                  <a:ea typeface="SimSun" panose="02010600030101010101" pitchFamily="2" charset="-122"/>
                  <a:cs typeface="Georgia Pro Cond" panose="02040506050405020303" charset="0"/>
                </a:rPr>
                <a:t>541909</a:t>
              </a:r>
              <a:endParaRPr lang="en-US" altLang="en-GB" sz="1400" dirty="0">
                <a:solidFill>
                  <a:srgbClr val="7C3AED"/>
                </a:solidFill>
                <a:latin typeface="Georgia Pro Cond" panose="02040506050405020303" charset="0"/>
                <a:ea typeface="SimSun" panose="02010600030101010101" pitchFamily="2" charset="-122"/>
                <a:cs typeface="Georgia Pro Cond" panose="02040506050405020303" charset="0"/>
              </a:endParaRPr>
            </a:p>
          </p:txBody>
        </p:sp>
        <p:sp>
          <p:nvSpPr>
            <p:cNvPr id="46" name="Text 44"/>
            <p:cNvSpPr/>
            <p:nvPr>
              <p:custDataLst>
                <p:tags r:id="rId28"/>
              </p:custDataLst>
            </p:nvPr>
          </p:nvSpPr>
          <p:spPr>
            <a:xfrm>
              <a:off x="7589" y="4427"/>
              <a:ext cx="10578" cy="211"/>
            </a:xfrm>
            <a:prstGeom prst="rect">
              <a:avLst/>
            </a:prstGeom>
            <a:noFill/>
          </p:spPr>
          <p:txBody>
            <a:bodyPr wrap="square" lIns="0" tIns="0" rIns="0" bIns="0" rtlCol="0" anchor="t"/>
            <a:lstStyle/>
            <a:p>
              <a:pPr marL="0" indent="0">
                <a:lnSpc>
                  <a:spcPts val="1225"/>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COUNTRIES</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47" name="Text 45"/>
            <p:cNvSpPr/>
            <p:nvPr>
              <p:custDataLst>
                <p:tags r:id="rId29"/>
              </p:custDataLst>
            </p:nvPr>
          </p:nvSpPr>
          <p:spPr>
            <a:xfrm>
              <a:off x="7589" y="4664"/>
              <a:ext cx="10578" cy="558"/>
            </a:xfrm>
            <a:prstGeom prst="rect">
              <a:avLst/>
            </a:prstGeom>
            <a:noFill/>
          </p:spPr>
          <p:txBody>
            <a:bodyPr wrap="square" lIns="0" tIns="0" rIns="0" bIns="0" rtlCol="0" anchor="t"/>
            <a:lstStyle/>
            <a:p>
              <a:pPr marL="0" indent="0">
                <a:lnSpc>
                  <a:spcPts val="3240"/>
                </a:lnSpc>
                <a:buNone/>
              </a:pPr>
              <a:r>
                <a:rPr lang="en-US" sz="1400" dirty="0">
                  <a:solidFill>
                    <a:srgbClr val="0891B2"/>
                  </a:solidFill>
                  <a:latin typeface="Georgia Pro Cond" panose="02040506050405020303" charset="0"/>
                  <a:ea typeface="SimSun" panose="02010600030101010101" pitchFamily="2" charset="-122"/>
                  <a:cs typeface="Georgia Pro Cond" panose="02040506050405020303" charset="0"/>
                </a:rPr>
                <a:t>37</a:t>
              </a:r>
              <a:endParaRPr lang="en-US" sz="1400" dirty="0">
                <a:solidFill>
                  <a:srgbClr val="0891B2"/>
                </a:solidFill>
                <a:latin typeface="Georgia Pro Cond" panose="02040506050405020303" charset="0"/>
                <a:ea typeface="SimSun" panose="02010600030101010101" pitchFamily="2" charset="-122"/>
                <a:cs typeface="Georgia Pro Cond" panose="02040506050405020303" charset="0"/>
              </a:endParaRPr>
            </a:p>
          </p:txBody>
        </p:sp>
        <p:sp>
          <p:nvSpPr>
            <p:cNvPr id="48" name="Text 46"/>
            <p:cNvSpPr/>
            <p:nvPr>
              <p:custDataLst>
                <p:tags r:id="rId30"/>
              </p:custDataLst>
            </p:nvPr>
          </p:nvSpPr>
          <p:spPr>
            <a:xfrm>
              <a:off x="7589" y="5770"/>
              <a:ext cx="10578" cy="211"/>
            </a:xfrm>
            <a:prstGeom prst="rect">
              <a:avLst/>
            </a:prstGeom>
            <a:noFill/>
          </p:spPr>
          <p:txBody>
            <a:bodyPr wrap="square" lIns="0" tIns="0" rIns="0" bIns="0" rtlCol="0" anchor="t"/>
            <a:lstStyle/>
            <a:p>
              <a:pPr marL="0" indent="0">
                <a:lnSpc>
                  <a:spcPts val="1225"/>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AVG ORDER VALUE</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49" name="Text 47"/>
            <p:cNvSpPr/>
            <p:nvPr>
              <p:custDataLst>
                <p:tags r:id="rId31"/>
              </p:custDataLst>
            </p:nvPr>
          </p:nvSpPr>
          <p:spPr>
            <a:xfrm>
              <a:off x="7589" y="5922"/>
              <a:ext cx="10578" cy="558"/>
            </a:xfrm>
            <a:prstGeom prst="rect">
              <a:avLst/>
            </a:prstGeom>
            <a:noFill/>
          </p:spPr>
          <p:txBody>
            <a:bodyPr wrap="square" lIns="0" tIns="0" rIns="0" bIns="0" rtlCol="0" anchor="t"/>
            <a:lstStyle/>
            <a:p>
              <a:pPr marL="0" indent="0">
                <a:lnSpc>
                  <a:spcPts val="3240"/>
                </a:lnSpc>
                <a:buNone/>
              </a:pPr>
              <a:r>
                <a:rPr lang="en-US" sz="1400" dirty="0">
                  <a:solidFill>
                    <a:srgbClr val="059669"/>
                  </a:solidFill>
                  <a:latin typeface="Georgia Pro Cond" panose="02040506050405020303" charset="0"/>
                  <a:ea typeface="SimSun" panose="02010600030101010101" pitchFamily="2" charset="-122"/>
                  <a:cs typeface="Georgia Pro Cond" panose="02040506050405020303" charset="0"/>
                </a:rPr>
                <a:t>£441.8</a:t>
              </a:r>
              <a:endParaRPr lang="en-US" sz="1400" dirty="0">
                <a:solidFill>
                  <a:srgbClr val="059669"/>
                </a:solidFill>
                <a:latin typeface="Georgia Pro Cond" panose="02040506050405020303" charset="0"/>
                <a:ea typeface="SimSun" panose="02010600030101010101" pitchFamily="2" charset="-122"/>
                <a:cs typeface="Georgia Pro Cond" panose="02040506050405020303" charset="0"/>
              </a:endParaRPr>
            </a:p>
          </p:txBody>
        </p:sp>
      </p:grpSp>
      <p:sp>
        <p:nvSpPr>
          <p:cNvPr id="20" name="Text Box 19"/>
          <p:cNvSpPr txBox="1"/>
          <p:nvPr/>
        </p:nvSpPr>
        <p:spPr>
          <a:xfrm>
            <a:off x="4402455" y="335280"/>
            <a:ext cx="4064000" cy="368300"/>
          </a:xfrm>
          <a:prstGeom prst="rect">
            <a:avLst/>
          </a:prstGeom>
          <a:noFill/>
        </p:spPr>
        <p:txBody>
          <a:bodyPr wrap="square" rtlCol="0">
            <a:spAutoFit/>
          </a:bodyPr>
          <a:p>
            <a:r>
              <a:rPr lang="en-US" altLang="en-GB" b="1">
                <a:solidFill>
                  <a:srgbClr val="C00000"/>
                </a:solidFill>
                <a:latin typeface="Georgia Pro Cond" panose="02040506050405020303" charset="0"/>
                <a:cs typeface="Georgia Pro Cond" panose="02040506050405020303" charset="0"/>
              </a:rPr>
              <a:t>EDA Highlights</a:t>
            </a:r>
            <a:endParaRPr lang="en-US" altLang="en-GB" b="1">
              <a:solidFill>
                <a:srgbClr val="C00000"/>
              </a:solidFill>
              <a:latin typeface="Georgia Pro Cond" panose="02040506050405020303" charset="0"/>
              <a:cs typeface="Georgia Pro Cond" panose="02040506050405020303" charset="0"/>
            </a:endParaRPr>
          </a:p>
        </p:txBody>
      </p:sp>
      <p:sp>
        <p:nvSpPr>
          <p:cNvPr id="37" name="Text 9"/>
          <p:cNvSpPr/>
          <p:nvPr/>
        </p:nvSpPr>
        <p:spPr>
          <a:xfrm>
            <a:off x="4402455" y="5424170"/>
            <a:ext cx="1424305" cy="209550"/>
          </a:xfrm>
          <a:prstGeom prst="roundRect">
            <a:avLst>
              <a:gd name="adj" fmla="val 174545"/>
            </a:avLst>
          </a:prstGeom>
          <a:solidFill>
            <a:srgbClr val="2563EB">
              <a:alpha val="8000"/>
            </a:srgbClr>
          </a:solidFill>
          <a:ln w="6350">
            <a:solidFill>
              <a:schemeClr val="tx1"/>
            </a:solidFill>
          </a:ln>
        </p:spPr>
        <p:txBody>
          <a:bodyPr wrap="none" lIns="0" tIns="0" rIns="0" bIns="0" rtlCol="0" anchor="ctr">
            <a:noAutofit/>
          </a:bodyPr>
          <a:lstStyle/>
          <a:p>
            <a:pPr marL="0" indent="0">
              <a:buNone/>
            </a:pPr>
            <a:endParaRPr lang="en-US" sz="1500" dirty="0">
              <a:latin typeface="Georgia Pro Cond Light" panose="02040306050405020303" charset="0"/>
              <a:cs typeface="Georgia Pro Cond Light" panose="02040306050405020303" charset="0"/>
            </a:endParaRPr>
          </a:p>
        </p:txBody>
      </p:sp>
      <p:sp>
        <p:nvSpPr>
          <p:cNvPr id="40" name="Text 32"/>
          <p:cNvSpPr/>
          <p:nvPr/>
        </p:nvSpPr>
        <p:spPr>
          <a:xfrm>
            <a:off x="4564380" y="4606925"/>
            <a:ext cx="4067810" cy="160020"/>
          </a:xfrm>
          <a:prstGeom prst="rect">
            <a:avLst/>
          </a:prstGeom>
          <a:noFill/>
        </p:spPr>
        <p:txBody>
          <a:bodyPr wrap="square" lIns="0" tIns="0" rIns="0" bIns="0" rtlCol="0" anchor="t"/>
          <a:lstStyle/>
          <a:p>
            <a:pPr marL="0" indent="0">
              <a:lnSpc>
                <a:spcPts val="1260"/>
              </a:lnSpc>
              <a:buNone/>
            </a:pPr>
            <a:r>
              <a:rPr lang="en-US" b="1" dirty="0">
                <a:solidFill>
                  <a:srgbClr val="DC2626"/>
                </a:solidFill>
                <a:latin typeface="Georgia Pro Cond" panose="02040506050405020303" charset="0"/>
                <a:ea typeface="SimSun" panose="02010600030101010101" pitchFamily="2" charset="-122"/>
                <a:cs typeface="Georgia Pro Cond" panose="02040506050405020303" charset="0"/>
              </a:rPr>
              <a:t>Data Quality Issues</a:t>
            </a:r>
            <a:endParaRPr lang="en-US" b="1" dirty="0">
              <a:solidFill>
                <a:srgbClr val="DC2626"/>
              </a:solidFill>
              <a:latin typeface="Georgia Pro Cond" panose="02040506050405020303" charset="0"/>
              <a:ea typeface="SimSun" panose="02010600030101010101" pitchFamily="2" charset="-122"/>
              <a:cs typeface="Georgia Pro Cond" panose="02040506050405020303" charset="0"/>
            </a:endParaRPr>
          </a:p>
        </p:txBody>
      </p:sp>
      <p:sp>
        <p:nvSpPr>
          <p:cNvPr id="53" name="Text 33"/>
          <p:cNvSpPr/>
          <p:nvPr/>
        </p:nvSpPr>
        <p:spPr>
          <a:xfrm>
            <a:off x="4401820" y="4926965"/>
            <a:ext cx="1390015" cy="421640"/>
          </a:xfrm>
          <a:prstGeom prst="rect">
            <a:avLst/>
          </a:prstGeom>
          <a:noFill/>
        </p:spPr>
        <p:txBody>
          <a:bodyPr wrap="square" lIns="0" tIns="0" rIns="0" bIns="0" rtlCol="0" anchor="t"/>
          <a:lstStyle/>
          <a:p>
            <a:pPr marL="0" indent="0" algn="ctr">
              <a:lnSpc>
                <a:spcPct val="100000"/>
              </a:lnSpc>
              <a:buNone/>
            </a:pP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Missing CustomerID</a:t>
            </a:r>
            <a:endPar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endParaRPr>
          </a:p>
        </p:txBody>
      </p:sp>
      <p:sp>
        <p:nvSpPr>
          <p:cNvPr id="54" name="Text 34"/>
          <p:cNvSpPr/>
          <p:nvPr/>
        </p:nvSpPr>
        <p:spPr>
          <a:xfrm>
            <a:off x="5269865" y="5425440"/>
            <a:ext cx="521970" cy="208280"/>
          </a:xfrm>
          <a:prstGeom prst="rect">
            <a:avLst/>
          </a:prstGeom>
          <a:noFill/>
        </p:spPr>
        <p:txBody>
          <a:bodyPr wrap="square" lIns="0" tIns="0" rIns="0" bIns="0" rtlCol="0" anchor="t"/>
          <a:lstStyle/>
          <a:p>
            <a:pPr marL="0" indent="0" algn="r">
              <a:lnSpc>
                <a:spcPts val="1440"/>
              </a:lnSpc>
              <a:buNone/>
            </a:pPr>
            <a:r>
              <a:rPr lang="en-US" sz="1200" dirty="0">
                <a:solidFill>
                  <a:srgbClr val="DC2626"/>
                </a:solidFill>
                <a:latin typeface="Georgia Pro Cond" panose="02040506050405020303" charset="0"/>
                <a:ea typeface="SimSun" panose="02010600030101010101" pitchFamily="2" charset="-122"/>
                <a:cs typeface="Georgia Pro Cond" panose="02040506050405020303" charset="0"/>
              </a:rPr>
              <a:t>24.9%</a:t>
            </a:r>
            <a:endParaRPr lang="en-US" sz="1200" dirty="0">
              <a:solidFill>
                <a:srgbClr val="DC2626"/>
              </a:solidFill>
              <a:latin typeface="Georgia Pro Cond" panose="02040506050405020303" charset="0"/>
              <a:ea typeface="SimSun" panose="02010600030101010101" pitchFamily="2" charset="-122"/>
              <a:cs typeface="Georgia Pro Cond" panose="02040506050405020303" charset="0"/>
            </a:endParaRPr>
          </a:p>
        </p:txBody>
      </p:sp>
      <p:sp>
        <p:nvSpPr>
          <p:cNvPr id="59" name="Text 9"/>
          <p:cNvSpPr/>
          <p:nvPr/>
        </p:nvSpPr>
        <p:spPr>
          <a:xfrm>
            <a:off x="4401820" y="5425440"/>
            <a:ext cx="474980" cy="209550"/>
          </a:xfrm>
          <a:prstGeom prst="roundRect">
            <a:avLst>
              <a:gd name="adj" fmla="val 174545"/>
            </a:avLst>
          </a:prstGeom>
          <a:solidFill>
            <a:srgbClr val="C00000"/>
          </a:solidFill>
        </p:spPr>
        <p:txBody>
          <a:bodyPr wrap="none" lIns="0" tIns="0" rIns="0" bIns="0" rtlCol="0" anchor="ctr">
            <a:noAutofit/>
          </a:bodyPr>
          <a:lstStyle/>
          <a:p>
            <a:pPr marL="0" indent="0">
              <a:buNone/>
            </a:pPr>
            <a:endParaRPr lang="en-US" sz="1500" dirty="0">
              <a:latin typeface="Georgia Pro Cond Light" panose="02040306050405020303" charset="0"/>
              <a:cs typeface="Georgia Pro Cond Light" panose="02040306050405020303" charset="0"/>
            </a:endParaRPr>
          </a:p>
        </p:txBody>
      </p:sp>
      <p:grpSp>
        <p:nvGrpSpPr>
          <p:cNvPr id="62" name="Group 61"/>
          <p:cNvGrpSpPr/>
          <p:nvPr/>
        </p:nvGrpSpPr>
        <p:grpSpPr>
          <a:xfrm>
            <a:off x="6308090" y="4927600"/>
            <a:ext cx="1334135" cy="709295"/>
            <a:chOff x="10138" y="7755"/>
            <a:chExt cx="2101" cy="1117"/>
          </a:xfrm>
        </p:grpSpPr>
        <p:sp>
          <p:nvSpPr>
            <p:cNvPr id="38" name="Text 10"/>
            <p:cNvSpPr/>
            <p:nvPr/>
          </p:nvSpPr>
          <p:spPr>
            <a:xfrm>
              <a:off x="10139" y="8542"/>
              <a:ext cx="2099" cy="330"/>
            </a:xfrm>
            <a:prstGeom prst="roundRect">
              <a:avLst>
                <a:gd name="adj" fmla="val 174545"/>
              </a:avLst>
            </a:prstGeom>
            <a:solidFill>
              <a:srgbClr val="2563EB">
                <a:alpha val="8000"/>
              </a:srgbClr>
            </a:solidFill>
            <a:ln w="6350">
              <a:solidFill>
                <a:schemeClr val="tx1"/>
              </a:solidFill>
            </a:ln>
          </p:spPr>
          <p:txBody>
            <a:bodyPr wrap="none" lIns="0" tIns="0" rIns="0" bIns="0" rtlCol="0" anchor="ctr">
              <a:no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55" name="Text 35"/>
            <p:cNvSpPr/>
            <p:nvPr/>
          </p:nvSpPr>
          <p:spPr>
            <a:xfrm>
              <a:off x="10138" y="7755"/>
              <a:ext cx="2100" cy="663"/>
            </a:xfrm>
            <a:prstGeom prst="rect">
              <a:avLst/>
            </a:prstGeom>
            <a:noFill/>
          </p:spPr>
          <p:txBody>
            <a:bodyPr wrap="square" lIns="0" tIns="0" rIns="0" bIns="0" rtlCol="0" anchor="t"/>
            <a:lstStyle/>
            <a:p>
              <a:pPr marL="0" indent="0" algn="ctr">
                <a:lnSpc>
                  <a:spcPct val="100000"/>
                </a:lnSpc>
                <a:buNone/>
              </a:pP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Missing Description</a:t>
              </a:r>
              <a:endPar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endParaRPr>
            </a:p>
          </p:txBody>
        </p:sp>
        <p:sp>
          <p:nvSpPr>
            <p:cNvPr id="56" name="Text 36"/>
            <p:cNvSpPr/>
            <p:nvPr/>
          </p:nvSpPr>
          <p:spPr>
            <a:xfrm>
              <a:off x="11505" y="8543"/>
              <a:ext cx="734" cy="328"/>
            </a:xfrm>
            <a:prstGeom prst="rect">
              <a:avLst/>
            </a:prstGeom>
            <a:noFill/>
          </p:spPr>
          <p:txBody>
            <a:bodyPr wrap="square" lIns="0" tIns="0" rIns="0" bIns="0" rtlCol="0" anchor="t"/>
            <a:lstStyle/>
            <a:p>
              <a:pPr marL="0" indent="0" algn="r">
                <a:lnSpc>
                  <a:spcPts val="1440"/>
                </a:lnSpc>
                <a:buNone/>
              </a:pPr>
              <a:r>
                <a:rPr lang="en-US" sz="1200" dirty="0">
                  <a:solidFill>
                    <a:srgbClr val="F97316"/>
                  </a:solidFill>
                  <a:latin typeface="Georgia Pro Cond" panose="02040506050405020303" charset="0"/>
                  <a:ea typeface="SimSun" panose="02010600030101010101" pitchFamily="2" charset="-122"/>
                  <a:cs typeface="Georgia Pro Cond" panose="02040506050405020303" charset="0"/>
                </a:rPr>
                <a:t>0.3%</a:t>
              </a:r>
              <a:endParaRPr lang="en-US" sz="1200" dirty="0">
                <a:solidFill>
                  <a:srgbClr val="F97316"/>
                </a:solidFill>
                <a:latin typeface="Georgia Pro Cond" panose="02040506050405020303" charset="0"/>
                <a:ea typeface="SimSun" panose="02010600030101010101" pitchFamily="2" charset="-122"/>
                <a:cs typeface="Georgia Pro Cond" panose="02040506050405020303" charset="0"/>
              </a:endParaRPr>
            </a:p>
          </p:txBody>
        </p:sp>
        <p:sp>
          <p:nvSpPr>
            <p:cNvPr id="60" name="Text 9"/>
            <p:cNvSpPr/>
            <p:nvPr/>
          </p:nvSpPr>
          <p:spPr>
            <a:xfrm>
              <a:off x="10140" y="8582"/>
              <a:ext cx="164" cy="254"/>
            </a:xfrm>
            <a:prstGeom prst="roundRect">
              <a:avLst>
                <a:gd name="adj" fmla="val 50000"/>
              </a:avLst>
            </a:prstGeom>
            <a:solidFill>
              <a:schemeClr val="accent2">
                <a:lumMod val="60000"/>
                <a:lumOff val="40000"/>
              </a:schemeClr>
            </a:solidFill>
          </p:spPr>
          <p:txBody>
            <a:bodyPr wrap="none" lIns="0" tIns="0" rIns="0" bIns="0" rtlCol="0" anchor="ctr">
              <a:noAutofit/>
            </a:bodyPr>
            <a:lstStyle/>
            <a:p>
              <a:pPr marL="0" indent="0">
                <a:buNone/>
              </a:pPr>
              <a:endParaRPr lang="en-US" sz="1500" dirty="0">
                <a:latin typeface="Georgia Pro Cond Light" panose="02040306050405020303" charset="0"/>
                <a:cs typeface="Georgia Pro Cond Light" panose="02040306050405020303" charset="0"/>
              </a:endParaRPr>
            </a:p>
          </p:txBody>
        </p:sp>
      </p:grpSp>
      <p:grpSp>
        <p:nvGrpSpPr>
          <p:cNvPr id="68" name="Group 67"/>
          <p:cNvGrpSpPr/>
          <p:nvPr/>
        </p:nvGrpSpPr>
        <p:grpSpPr>
          <a:xfrm>
            <a:off x="10131425" y="4927600"/>
            <a:ext cx="1229360" cy="709295"/>
            <a:chOff x="13323" y="7755"/>
            <a:chExt cx="1936" cy="1117"/>
          </a:xfrm>
        </p:grpSpPr>
        <p:sp>
          <p:nvSpPr>
            <p:cNvPr id="39" name="Text 11"/>
            <p:cNvSpPr/>
            <p:nvPr/>
          </p:nvSpPr>
          <p:spPr>
            <a:xfrm>
              <a:off x="13323" y="8542"/>
              <a:ext cx="1936" cy="330"/>
            </a:xfrm>
            <a:prstGeom prst="roundRect">
              <a:avLst>
                <a:gd name="adj" fmla="val 174545"/>
              </a:avLst>
            </a:prstGeom>
            <a:solidFill>
              <a:srgbClr val="2563EB">
                <a:alpha val="8000"/>
              </a:srgbClr>
            </a:solidFill>
            <a:ln w="6350">
              <a:solidFill>
                <a:schemeClr val="tx1"/>
              </a:solidFill>
            </a:ln>
          </p:spPr>
          <p:txBody>
            <a:bodyPr wrap="none" lIns="0" tIns="0" rIns="0" bIns="0" rtlCol="0" anchor="ctr">
              <a:no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57" name="Text 37"/>
            <p:cNvSpPr/>
            <p:nvPr/>
          </p:nvSpPr>
          <p:spPr>
            <a:xfrm>
              <a:off x="13323" y="7755"/>
              <a:ext cx="1936" cy="667"/>
            </a:xfrm>
            <a:prstGeom prst="rect">
              <a:avLst/>
            </a:prstGeom>
            <a:noFill/>
          </p:spPr>
          <p:txBody>
            <a:bodyPr wrap="square" lIns="0" tIns="0" rIns="0" bIns="0" rtlCol="0" anchor="t"/>
            <a:lstStyle/>
            <a:p>
              <a:pPr marL="0" indent="0" algn="ctr">
                <a:lnSpc>
                  <a:spcPct val="100000"/>
                </a:lnSpc>
                <a:buNone/>
              </a:pP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Negative Quantity</a:t>
              </a:r>
              <a:endPar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endParaRPr>
            </a:p>
          </p:txBody>
        </p:sp>
        <p:sp>
          <p:nvSpPr>
            <p:cNvPr id="58" name="Text 38"/>
            <p:cNvSpPr/>
            <p:nvPr/>
          </p:nvSpPr>
          <p:spPr>
            <a:xfrm>
              <a:off x="14464" y="8543"/>
              <a:ext cx="734" cy="328"/>
            </a:xfrm>
            <a:prstGeom prst="rect">
              <a:avLst/>
            </a:prstGeom>
            <a:noFill/>
          </p:spPr>
          <p:txBody>
            <a:bodyPr wrap="square" lIns="0" tIns="0" rIns="0" bIns="0" rtlCol="0" anchor="t"/>
            <a:lstStyle/>
            <a:p>
              <a:pPr marL="0" indent="0" algn="r">
                <a:lnSpc>
                  <a:spcPts val="1440"/>
                </a:lnSpc>
                <a:buNone/>
              </a:pPr>
              <a:r>
                <a:rPr lang="en-US" sz="1200" dirty="0">
                  <a:solidFill>
                    <a:srgbClr val="7C3AED"/>
                  </a:solidFill>
                  <a:latin typeface="Georgia Pro Cond" panose="02040506050405020303" charset="0"/>
                  <a:ea typeface="SimSun" panose="02010600030101010101" pitchFamily="2" charset="-122"/>
                  <a:cs typeface="Georgia Pro Cond" panose="02040506050405020303" charset="0"/>
                </a:rPr>
                <a:t>1.8%</a:t>
              </a:r>
              <a:endParaRPr lang="en-US" sz="1200" dirty="0">
                <a:solidFill>
                  <a:srgbClr val="7C3AED"/>
                </a:solidFill>
                <a:latin typeface="Georgia Pro Cond" panose="02040506050405020303" charset="0"/>
                <a:ea typeface="SimSun" panose="02010600030101010101" pitchFamily="2" charset="-122"/>
                <a:cs typeface="Georgia Pro Cond" panose="02040506050405020303" charset="0"/>
              </a:endParaRPr>
            </a:p>
          </p:txBody>
        </p:sp>
        <p:sp>
          <p:nvSpPr>
            <p:cNvPr id="61" name="Text 9"/>
            <p:cNvSpPr/>
            <p:nvPr/>
          </p:nvSpPr>
          <p:spPr>
            <a:xfrm>
              <a:off x="13323" y="8543"/>
              <a:ext cx="231" cy="328"/>
            </a:xfrm>
            <a:prstGeom prst="roundRect">
              <a:avLst>
                <a:gd name="adj" fmla="val 50000"/>
              </a:avLst>
            </a:prstGeom>
            <a:solidFill>
              <a:schemeClr val="accent1">
                <a:lumMod val="75000"/>
              </a:schemeClr>
            </a:solidFill>
          </p:spPr>
          <p:txBody>
            <a:bodyPr wrap="none" lIns="0" tIns="0" rIns="0" bIns="0" rtlCol="0" anchor="ctr">
              <a:noAutofit/>
            </a:bodyPr>
            <a:lstStyle/>
            <a:p>
              <a:pPr marL="0" indent="0">
                <a:buNone/>
              </a:pPr>
              <a:endParaRPr lang="en-US" sz="1500" dirty="0">
                <a:latin typeface="Georgia Pro Cond Light" panose="02040306050405020303" charset="0"/>
                <a:cs typeface="Georgia Pro Cond Light" panose="02040306050405020303" charset="0"/>
              </a:endParaRPr>
            </a:p>
          </p:txBody>
        </p:sp>
      </p:grpSp>
      <p:grpSp>
        <p:nvGrpSpPr>
          <p:cNvPr id="63" name="Group 62"/>
          <p:cNvGrpSpPr/>
          <p:nvPr/>
        </p:nvGrpSpPr>
        <p:grpSpPr>
          <a:xfrm>
            <a:off x="8223885" y="4926965"/>
            <a:ext cx="1334135" cy="709295"/>
            <a:chOff x="10138" y="7755"/>
            <a:chExt cx="2101" cy="1117"/>
          </a:xfrm>
        </p:grpSpPr>
        <p:sp>
          <p:nvSpPr>
            <p:cNvPr id="64" name="Text 10"/>
            <p:cNvSpPr/>
            <p:nvPr/>
          </p:nvSpPr>
          <p:spPr>
            <a:xfrm>
              <a:off x="10139" y="8542"/>
              <a:ext cx="2099" cy="330"/>
            </a:xfrm>
            <a:prstGeom prst="roundRect">
              <a:avLst>
                <a:gd name="adj" fmla="val 174545"/>
              </a:avLst>
            </a:prstGeom>
            <a:solidFill>
              <a:srgbClr val="2563EB">
                <a:alpha val="8000"/>
              </a:srgbClr>
            </a:solidFill>
            <a:ln w="6350">
              <a:solidFill>
                <a:schemeClr val="tx1"/>
              </a:solidFill>
            </a:ln>
          </p:spPr>
          <p:txBody>
            <a:bodyPr wrap="none" lIns="0" tIns="0" rIns="0" bIns="0" rtlCol="0" anchor="ctr">
              <a:no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65" name="Text 35"/>
            <p:cNvSpPr/>
            <p:nvPr/>
          </p:nvSpPr>
          <p:spPr>
            <a:xfrm>
              <a:off x="10138" y="7755"/>
              <a:ext cx="2100" cy="663"/>
            </a:xfrm>
            <a:prstGeom prst="rect">
              <a:avLst/>
            </a:prstGeom>
            <a:noFill/>
          </p:spPr>
          <p:txBody>
            <a:bodyPr wrap="square" lIns="0" tIns="0" rIns="0" bIns="0" rtlCol="0" anchor="ctr" anchorCtr="0"/>
            <a:lstStyle/>
            <a:p>
              <a:pPr marL="0" indent="0" algn="ctr">
                <a:lnSpc>
                  <a:spcPct val="100000"/>
                </a:lnSpc>
                <a:buNone/>
              </a:pP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Promotions</a:t>
              </a:r>
              <a:endPar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endParaRPr>
            </a:p>
            <a:p>
              <a:pPr marL="0" indent="0" algn="ctr">
                <a:lnSpc>
                  <a:spcPct val="100000"/>
                </a:lnSpc>
                <a:buNone/>
              </a:pP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(Free items)</a:t>
              </a:r>
              <a:endPar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endParaRPr>
            </a:p>
          </p:txBody>
        </p:sp>
        <p:sp>
          <p:nvSpPr>
            <p:cNvPr id="66" name="Text 36"/>
            <p:cNvSpPr/>
            <p:nvPr/>
          </p:nvSpPr>
          <p:spPr>
            <a:xfrm>
              <a:off x="11505" y="8543"/>
              <a:ext cx="734" cy="328"/>
            </a:xfrm>
            <a:prstGeom prst="rect">
              <a:avLst/>
            </a:prstGeom>
            <a:noFill/>
          </p:spPr>
          <p:txBody>
            <a:bodyPr wrap="square" lIns="0" tIns="0" rIns="0" bIns="0" rtlCol="0" anchor="t"/>
            <a:lstStyle/>
            <a:p>
              <a:pPr marL="0" indent="0" algn="r">
                <a:lnSpc>
                  <a:spcPts val="1440"/>
                </a:lnSpc>
                <a:buNone/>
              </a:pPr>
              <a:r>
                <a:rPr lang="en-US" sz="1200" dirty="0">
                  <a:solidFill>
                    <a:schemeClr val="accent6">
                      <a:lumMod val="75000"/>
                    </a:schemeClr>
                  </a:solidFill>
                  <a:latin typeface="Georgia Pro Cond" panose="02040506050405020303" charset="0"/>
                  <a:ea typeface="SimSun" panose="02010600030101010101" pitchFamily="2" charset="-122"/>
                  <a:cs typeface="Georgia Pro Cond" panose="02040506050405020303" charset="0"/>
                </a:rPr>
                <a:t>0.2%</a:t>
              </a:r>
              <a:endParaRPr lang="en-US" sz="1200" dirty="0">
                <a:solidFill>
                  <a:schemeClr val="accent6">
                    <a:lumMod val="75000"/>
                  </a:schemeClr>
                </a:solidFill>
                <a:latin typeface="Georgia Pro Cond" panose="02040506050405020303" charset="0"/>
                <a:ea typeface="SimSun" panose="02010600030101010101" pitchFamily="2" charset="-122"/>
                <a:cs typeface="Georgia Pro Cond" panose="02040506050405020303" charset="0"/>
              </a:endParaRPr>
            </a:p>
          </p:txBody>
        </p:sp>
        <p:sp>
          <p:nvSpPr>
            <p:cNvPr id="67" name="Text 9"/>
            <p:cNvSpPr/>
            <p:nvPr/>
          </p:nvSpPr>
          <p:spPr>
            <a:xfrm>
              <a:off x="10140" y="8582"/>
              <a:ext cx="120" cy="254"/>
            </a:xfrm>
            <a:prstGeom prst="roundRect">
              <a:avLst>
                <a:gd name="adj" fmla="val 50000"/>
              </a:avLst>
            </a:prstGeom>
            <a:solidFill>
              <a:schemeClr val="accent6">
                <a:lumMod val="75000"/>
              </a:schemeClr>
            </a:solidFill>
          </p:spPr>
          <p:txBody>
            <a:bodyPr wrap="none" lIns="0" tIns="0" rIns="0" bIns="0" rtlCol="0" anchor="ctr">
              <a:noAutofit/>
            </a:bodyPr>
            <a:lstStyle/>
            <a:p>
              <a:pPr marL="0" indent="0">
                <a:buNone/>
              </a:pPr>
              <a:endParaRPr lang="en-US" sz="1500" dirty="0">
                <a:latin typeface="Georgia Pro Cond Light" panose="02040306050405020303" charset="0"/>
                <a:cs typeface="Georgia Pro Cond Light" panose="02040306050405020303"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0" name="Group 49"/>
          <p:cNvGrpSpPr/>
          <p:nvPr/>
        </p:nvGrpSpPr>
        <p:grpSpPr>
          <a:xfrm>
            <a:off x="664845" y="1684655"/>
            <a:ext cx="4378960" cy="3338195"/>
            <a:chOff x="11173" y="2638"/>
            <a:chExt cx="6225" cy="2376"/>
          </a:xfrm>
          <a:solidFill>
            <a:schemeClr val="accent4">
              <a:lumMod val="20000"/>
              <a:lumOff val="80000"/>
              <a:alpha val="76000"/>
            </a:schemeClr>
          </a:solidFill>
        </p:grpSpPr>
        <p:sp>
          <p:nvSpPr>
            <p:cNvPr id="51" name="Text 2"/>
            <p:cNvSpPr/>
            <p:nvPr/>
          </p:nvSpPr>
          <p:spPr>
            <a:xfrm>
              <a:off x="11173" y="2638"/>
              <a:ext cx="6225" cy="2376"/>
            </a:xfrm>
            <a:prstGeom prst="snip1Rect">
              <a:avLst/>
            </a:prstGeom>
            <a:grpFill/>
            <a:ln w="9525">
              <a:solidFill>
                <a:srgbClr val="000000"/>
              </a:solidFill>
            </a:ln>
            <a:effectLst>
              <a:outerShdw blurRad="190500" dist="38100" dir="5400000" algn="bl" rotWithShape="0">
                <a:srgbClr val="2563EB">
                  <a:alpha val="6000"/>
                </a:srgbClr>
              </a:outerShdw>
            </a:effectLst>
          </p:spPr>
          <p:txBody>
            <a:bodyPr wrap="none" lIns="0" tIns="0" rIns="0" bIns="0" rtlCol="0" anchor="ctr">
              <a:normAutofit/>
            </a:bodyPr>
            <a:lstStyle/>
            <a:p>
              <a:pPr marL="0" indent="0" algn="ctr">
                <a:buNone/>
              </a:pPr>
              <a:endParaRPr lang="en-US" sz="1600" dirty="0">
                <a:latin typeface="Georgia Pro Cond Light" panose="02040306050405020303" charset="0"/>
                <a:cs typeface="Georgia Pro Cond Light" panose="02040306050405020303" charset="0"/>
              </a:endParaRPr>
            </a:p>
            <a:p>
              <a:pPr marL="0" indent="0" algn="ctr">
                <a:buNone/>
              </a:pPr>
              <a:endParaRPr lang="en-US" sz="1600" dirty="0">
                <a:latin typeface="Georgia Pro Cond Light" panose="02040306050405020303" charset="0"/>
                <a:cs typeface="Georgia Pro Cond Light" panose="02040306050405020303" charset="0"/>
              </a:endParaRPr>
            </a:p>
            <a:p>
              <a:pPr marL="0" indent="0" algn="ctr">
                <a:buNone/>
              </a:pPr>
              <a:endParaRPr lang="en-US" sz="1600" dirty="0">
                <a:latin typeface="Georgia Pro Cond Light" panose="02040306050405020303" charset="0"/>
                <a:cs typeface="Georgia Pro Cond Light" panose="02040306050405020303" charset="0"/>
              </a:endParaRPr>
            </a:p>
          </p:txBody>
        </p:sp>
        <p:sp>
          <p:nvSpPr>
            <p:cNvPr id="52" name="Text Box 51"/>
            <p:cNvSpPr txBox="1"/>
            <p:nvPr/>
          </p:nvSpPr>
          <p:spPr>
            <a:xfrm>
              <a:off x="12949" y="2917"/>
              <a:ext cx="2959" cy="276"/>
            </a:xfrm>
            <a:prstGeom prst="snip1Rect">
              <a:avLst/>
            </a:prstGeom>
            <a:grpFill/>
          </p:spPr>
          <p:txBody>
            <a:bodyPr wrap="square" rtlCol="0">
              <a:spAutoFit/>
            </a:bodyPr>
            <a:p>
              <a:endParaRPr lang="en-US" altLang="en-US" b="1" dirty="0">
                <a:solidFill>
                  <a:schemeClr val="accent2">
                    <a:lumMod val="50000"/>
                  </a:schemeClr>
                </a:solidFill>
                <a:latin typeface="Georgia Pro Cond Light" panose="02040306050405020303" charset="0"/>
                <a:ea typeface="SimSun" panose="02010600030101010101" pitchFamily="2" charset="-122"/>
                <a:cs typeface="Georgia Pro Cond Light" panose="02040306050405020303" charset="0"/>
                <a:sym typeface="+mn-ea"/>
              </a:endParaRPr>
            </a:p>
          </p:txBody>
        </p:sp>
      </p:grpSp>
      <p:sp>
        <p:nvSpPr>
          <p:cNvPr id="46" name="Rounded Rectangle 45"/>
          <p:cNvSpPr/>
          <p:nvPr/>
        </p:nvSpPr>
        <p:spPr>
          <a:xfrm>
            <a:off x="5798820" y="1619250"/>
            <a:ext cx="5013960" cy="2735580"/>
          </a:xfrm>
          <a:prstGeom prst="roundRect">
            <a:avLst/>
          </a:prstGeom>
          <a:pattFill prst="pct30">
            <a:fgClr>
              <a:schemeClr val="bg2">
                <a:lumMod val="90000"/>
              </a:schemeClr>
            </a:fgClr>
            <a:bgClr>
              <a:schemeClr val="tx2">
                <a:lumMod val="20000"/>
                <a:lumOff val="80000"/>
              </a:schemeClr>
            </a:bgClr>
          </a:patt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Title 3"/>
          <p:cNvSpPr>
            <a:spLocks noGrp="1"/>
          </p:cNvSpPr>
          <p:nvPr>
            <p:ph type="title"/>
          </p:nvPr>
        </p:nvSpPr>
        <p:spPr>
          <a:xfrm>
            <a:off x="678815" y="603885"/>
            <a:ext cx="10834370" cy="612775"/>
          </a:xfrm>
        </p:spPr>
        <p:txBody>
          <a:bodyPr>
            <a:normAutofit/>
          </a:bodyPr>
          <a:p>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Feature Engineering &amp; Preprocessing</a:t>
            </a:r>
            <a:endParaRPr lang="en-GB" altLang="en-US">
              <a:latin typeface="Georgia Pro Cond Light" panose="02040306050405020303" charset="0"/>
              <a:cs typeface="Georgia Pro Cond Light" panose="02040306050405020303" charset="0"/>
            </a:endParaRPr>
          </a:p>
        </p:txBody>
      </p:sp>
      <p:sp>
        <p:nvSpPr>
          <p:cNvPr id="6" name="Text Box 5"/>
          <p:cNvSpPr txBox="1"/>
          <p:nvPr/>
        </p:nvSpPr>
        <p:spPr>
          <a:xfrm>
            <a:off x="679450" y="1216660"/>
            <a:ext cx="10833735" cy="294640"/>
          </a:xfrm>
          <a:prstGeom prst="rect">
            <a:avLst/>
          </a:prstGeom>
          <a:noFill/>
        </p:spPr>
        <p:txBody>
          <a:bodyPr wrap="square" rtlCol="0">
            <a:spAutoFit/>
          </a:bodyPr>
          <a:p>
            <a:pPr marL="0" indent="0">
              <a:lnSpc>
                <a:spcPts val="1585"/>
              </a:lnSpc>
              <a:buNone/>
            </a:pPr>
            <a:r>
              <a:rPr lang="en-US" dirty="0">
                <a:solidFill>
                  <a:srgbClr val="64748B"/>
                </a:solidFill>
                <a:latin typeface="Georgia Pro Cond Light" panose="02040306050405020303" charset="0"/>
                <a:ea typeface="SimSun" panose="02010600030101010101" pitchFamily="2" charset="-122"/>
                <a:cs typeface="Georgia Pro Cond Light" panose="02040306050405020303" charset="0"/>
                <a:sym typeface="+mn-ea"/>
              </a:rPr>
              <a:t>Transforming raw transactions into ML-ready features via RFM computation and robust normalization.</a:t>
            </a:r>
            <a:endParaRPr lang="en-GB" altLang="en-US"/>
          </a:p>
        </p:txBody>
      </p:sp>
      <p:grpSp>
        <p:nvGrpSpPr>
          <p:cNvPr id="34" name="Group 33"/>
          <p:cNvGrpSpPr/>
          <p:nvPr/>
        </p:nvGrpSpPr>
        <p:grpSpPr>
          <a:xfrm>
            <a:off x="810895" y="1856105"/>
            <a:ext cx="4316730" cy="3166745"/>
            <a:chOff x="1145" y="2922"/>
            <a:chExt cx="6798" cy="4987"/>
          </a:xfrm>
        </p:grpSpPr>
        <p:sp>
          <p:nvSpPr>
            <p:cNvPr id="16" name="Text 14"/>
            <p:cNvSpPr/>
            <p:nvPr>
              <p:custDataLst>
                <p:tags r:id="rId1"/>
              </p:custDataLst>
            </p:nvPr>
          </p:nvSpPr>
          <p:spPr>
            <a:xfrm>
              <a:off x="1848" y="2922"/>
              <a:ext cx="5963" cy="562"/>
            </a:xfrm>
            <a:prstGeom prst="rect">
              <a:avLst/>
            </a:prstGeom>
            <a:noFill/>
          </p:spPr>
          <p:txBody>
            <a:bodyPr wrap="square" lIns="0" tIns="0" rIns="0" bIns="0" rtlCol="0" anchor="t"/>
            <a:lstStyle/>
            <a:p>
              <a:pPr marL="0" indent="0">
                <a:lnSpc>
                  <a:spcPts val="1475"/>
                </a:lnSpc>
                <a:buNone/>
              </a:pPr>
              <a:r>
                <a:rPr lang="en-US" sz="1600" b="1" u="sng" dirty="0">
                  <a:solidFill>
                    <a:srgbClr val="0F172A"/>
                  </a:solidFill>
                  <a:latin typeface="Georgia Pro Cond Light" panose="02040306050405020303" charset="0"/>
                  <a:ea typeface="SimSun" panose="02010600030101010101" pitchFamily="2" charset="-122"/>
                  <a:cs typeface="Georgia Pro Cond Light" panose="02040306050405020303" charset="0"/>
                </a:rPr>
                <a:t>R</a:t>
              </a:r>
              <a:r>
                <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rPr>
                <a:t>ecency</a:t>
              </a:r>
              <a:endPar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endParaRPr>
            </a:p>
          </p:txBody>
        </p:sp>
        <p:sp>
          <p:nvSpPr>
            <p:cNvPr id="17" name="Text 15"/>
            <p:cNvSpPr/>
            <p:nvPr>
              <p:custDataLst>
                <p:tags r:id="rId2"/>
              </p:custDataLst>
            </p:nvPr>
          </p:nvSpPr>
          <p:spPr>
            <a:xfrm>
              <a:off x="1848" y="3484"/>
              <a:ext cx="5963" cy="514"/>
            </a:xfrm>
            <a:prstGeom prst="rect">
              <a:avLst/>
            </a:prstGeom>
            <a:noFill/>
          </p:spPr>
          <p:txBody>
            <a:bodyPr wrap="square" lIns="0" tIns="0" rIns="0" bIns="0" rtlCol="0" anchor="t"/>
            <a:lstStyle/>
            <a:p>
              <a:pPr marL="0" indent="0">
                <a:lnSpc>
                  <a:spcPts val="135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Days since last purchase (snapshot: 2011-12-31)</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18" name="Text 16"/>
            <p:cNvSpPr/>
            <p:nvPr>
              <p:custDataLst>
                <p:tags r:id="rId3"/>
              </p:custDataLst>
            </p:nvPr>
          </p:nvSpPr>
          <p:spPr>
            <a:xfrm>
              <a:off x="1826" y="4226"/>
              <a:ext cx="5785" cy="562"/>
            </a:xfrm>
            <a:prstGeom prst="rect">
              <a:avLst/>
            </a:prstGeom>
            <a:noFill/>
          </p:spPr>
          <p:txBody>
            <a:bodyPr wrap="square" lIns="0" tIns="0" rIns="0" bIns="0" rtlCol="0" anchor="t"/>
            <a:lstStyle/>
            <a:p>
              <a:pPr marL="0" indent="0">
                <a:lnSpc>
                  <a:spcPts val="1475"/>
                </a:lnSpc>
                <a:buNone/>
              </a:pPr>
              <a:r>
                <a:rPr lang="en-US" sz="1600" b="1" u="sng" dirty="0">
                  <a:solidFill>
                    <a:srgbClr val="0F172A"/>
                  </a:solidFill>
                  <a:latin typeface="Georgia Pro Cond Light" panose="02040306050405020303" charset="0"/>
                  <a:ea typeface="SimSun" panose="02010600030101010101" pitchFamily="2" charset="-122"/>
                  <a:cs typeface="Georgia Pro Cond Light" panose="02040306050405020303" charset="0"/>
                </a:rPr>
                <a:t>F</a:t>
              </a:r>
              <a:r>
                <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rPr>
                <a:t>requency</a:t>
              </a:r>
              <a:endPar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endParaRPr>
            </a:p>
          </p:txBody>
        </p:sp>
        <p:sp>
          <p:nvSpPr>
            <p:cNvPr id="19" name="Text 17"/>
            <p:cNvSpPr/>
            <p:nvPr>
              <p:custDataLst>
                <p:tags r:id="rId4"/>
              </p:custDataLst>
            </p:nvPr>
          </p:nvSpPr>
          <p:spPr>
            <a:xfrm>
              <a:off x="1826" y="4787"/>
              <a:ext cx="5785" cy="514"/>
            </a:xfrm>
            <a:prstGeom prst="rect">
              <a:avLst/>
            </a:prstGeom>
            <a:noFill/>
          </p:spPr>
          <p:txBody>
            <a:bodyPr wrap="square" lIns="0" tIns="0" rIns="0" bIns="0" rtlCol="0" anchor="t"/>
            <a:lstStyle/>
            <a:p>
              <a:pPr marL="0" indent="0">
                <a:lnSpc>
                  <a:spcPts val="135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Total number of unique invoices per customer</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20" name="Text 18"/>
            <p:cNvSpPr/>
            <p:nvPr>
              <p:custDataLst>
                <p:tags r:id="rId5"/>
              </p:custDataLst>
            </p:nvPr>
          </p:nvSpPr>
          <p:spPr>
            <a:xfrm>
              <a:off x="1913" y="5529"/>
              <a:ext cx="6030" cy="562"/>
            </a:xfrm>
            <a:prstGeom prst="rect">
              <a:avLst/>
            </a:prstGeom>
            <a:noFill/>
          </p:spPr>
          <p:txBody>
            <a:bodyPr wrap="square" lIns="0" tIns="0" rIns="0" bIns="0" rtlCol="0" anchor="t"/>
            <a:lstStyle/>
            <a:p>
              <a:pPr marL="0" indent="0">
                <a:lnSpc>
                  <a:spcPts val="1475"/>
                </a:lnSpc>
                <a:buNone/>
              </a:pPr>
              <a:r>
                <a:rPr lang="en-US" sz="1600" b="1" u="sng" dirty="0">
                  <a:solidFill>
                    <a:srgbClr val="0F172A"/>
                  </a:solidFill>
                  <a:latin typeface="Georgia Pro Cond Light" panose="02040306050405020303" charset="0"/>
                  <a:ea typeface="SimSun" panose="02010600030101010101" pitchFamily="2" charset="-122"/>
                  <a:cs typeface="Georgia Pro Cond Light" panose="02040306050405020303" charset="0"/>
                </a:rPr>
                <a:t>M</a:t>
              </a:r>
              <a:r>
                <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rPr>
                <a:t>onetary</a:t>
              </a:r>
              <a:endPar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endParaRPr>
            </a:p>
          </p:txBody>
        </p:sp>
        <p:sp>
          <p:nvSpPr>
            <p:cNvPr id="21" name="Text 19"/>
            <p:cNvSpPr/>
            <p:nvPr>
              <p:custDataLst>
                <p:tags r:id="rId6"/>
              </p:custDataLst>
            </p:nvPr>
          </p:nvSpPr>
          <p:spPr>
            <a:xfrm>
              <a:off x="1913" y="6091"/>
              <a:ext cx="6030" cy="514"/>
            </a:xfrm>
            <a:prstGeom prst="rect">
              <a:avLst/>
            </a:prstGeom>
            <a:noFill/>
          </p:spPr>
          <p:txBody>
            <a:bodyPr wrap="square" lIns="0" tIns="0" rIns="0" bIns="0" rtlCol="0" anchor="t"/>
            <a:lstStyle/>
            <a:p>
              <a:pPr marL="0" indent="0">
                <a:lnSpc>
                  <a:spcPts val="135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Total spend (Quantity × UnitPrice) per customer</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22" name="Text 20"/>
            <p:cNvSpPr/>
            <p:nvPr/>
          </p:nvSpPr>
          <p:spPr>
            <a:xfrm>
              <a:off x="1869" y="6833"/>
              <a:ext cx="5405" cy="562"/>
            </a:xfrm>
            <a:prstGeom prst="rect">
              <a:avLst/>
            </a:prstGeom>
            <a:noFill/>
          </p:spPr>
          <p:txBody>
            <a:bodyPr wrap="square" lIns="0" tIns="0" rIns="0" bIns="0" rtlCol="0" anchor="t"/>
            <a:lstStyle/>
            <a:p>
              <a:pPr marL="0" indent="0">
                <a:lnSpc>
                  <a:spcPts val="1475"/>
                </a:lnSpc>
                <a:buNone/>
              </a:pPr>
              <a:r>
                <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rPr>
                <a:t>AvgOrderValue</a:t>
              </a:r>
              <a:endParaRPr lang="en-US" sz="1600" b="1" dirty="0">
                <a:solidFill>
                  <a:srgbClr val="0F172A"/>
                </a:solidFill>
                <a:latin typeface="Georgia Pro Cond Light" panose="02040306050405020303" charset="0"/>
                <a:ea typeface="SimSun" panose="02010600030101010101" pitchFamily="2" charset="-122"/>
                <a:cs typeface="Georgia Pro Cond Light" panose="02040306050405020303" charset="0"/>
              </a:endParaRPr>
            </a:p>
          </p:txBody>
        </p:sp>
        <p:sp>
          <p:nvSpPr>
            <p:cNvPr id="23" name="Text 21"/>
            <p:cNvSpPr/>
            <p:nvPr/>
          </p:nvSpPr>
          <p:spPr>
            <a:xfrm>
              <a:off x="1869" y="7395"/>
              <a:ext cx="5405" cy="514"/>
            </a:xfrm>
            <a:prstGeom prst="rect">
              <a:avLst/>
            </a:prstGeom>
            <a:noFill/>
          </p:spPr>
          <p:txBody>
            <a:bodyPr wrap="square" lIns="0" tIns="0" rIns="0" bIns="0" rtlCol="0" anchor="t"/>
            <a:lstStyle/>
            <a:p>
              <a:pPr marL="0" indent="0">
                <a:lnSpc>
                  <a:spcPts val="135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Monetary ÷ Frequency (basket size metric)</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grpSp>
          <p:nvGrpSpPr>
            <p:cNvPr id="15" name="Group 14"/>
            <p:cNvGrpSpPr/>
            <p:nvPr/>
          </p:nvGrpSpPr>
          <p:grpSpPr>
            <a:xfrm>
              <a:off x="1150" y="6817"/>
              <a:ext cx="526" cy="760"/>
              <a:chOff x="1126" y="6817"/>
              <a:chExt cx="526" cy="760"/>
            </a:xfrm>
          </p:grpSpPr>
          <p:sp>
            <p:nvSpPr>
              <p:cNvPr id="10" name="Text 5"/>
              <p:cNvSpPr/>
              <p:nvPr/>
            </p:nvSpPr>
            <p:spPr>
              <a:xfrm>
                <a:off x="1126" y="6817"/>
                <a:ext cx="526" cy="761"/>
              </a:xfrm>
              <a:prstGeom prst="roundRect">
                <a:avLst>
                  <a:gd name="adj" fmla="val 270860"/>
                </a:avLst>
              </a:prstGeom>
              <a:solidFill>
                <a:srgbClr val="059669"/>
              </a:solidFill>
            </p:spPr>
            <p:txBody>
              <a:bodyPr wrap="square" lIns="76200" tIns="76200" rIns="76200" bIns="76200" rtlCol="0" anchor="t">
                <a:noAutofit/>
              </a:bodyPr>
              <a:lstStyle/>
              <a:p>
                <a:pPr marL="0" indent="0" algn="ctr">
                  <a:lnSpc>
                    <a:spcPct val="100000"/>
                  </a:lnSpc>
                  <a:buNone/>
                </a:pPr>
                <a:endParaRPr lang="en-US" sz="1600" b="1" dirty="0">
                  <a:solidFill>
                    <a:srgbClr val="FFFFFF"/>
                  </a:solidFill>
                  <a:latin typeface="Georgia Pro Cond Light" panose="02040306050405020303" charset="0"/>
                  <a:ea typeface="SimSun" panose="02010600030101010101" pitchFamily="2" charset="-122"/>
                  <a:cs typeface="Georgia Pro Cond Light" panose="02040306050405020303" charset="0"/>
                </a:endParaRPr>
              </a:p>
            </p:txBody>
          </p:sp>
          <p:sp>
            <p:nvSpPr>
              <p:cNvPr id="12" name="Sun 11"/>
              <p:cNvSpPr/>
              <p:nvPr/>
            </p:nvSpPr>
            <p:spPr>
              <a:xfrm>
                <a:off x="1202" y="7011"/>
                <a:ext cx="381" cy="348"/>
              </a:xfrm>
              <a:prstGeom prst="sun">
                <a:avLst/>
              </a:prstGeom>
              <a:no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grpSp>
        <p:grpSp>
          <p:nvGrpSpPr>
            <p:cNvPr id="24" name="Group 23"/>
            <p:cNvGrpSpPr/>
            <p:nvPr/>
          </p:nvGrpSpPr>
          <p:grpSpPr>
            <a:xfrm>
              <a:off x="1159" y="5565"/>
              <a:ext cx="526" cy="760"/>
              <a:chOff x="1126" y="6817"/>
              <a:chExt cx="526" cy="760"/>
            </a:xfrm>
          </p:grpSpPr>
          <p:sp>
            <p:nvSpPr>
              <p:cNvPr id="25" name="Text 5"/>
              <p:cNvSpPr/>
              <p:nvPr/>
            </p:nvSpPr>
            <p:spPr>
              <a:xfrm>
                <a:off x="1126" y="6817"/>
                <a:ext cx="526" cy="761"/>
              </a:xfrm>
              <a:prstGeom prst="roundRect">
                <a:avLst>
                  <a:gd name="adj" fmla="val 270860"/>
                </a:avLst>
              </a:prstGeom>
              <a:solidFill>
                <a:schemeClr val="accent4"/>
              </a:solidFill>
            </p:spPr>
            <p:txBody>
              <a:bodyPr wrap="square" lIns="76200" tIns="76200" rIns="76200" bIns="76200" rtlCol="0" anchor="t">
                <a:noAutofit/>
              </a:bodyPr>
              <a:lstStyle/>
              <a:p>
                <a:pPr marL="0" indent="0" algn="ctr">
                  <a:lnSpc>
                    <a:spcPct val="100000"/>
                  </a:lnSpc>
                  <a:buNone/>
                </a:pPr>
                <a:endParaRPr lang="en-US" sz="1600" b="1" dirty="0">
                  <a:solidFill>
                    <a:srgbClr val="FFFFFF"/>
                  </a:solidFill>
                  <a:latin typeface="Georgia Pro Cond Light" panose="02040306050405020303" charset="0"/>
                  <a:ea typeface="SimSun" panose="02010600030101010101" pitchFamily="2" charset="-122"/>
                  <a:cs typeface="Georgia Pro Cond Light" panose="02040306050405020303" charset="0"/>
                </a:endParaRPr>
              </a:p>
            </p:txBody>
          </p:sp>
          <p:sp>
            <p:nvSpPr>
              <p:cNvPr id="26" name="Sun 25"/>
              <p:cNvSpPr/>
              <p:nvPr/>
            </p:nvSpPr>
            <p:spPr>
              <a:xfrm>
                <a:off x="1202" y="7011"/>
                <a:ext cx="381" cy="348"/>
              </a:xfrm>
              <a:prstGeom prst="sun">
                <a:avLst/>
              </a:prstGeom>
              <a:no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grpSp>
        <p:grpSp>
          <p:nvGrpSpPr>
            <p:cNvPr id="27" name="Group 26"/>
            <p:cNvGrpSpPr/>
            <p:nvPr/>
          </p:nvGrpSpPr>
          <p:grpSpPr>
            <a:xfrm>
              <a:off x="1171" y="4230"/>
              <a:ext cx="526" cy="760"/>
              <a:chOff x="1126" y="6817"/>
              <a:chExt cx="526" cy="760"/>
            </a:xfrm>
          </p:grpSpPr>
          <p:sp>
            <p:nvSpPr>
              <p:cNvPr id="28" name="Text 5"/>
              <p:cNvSpPr/>
              <p:nvPr/>
            </p:nvSpPr>
            <p:spPr>
              <a:xfrm>
                <a:off x="1126" y="6817"/>
                <a:ext cx="526" cy="761"/>
              </a:xfrm>
              <a:prstGeom prst="roundRect">
                <a:avLst>
                  <a:gd name="adj" fmla="val 270860"/>
                </a:avLst>
              </a:prstGeom>
              <a:solidFill>
                <a:srgbClr val="00B0F0"/>
              </a:solidFill>
            </p:spPr>
            <p:txBody>
              <a:bodyPr wrap="square" lIns="76200" tIns="76200" rIns="76200" bIns="76200" rtlCol="0" anchor="t">
                <a:noAutofit/>
              </a:bodyPr>
              <a:lstStyle/>
              <a:p>
                <a:pPr marL="0" indent="0" algn="ctr">
                  <a:lnSpc>
                    <a:spcPct val="100000"/>
                  </a:lnSpc>
                  <a:buNone/>
                </a:pPr>
                <a:endParaRPr lang="en-US" sz="1600" b="1" dirty="0">
                  <a:solidFill>
                    <a:srgbClr val="FFFFFF"/>
                  </a:solidFill>
                  <a:latin typeface="Georgia Pro Cond Light" panose="02040306050405020303" charset="0"/>
                  <a:ea typeface="SimSun" panose="02010600030101010101" pitchFamily="2" charset="-122"/>
                  <a:cs typeface="Georgia Pro Cond Light" panose="02040306050405020303" charset="0"/>
                </a:endParaRPr>
              </a:p>
            </p:txBody>
          </p:sp>
          <p:sp>
            <p:nvSpPr>
              <p:cNvPr id="29" name="Sun 28"/>
              <p:cNvSpPr/>
              <p:nvPr/>
            </p:nvSpPr>
            <p:spPr>
              <a:xfrm>
                <a:off x="1202" y="7011"/>
                <a:ext cx="381" cy="348"/>
              </a:xfrm>
              <a:prstGeom prst="sun">
                <a:avLst/>
              </a:prstGeom>
              <a:no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grpSp>
        <p:grpSp>
          <p:nvGrpSpPr>
            <p:cNvPr id="30" name="Group 29"/>
            <p:cNvGrpSpPr/>
            <p:nvPr/>
          </p:nvGrpSpPr>
          <p:grpSpPr>
            <a:xfrm>
              <a:off x="1145" y="2942"/>
              <a:ext cx="526" cy="760"/>
              <a:chOff x="1126" y="6817"/>
              <a:chExt cx="526" cy="760"/>
            </a:xfrm>
          </p:grpSpPr>
          <p:sp>
            <p:nvSpPr>
              <p:cNvPr id="31" name="Text 5"/>
              <p:cNvSpPr/>
              <p:nvPr/>
            </p:nvSpPr>
            <p:spPr>
              <a:xfrm>
                <a:off x="1126" y="6817"/>
                <a:ext cx="526" cy="761"/>
              </a:xfrm>
              <a:prstGeom prst="roundRect">
                <a:avLst>
                  <a:gd name="adj" fmla="val 270860"/>
                </a:avLst>
              </a:prstGeom>
              <a:solidFill>
                <a:srgbClr val="FF0000"/>
              </a:solidFill>
            </p:spPr>
            <p:txBody>
              <a:bodyPr wrap="square" lIns="76200" tIns="76200" rIns="76200" bIns="76200" rtlCol="0" anchor="t">
                <a:noAutofit/>
              </a:bodyPr>
              <a:lstStyle/>
              <a:p>
                <a:pPr marL="0" indent="0" algn="ctr">
                  <a:lnSpc>
                    <a:spcPct val="100000"/>
                  </a:lnSpc>
                  <a:buNone/>
                </a:pPr>
                <a:endParaRPr lang="en-US" sz="1600" b="1" dirty="0">
                  <a:solidFill>
                    <a:srgbClr val="FFFFFF"/>
                  </a:solidFill>
                  <a:latin typeface="Georgia Pro Cond Light" panose="02040306050405020303" charset="0"/>
                  <a:ea typeface="SimSun" panose="02010600030101010101" pitchFamily="2" charset="-122"/>
                  <a:cs typeface="Georgia Pro Cond Light" panose="02040306050405020303" charset="0"/>
                </a:endParaRPr>
              </a:p>
            </p:txBody>
          </p:sp>
          <p:sp>
            <p:nvSpPr>
              <p:cNvPr id="32" name="Sun 31"/>
              <p:cNvSpPr/>
              <p:nvPr/>
            </p:nvSpPr>
            <p:spPr>
              <a:xfrm>
                <a:off x="1202" y="7011"/>
                <a:ext cx="381" cy="348"/>
              </a:xfrm>
              <a:prstGeom prst="sun">
                <a:avLst/>
              </a:prstGeom>
              <a:no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grpSp>
      </p:grpSp>
      <p:sp>
        <p:nvSpPr>
          <p:cNvPr id="36" name="Text 7"/>
          <p:cNvSpPr/>
          <p:nvPr/>
        </p:nvSpPr>
        <p:spPr>
          <a:xfrm>
            <a:off x="6116955" y="2337435"/>
            <a:ext cx="306705" cy="366395"/>
          </a:xfrm>
          <a:prstGeom prst="roundRect">
            <a:avLst>
              <a:gd name="adj" fmla="val 2000000"/>
            </a:avLst>
          </a:prstGeom>
          <a:solidFill>
            <a:schemeClr val="accent4">
              <a:lumMod val="40000"/>
              <a:lumOff val="60000"/>
              <a:alpha val="23000"/>
            </a:schemeClr>
          </a:solidFill>
        </p:spPr>
        <p:txBody>
          <a:bodyPr wrap="square" lIns="0" tIns="0" rIns="0" bIns="0" rtlCol="0" anchor="ctr">
            <a:normAutofit/>
          </a:bodyPr>
          <a:lstStyle/>
          <a:p>
            <a:pPr marL="0" indent="0" algn="ctr">
              <a:buNone/>
            </a:pPr>
            <a:r>
              <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rPr>
              <a:t>1</a:t>
            </a:r>
            <a:endPar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39" name="Text 8"/>
          <p:cNvSpPr/>
          <p:nvPr/>
        </p:nvSpPr>
        <p:spPr>
          <a:xfrm>
            <a:off x="6116955" y="3031490"/>
            <a:ext cx="306705" cy="366395"/>
          </a:xfrm>
          <a:prstGeom prst="roundRect">
            <a:avLst>
              <a:gd name="adj" fmla="val 2000000"/>
            </a:avLst>
          </a:prstGeom>
          <a:solidFill>
            <a:schemeClr val="accent2">
              <a:lumMod val="75000"/>
              <a:alpha val="34000"/>
            </a:schemeClr>
          </a:solidFill>
        </p:spPr>
        <p:txBody>
          <a:bodyPr wrap="square" lIns="0" tIns="0" rIns="0" bIns="0" rtlCol="0" anchor="ctr">
            <a:normAutofit/>
          </a:bodyPr>
          <a:lstStyle/>
          <a:p>
            <a:pPr marL="0" indent="0" algn="ctr">
              <a:buNone/>
            </a:pPr>
            <a:r>
              <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rPr>
              <a:t>2</a:t>
            </a:r>
            <a:endPar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40" name="Text 9"/>
          <p:cNvSpPr/>
          <p:nvPr/>
        </p:nvSpPr>
        <p:spPr>
          <a:xfrm>
            <a:off x="6117590" y="3729990"/>
            <a:ext cx="306705" cy="366395"/>
          </a:xfrm>
          <a:prstGeom prst="roundRect">
            <a:avLst>
              <a:gd name="adj" fmla="val 2000000"/>
            </a:avLst>
          </a:prstGeom>
          <a:solidFill>
            <a:srgbClr val="0891B2">
              <a:alpha val="10000"/>
            </a:srgbClr>
          </a:solidFill>
        </p:spPr>
        <p:txBody>
          <a:bodyPr wrap="square" lIns="0" tIns="0" rIns="0" bIns="0" rtlCol="0" anchor="ctr">
            <a:normAutofit/>
          </a:bodyPr>
          <a:lstStyle/>
          <a:p>
            <a:pPr marL="0" indent="0" algn="ctr">
              <a:buNone/>
            </a:pPr>
            <a:r>
              <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rPr>
              <a:t>3</a:t>
            </a:r>
            <a:endParaRPr lang="en-US" sz="14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42" name="Text 23"/>
          <p:cNvSpPr/>
          <p:nvPr/>
        </p:nvSpPr>
        <p:spPr>
          <a:xfrm>
            <a:off x="6557010" y="2349500"/>
            <a:ext cx="4399280" cy="586740"/>
          </a:xfrm>
          <a:prstGeom prst="rect">
            <a:avLst/>
          </a:prstGeom>
          <a:noFill/>
        </p:spPr>
        <p:txBody>
          <a:bodyPr wrap="square" lIns="0" tIns="0" rIns="0" bIns="0" rtlCol="0" anchor="t"/>
          <a:lstStyle/>
          <a:p>
            <a:pPr marL="0" indent="0">
              <a:lnSpc>
                <a:spcPts val="1440"/>
              </a:lnSpc>
              <a:buNone/>
            </a:pPr>
            <a:r>
              <a:rPr lang="en-US" sz="1400" b="1" dirty="0">
                <a:solidFill>
                  <a:srgbClr val="334155"/>
                </a:solidFill>
                <a:latin typeface="Georgia Pro Cond Light" panose="02040306050405020303" charset="0"/>
                <a:ea typeface="SimSun" panose="02010600030101010101" pitchFamily="2" charset="-122"/>
                <a:cs typeface="Georgia Pro Cond Light" panose="02040306050405020303" charset="0"/>
              </a:rPr>
              <a:t>Outlier Capping</a:t>
            </a: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 — clip at 1st–99th percentile to remove extreme values</a:t>
            </a:r>
            <a:endParaRPr lang="en-US" sz="1400" dirty="0">
              <a:latin typeface="Georgia Pro Cond Light" panose="02040306050405020303" charset="0"/>
              <a:cs typeface="Georgia Pro Cond Light" panose="02040306050405020303" charset="0"/>
            </a:endParaRPr>
          </a:p>
        </p:txBody>
      </p:sp>
      <p:sp>
        <p:nvSpPr>
          <p:cNvPr id="43" name="Text 24"/>
          <p:cNvSpPr/>
          <p:nvPr/>
        </p:nvSpPr>
        <p:spPr>
          <a:xfrm>
            <a:off x="6557010" y="3043555"/>
            <a:ext cx="4399280" cy="586740"/>
          </a:xfrm>
          <a:prstGeom prst="rect">
            <a:avLst/>
          </a:prstGeom>
          <a:noFill/>
        </p:spPr>
        <p:txBody>
          <a:bodyPr wrap="square" lIns="0" tIns="0" rIns="0" bIns="0" rtlCol="0" anchor="t"/>
          <a:lstStyle/>
          <a:p>
            <a:pPr marL="0" indent="0">
              <a:lnSpc>
                <a:spcPts val="1440"/>
              </a:lnSpc>
              <a:buNone/>
            </a:pPr>
            <a:r>
              <a:rPr lang="en-US" sz="1400" b="1" dirty="0">
                <a:solidFill>
                  <a:srgbClr val="334155"/>
                </a:solidFill>
                <a:latin typeface="Georgia Pro Cond Light" panose="02040306050405020303" charset="0"/>
                <a:ea typeface="SimSun" panose="02010600030101010101" pitchFamily="2" charset="-122"/>
                <a:cs typeface="Georgia Pro Cond Light" panose="02040306050405020303" charset="0"/>
              </a:rPr>
              <a:t>Yeo-Johnson Transform</a:t>
            </a: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 — normalize skewed distributions (handles zeros &amp; negatives)</a:t>
            </a:r>
            <a:endParaRPr lang="en-US" sz="1400" dirty="0">
              <a:latin typeface="Georgia Pro Cond Light" panose="02040306050405020303" charset="0"/>
              <a:cs typeface="Georgia Pro Cond Light" panose="02040306050405020303" charset="0"/>
            </a:endParaRPr>
          </a:p>
        </p:txBody>
      </p:sp>
      <p:sp>
        <p:nvSpPr>
          <p:cNvPr id="44" name="Text 25"/>
          <p:cNvSpPr/>
          <p:nvPr/>
        </p:nvSpPr>
        <p:spPr>
          <a:xfrm>
            <a:off x="6557010" y="3736975"/>
            <a:ext cx="4399280" cy="586740"/>
          </a:xfrm>
          <a:prstGeom prst="rect">
            <a:avLst/>
          </a:prstGeom>
          <a:noFill/>
        </p:spPr>
        <p:txBody>
          <a:bodyPr wrap="square" lIns="0" tIns="0" rIns="0" bIns="0" rtlCol="0" anchor="t"/>
          <a:lstStyle/>
          <a:p>
            <a:pPr marL="0" indent="0">
              <a:lnSpc>
                <a:spcPts val="1440"/>
              </a:lnSpc>
              <a:buNone/>
            </a:pPr>
            <a:r>
              <a:rPr lang="en-US" sz="1400" b="1" dirty="0">
                <a:solidFill>
                  <a:srgbClr val="334155"/>
                </a:solidFill>
                <a:latin typeface="Georgia Pro Cond Light" panose="02040306050405020303" charset="0"/>
                <a:ea typeface="SimSun" panose="02010600030101010101" pitchFamily="2" charset="-122"/>
                <a:cs typeface="Georgia Pro Cond Light" panose="02040306050405020303" charset="0"/>
              </a:rPr>
              <a:t>Robust Scaling</a:t>
            </a:r>
            <a:r>
              <a:rPr lang="en-US" sz="1400" dirty="0">
                <a:solidFill>
                  <a:srgbClr val="334155"/>
                </a:solidFill>
                <a:latin typeface="Georgia Pro Cond Light" panose="02040306050405020303" charset="0"/>
                <a:ea typeface="SimSun" panose="02010600030101010101" pitchFamily="2" charset="-122"/>
                <a:cs typeface="Georgia Pro Cond Light" panose="02040306050405020303" charset="0"/>
              </a:rPr>
              <a:t> — scale using median &amp; IQR, immune to residual outliers</a:t>
            </a:r>
            <a:endParaRPr lang="en-US" sz="1400" dirty="0">
              <a:latin typeface="Georgia Pro Cond Light" panose="02040306050405020303" charset="0"/>
              <a:cs typeface="Georgia Pro Cond Light" panose="02040306050405020303" charset="0"/>
            </a:endParaRPr>
          </a:p>
        </p:txBody>
      </p:sp>
      <p:sp>
        <p:nvSpPr>
          <p:cNvPr id="45" name="Text Box 44"/>
          <p:cNvSpPr txBox="1"/>
          <p:nvPr/>
        </p:nvSpPr>
        <p:spPr>
          <a:xfrm>
            <a:off x="6117590" y="1804035"/>
            <a:ext cx="4064000" cy="438150"/>
          </a:xfrm>
          <a:prstGeom prst="rect">
            <a:avLst/>
          </a:prstGeom>
          <a:noFill/>
        </p:spPr>
        <p:txBody>
          <a:bodyPr wrap="square" rtlCol="0">
            <a:noAutofit/>
          </a:bodyPr>
          <a:p>
            <a:r>
              <a:rPr lang="en-US" dirty="0">
                <a:solidFill>
                  <a:srgbClr val="C00000"/>
                </a:solidFill>
                <a:latin typeface="Georgia Pro Cond" panose="02040506050405020303" charset="0"/>
                <a:ea typeface="SimSun" panose="02010600030101010101" pitchFamily="2" charset="-122"/>
                <a:cs typeface="Georgia Pro Cond" panose="02040506050405020303" charset="0"/>
                <a:sym typeface="+mn-ea"/>
              </a:rPr>
              <a:t>Preprocessing Pipeline</a:t>
            </a:r>
            <a:endParaRPr lang="en-US" dirty="0">
              <a:solidFill>
                <a:srgbClr val="C00000"/>
              </a:solidFill>
              <a:latin typeface="Georgia Pro Cond" panose="02040506050405020303" charset="0"/>
              <a:ea typeface="SimSun" panose="02010600030101010101" pitchFamily="2" charset="-122"/>
              <a:cs typeface="Georgia Pro Cond" panose="02040506050405020303" charset="0"/>
            </a:endParaRPr>
          </a:p>
          <a:p>
            <a:endParaRPr lang="en-GB" altLang="en-US"/>
          </a:p>
        </p:txBody>
      </p:sp>
      <p:sp>
        <p:nvSpPr>
          <p:cNvPr id="53" name="Text Box 52"/>
          <p:cNvSpPr txBox="1"/>
          <p:nvPr/>
        </p:nvSpPr>
        <p:spPr>
          <a:xfrm>
            <a:off x="5610225" y="4472940"/>
            <a:ext cx="5391785" cy="1322070"/>
          </a:xfrm>
          <a:prstGeom prst="rect">
            <a:avLst/>
          </a:prstGeom>
          <a:pattFill prst="pct10">
            <a:fgClr>
              <a:schemeClr val="bg2"/>
            </a:fgClr>
            <a:bgClr>
              <a:schemeClr val="accent4">
                <a:lumMod val="60000"/>
                <a:lumOff val="40000"/>
              </a:schemeClr>
            </a:bgClr>
          </a:pattFill>
          <a:effectLst>
            <a:outerShdw blurRad="50800" dist="38100" dir="5400000" algn="t" rotWithShape="0">
              <a:prstClr val="black">
                <a:alpha val="40000"/>
              </a:prstClr>
            </a:outerShdw>
            <a:softEdge rad="25400"/>
          </a:effectLst>
        </p:spPr>
        <p:txBody>
          <a:bodyPr wrap="square" rtlCol="0" anchor="t">
            <a:spAutoFit/>
          </a:bodyPr>
          <a:p>
            <a:pPr algn="l"/>
            <a:r>
              <a:rPr lang="en-US" altLang="en-GB" sz="1000">
                <a:latin typeface="Cascadia Code" panose="020B0609020000020004" charset="0"/>
                <a:cs typeface="Cascadia Code" panose="020B0609020000020004" charset="0"/>
              </a:rPr>
              <a:t>rfm["Monetary"].clip(upper=rfm["Monetary"].quantile(0.99))</a:t>
            </a:r>
            <a:endParaRPr lang="en-US" altLang="en-GB" sz="1000">
              <a:latin typeface="Cascadia Code" panose="020B0609020000020004" charset="0"/>
              <a:cs typeface="Cascadia Code" panose="020B0609020000020004" charset="0"/>
            </a:endParaRPr>
          </a:p>
          <a:p>
            <a:pPr algn="l"/>
            <a:r>
              <a:rPr lang="en-US" altLang="en-GB" sz="1000">
                <a:latin typeface="Cascadia Code" panose="020B0609020000020004" charset="0"/>
                <a:cs typeface="Cascadia Code" panose="020B0609020000020004" charset="0"/>
              </a:rPr>
              <a:t>rfm["Frequency"].clip(upper=rfm["Frequency"].quantile(0.99))</a:t>
            </a:r>
            <a:endParaRPr lang="en-US" altLang="en-GB" sz="1000">
              <a:latin typeface="Cascadia Code" panose="020B0609020000020004" charset="0"/>
              <a:cs typeface="Cascadia Code" panose="020B0609020000020004" charset="0"/>
            </a:endParaRPr>
          </a:p>
          <a:p>
            <a:pPr algn="l"/>
            <a:r>
              <a:rPr lang="en-US" altLang="en-GB" sz="1000">
                <a:latin typeface="Cascadia Code" panose="020B0609020000020004" charset="0"/>
                <a:cs typeface="Cascadia Code" panose="020B0609020000020004" charset="0"/>
              </a:rPr>
              <a:t>rfm["AvgOrderValue"].clip(upper=rfm["AvgOrderValue"].quantile(0.99))</a:t>
            </a:r>
            <a:endParaRPr lang="en-US" altLang="en-GB" sz="1000">
              <a:latin typeface="Cascadia Code" panose="020B0609020000020004" charset="0"/>
              <a:cs typeface="Cascadia Code" panose="020B0609020000020004" charset="0"/>
            </a:endParaRPr>
          </a:p>
          <a:p>
            <a:pPr algn="l"/>
            <a:endParaRPr lang="en-US" altLang="en-GB" sz="1000">
              <a:latin typeface="Cascadia Code" panose="020B0609020000020004" charset="0"/>
              <a:cs typeface="Cascadia Code" panose="020B0609020000020004" charset="0"/>
            </a:endParaRPr>
          </a:p>
          <a:p>
            <a:pPr algn="l"/>
            <a:r>
              <a:rPr lang="en-US" altLang="en-GB" sz="1000">
                <a:latin typeface="Cascadia Code" panose="020B0609020000020004" charset="0"/>
                <a:cs typeface="Cascadia Code" panose="020B0609020000020004" charset="0"/>
              </a:rPr>
              <a:t>pt = PowerTransformer(method='yeo-johnson')</a:t>
            </a:r>
            <a:endParaRPr lang="en-US" altLang="en-GB" sz="1000">
              <a:latin typeface="Cascadia Code" panose="020B0609020000020004" charset="0"/>
              <a:cs typeface="Cascadia Code" panose="020B0609020000020004" charset="0"/>
            </a:endParaRPr>
          </a:p>
          <a:p>
            <a:pPr algn="l"/>
            <a:r>
              <a:rPr lang="en-US" altLang="en-GB" sz="1000">
                <a:latin typeface="Cascadia Code" panose="020B0609020000020004" charset="0"/>
                <a:cs typeface="Cascadia Code" panose="020B0609020000020004" charset="0"/>
              </a:rPr>
              <a:t>pt.fit_transform(rfm[features])</a:t>
            </a:r>
            <a:endParaRPr lang="en-US" altLang="en-GB" sz="1000">
              <a:latin typeface="Cascadia Code" panose="020B0609020000020004" charset="0"/>
              <a:cs typeface="Cascadia Code" panose="020B0609020000020004" charset="0"/>
            </a:endParaRPr>
          </a:p>
          <a:p>
            <a:pPr algn="l"/>
            <a:endParaRPr lang="en-US" altLang="en-GB" sz="1000">
              <a:latin typeface="Cascadia Code" panose="020B0609020000020004" charset="0"/>
              <a:cs typeface="Cascadia Code" panose="020B0609020000020004" charset="0"/>
            </a:endParaRPr>
          </a:p>
          <a:p>
            <a:pPr algn="l"/>
            <a:r>
              <a:rPr lang="en-US" altLang="en-GB" sz="1000">
                <a:latin typeface="Cascadia Code" panose="020B0609020000020004" charset="0"/>
                <a:cs typeface="Cascadia Code" panose="020B0609020000020004" charset="0"/>
              </a:rPr>
              <a:t>RobustScaler().fit_transform(rfm[features])</a:t>
            </a:r>
            <a:endParaRPr lang="en-US" altLang="en-GB" sz="1000">
              <a:latin typeface="Cascadia Code" panose="020B0609020000020004" charset="0"/>
              <a:cs typeface="Cascadia Code" panose="020B06090200000200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直角三角形 28"/>
          <p:cNvSpPr/>
          <p:nvPr>
            <p:custDataLst>
              <p:tags r:id="rId1"/>
            </p:custDataLst>
          </p:nvPr>
        </p:nvSpPr>
        <p:spPr>
          <a:xfrm flipH="1" flipV="1">
            <a:off x="4542155" y="1866900"/>
            <a:ext cx="173355" cy="222250"/>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latin typeface="Arial" panose="020B0604020202020204" pitchFamily="34" charset="0"/>
              <a:sym typeface="Arial" panose="020B0604020202020204" pitchFamily="34" charset="0"/>
            </a:endParaRPr>
          </a:p>
        </p:txBody>
      </p:sp>
      <p:sp>
        <p:nvSpPr>
          <p:cNvPr id="2" name="Title 1"/>
          <p:cNvSpPr>
            <a:spLocks noGrp="1"/>
          </p:cNvSpPr>
          <p:nvPr>
            <p:ph type="title"/>
          </p:nvPr>
        </p:nvSpPr>
        <p:spPr>
          <a:xfrm>
            <a:off x="678884" y="352841"/>
            <a:ext cx="10834234" cy="612775"/>
          </a:xfrm>
        </p:spPr>
        <p:txBody>
          <a:bodyPr/>
          <a:p>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Customer Segmentation Methodology</a:t>
            </a:r>
            <a:endParaRPr lang="en-GB" altLang="en-US"/>
          </a:p>
        </p:txBody>
      </p:sp>
      <p:sp>
        <p:nvSpPr>
          <p:cNvPr id="5" name="直角三角形 1"/>
          <p:cNvSpPr/>
          <p:nvPr>
            <p:custDataLst>
              <p:tags r:id="rId2"/>
            </p:custDataLst>
          </p:nvPr>
        </p:nvSpPr>
        <p:spPr>
          <a:xfrm flipH="1" flipV="1">
            <a:off x="651510" y="1866900"/>
            <a:ext cx="129540" cy="175895"/>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latin typeface="Arial" panose="020B0604020202020204" pitchFamily="34" charset="0"/>
              <a:sym typeface="Arial" panose="020B0604020202020204" pitchFamily="34" charset="0"/>
            </a:endParaRPr>
          </a:p>
        </p:txBody>
      </p:sp>
      <p:sp>
        <p:nvSpPr>
          <p:cNvPr id="29" name="直角三角形 28"/>
          <p:cNvSpPr/>
          <p:nvPr>
            <p:custDataLst>
              <p:tags r:id="rId3"/>
            </p:custDataLst>
          </p:nvPr>
        </p:nvSpPr>
        <p:spPr>
          <a:xfrm flipH="1" flipV="1">
            <a:off x="8597900" y="1866900"/>
            <a:ext cx="172720" cy="175895"/>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latin typeface="Arial" panose="020B0604020202020204" pitchFamily="34" charset="0"/>
              <a:sym typeface="Arial" panose="020B0604020202020204" pitchFamily="34" charset="0"/>
            </a:endParaRPr>
          </a:p>
        </p:txBody>
      </p:sp>
      <p:sp>
        <p:nvSpPr>
          <p:cNvPr id="8" name="直角三角形 28"/>
          <p:cNvSpPr/>
          <p:nvPr>
            <p:custDataLst>
              <p:tags r:id="rId4"/>
            </p:custDataLst>
          </p:nvPr>
        </p:nvSpPr>
        <p:spPr>
          <a:xfrm flipH="1" flipV="1">
            <a:off x="8253730" y="1874520"/>
            <a:ext cx="172720" cy="175895"/>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a:latin typeface="Arial" panose="020B0604020202020204" pitchFamily="34" charset="0"/>
              <a:sym typeface="Arial" panose="020B0604020202020204" pitchFamily="34" charset="0"/>
            </a:endParaRPr>
          </a:p>
        </p:txBody>
      </p:sp>
      <p:sp>
        <p:nvSpPr>
          <p:cNvPr id="9" name="矩形: 圆角 29"/>
          <p:cNvSpPr/>
          <p:nvPr>
            <p:custDataLst>
              <p:tags r:id="rId5"/>
            </p:custDataLst>
          </p:nvPr>
        </p:nvSpPr>
        <p:spPr>
          <a:xfrm>
            <a:off x="4669790" y="1647190"/>
            <a:ext cx="2898775" cy="2969260"/>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360045" bIns="360045" numCol="1" spcCol="0" rtlCol="0" fromWordArt="0" anchor="ctr" anchorCtr="0" forceAA="0" compatLnSpc="1">
            <a:normAutofit lnSpcReduction="10000"/>
          </a:bodyPr>
          <a:p>
            <a:pPr indent="0">
              <a:lnSpc>
                <a:spcPct val="100000"/>
              </a:lnSpc>
              <a:buSzPct val="100000"/>
              <a:buNone/>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Gaussian mixture distributions</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a:lnSpc>
                <a:spcPct val="100000"/>
              </a:lnSpc>
              <a:buSzPct val="100000"/>
              <a:buNone/>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Log-likelihood risk scoring</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a:lnSpc>
                <a:spcPct val="100000"/>
              </a:lnSpc>
              <a:buSzPct val="100000"/>
              <a:buNone/>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BIC: n=4 components</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a:lnSpc>
                <a:spcPct val="100000"/>
              </a:lnSpc>
              <a:buSzPct val="100000"/>
              <a:buNone/>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Covariance: full matrix</a:t>
            </a:r>
            <a:endParaRPr lang="en-US" sz="1400" kern="0" dirty="0">
              <a:ln>
                <a:noFill/>
                <a:prstDash val="sysDot"/>
              </a:ln>
              <a:solidFill>
                <a:srgbClr val="292929"/>
              </a:solidFill>
              <a:latin typeface="Georgia Pro Cond Light" panose="02040306050405020303" charset="0"/>
              <a:cs typeface="Georgia Pro Cond Light" panose="02040306050405020303" charset="0"/>
              <a:sym typeface="+mn-ea"/>
            </a:endParaRPr>
          </a:p>
        </p:txBody>
      </p:sp>
      <p:sp>
        <p:nvSpPr>
          <p:cNvPr id="10" name="矩形: 单圆角 30"/>
          <p:cNvSpPr/>
          <p:nvPr>
            <p:custDataLst>
              <p:tags r:id="rId6"/>
            </p:custDataLst>
          </p:nvPr>
        </p:nvSpPr>
        <p:spPr>
          <a:xfrm>
            <a:off x="4540885" y="1482725"/>
            <a:ext cx="3033395" cy="391795"/>
          </a:xfrm>
          <a:prstGeom prst="round1Rect">
            <a:avLst/>
          </a:prstGeom>
          <a:solidFill>
            <a:schemeClr val="accent2">
              <a:lumMod val="50000"/>
              <a:alpha val="88000"/>
            </a:schemeClr>
          </a:soli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fontScale="90000"/>
          </a:bodyPr>
          <a:p>
            <a:pPr indent="452755" algn="l"/>
            <a:r>
              <a:rPr lang="en-US" sz="2000" b="1" dirty="0">
                <a:solidFill>
                  <a:schemeClr val="lt1">
                    <a:lumMod val="100000"/>
                  </a:schemeClr>
                </a:solidFill>
                <a:latin typeface="+mj-lt"/>
                <a:sym typeface="+mn-ea"/>
              </a:rPr>
              <a:t>GMM Clusters</a:t>
            </a:r>
            <a:endParaRPr lang="en-US" sz="2000" b="1" dirty="0">
              <a:solidFill>
                <a:schemeClr val="lt1">
                  <a:lumMod val="100000"/>
                </a:schemeClr>
              </a:solidFill>
              <a:latin typeface="+mj-lt"/>
              <a:sym typeface="+mn-ea"/>
            </a:endParaRPr>
          </a:p>
        </p:txBody>
      </p:sp>
      <p:sp>
        <p:nvSpPr>
          <p:cNvPr id="30" name="矩形: 圆角 29"/>
          <p:cNvSpPr/>
          <p:nvPr>
            <p:custDataLst>
              <p:tags r:id="rId7"/>
            </p:custDataLst>
          </p:nvPr>
        </p:nvSpPr>
        <p:spPr>
          <a:xfrm>
            <a:off x="8380730" y="1675765"/>
            <a:ext cx="2913380" cy="2940050"/>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360045" bIns="360045" numCol="1" spcCol="0" rtlCol="0" fromWordArt="0" anchor="ctr" anchorCtr="0" forceAA="0" compatLnSpc="1">
            <a:normAutofit/>
          </a:bodyPr>
          <a:p>
            <a:pPr indent="0" rtl="0" eaLnBrk="1" hangingPunct="1">
              <a:lnSpc>
                <a:spcPct val="150000"/>
              </a:lnSpc>
              <a:spcBef>
                <a:spcPts val="0"/>
              </a:spcBef>
              <a:spcAft>
                <a:spcPts val="0"/>
              </a:spcAft>
              <a:buNone/>
            </a:pP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VIP </a:t>
            </a:r>
            <a:r>
              <a:rPr lang="en-US" altLang="en-US" sz="16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b="1" kern="0" dirty="0">
                <a:ln>
                  <a:noFill/>
                  <a:prstDash val="sysDot"/>
                </a:ln>
                <a:solidFill>
                  <a:srgbClr val="FF0000"/>
                </a:solidFill>
                <a:latin typeface="Georgia Pro Cond" panose="02040506050405020303" charset="0"/>
                <a:cs typeface="Georgia Pro Cond" panose="02040506050405020303" charset="0"/>
                <a:sym typeface="+mn-ea"/>
              </a:rPr>
              <a:t>↓ </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R, </a:t>
            </a:r>
            <a:r>
              <a:rPr lang="en-US" sz="1600" b="1" kern="0" dirty="0">
                <a:ln>
                  <a:noFill/>
                  <a:prstDash val="sysDot"/>
                </a:ln>
                <a:solidFill>
                  <a:schemeClr val="accent6"/>
                </a:solidFill>
                <a:latin typeface="Georgia Pro Cond" panose="02040506050405020303" charset="0"/>
                <a:cs typeface="Georgia Pro Cond" panose="02040506050405020303" charset="0"/>
                <a:sym typeface="+mn-ea"/>
              </a:rPr>
              <a:t>↑ </a:t>
            </a:r>
            <a:r>
              <a:rPr lang="en-US" sz="1600" kern="0" dirty="0">
                <a:ln>
                  <a:noFill/>
                  <a:prstDash val="sysDot"/>
                </a:ln>
                <a:solidFill>
                  <a:schemeClr val="tx1"/>
                </a:solidFill>
                <a:latin typeface="Georgia Pro Cond" panose="02040506050405020303" charset="0"/>
                <a:cs typeface="Georgia Pro Cond" panose="02040506050405020303" charset="0"/>
                <a:sym typeface="+mn-ea"/>
              </a:rPr>
              <a:t>(</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F + M)</a:t>
            </a:r>
            <a:endParaRPr lang="en-US" sz="16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rtl="0" eaLnBrk="1" hangingPunct="1">
              <a:lnSpc>
                <a:spcPct val="150000"/>
              </a:lnSpc>
              <a:spcBef>
                <a:spcPts val="0"/>
              </a:spcBef>
              <a:spcAft>
                <a:spcPts val="0"/>
              </a:spcAft>
              <a:buNone/>
            </a:pP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At Risk </a:t>
            </a:r>
            <a:r>
              <a:rPr lang="en-US" altLang="en-US" sz="16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b="1" kern="0" dirty="0">
                <a:ln>
                  <a:noFill/>
                  <a:prstDash val="sysDot"/>
                </a:ln>
                <a:solidFill>
                  <a:schemeClr val="accent6"/>
                </a:solidFill>
                <a:latin typeface="Georgia Pro Cond" panose="02040506050405020303" charset="0"/>
                <a:cs typeface="Georgia Pro Cond" panose="02040506050405020303" charset="0"/>
                <a:sym typeface="+mn-ea"/>
              </a:rPr>
              <a:t>↑ </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R, </a:t>
            </a:r>
            <a:r>
              <a:rPr lang="en-US" sz="1600" b="1" kern="0" dirty="0">
                <a:ln>
                  <a:noFill/>
                  <a:prstDash val="sysDot"/>
                </a:ln>
                <a:solidFill>
                  <a:srgbClr val="FF0000"/>
                </a:solidFill>
                <a:latin typeface="Georgia Pro Cond" panose="02040506050405020303" charset="0"/>
                <a:cs typeface="Georgia Pro Cond" panose="02040506050405020303" charset="0"/>
                <a:sym typeface="+mn-ea"/>
              </a:rPr>
              <a:t>↓ </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F</a:t>
            </a:r>
            <a:endParaRPr lang="en-US" sz="16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rtl="0" eaLnBrk="1" hangingPunct="1">
              <a:lnSpc>
                <a:spcPct val="150000"/>
              </a:lnSpc>
              <a:spcBef>
                <a:spcPts val="0"/>
              </a:spcBef>
              <a:spcAft>
                <a:spcPts val="0"/>
              </a:spcAft>
              <a:buNone/>
            </a:pP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Potential </a:t>
            </a:r>
            <a:r>
              <a:rPr lang="en-US" altLang="en-US" sz="16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b="1" kern="0" dirty="0">
                <a:ln>
                  <a:noFill/>
                  <a:prstDash val="sysDot"/>
                </a:ln>
                <a:solidFill>
                  <a:schemeClr val="accent4"/>
                </a:solidFill>
                <a:latin typeface="Georgia Pro Cond" panose="02040506050405020303" charset="0"/>
                <a:cs typeface="Georgia Pro Cond" panose="02040506050405020303" charset="0"/>
                <a:sym typeface="+mn-ea"/>
              </a:rPr>
              <a:t>— </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R, </a:t>
            </a:r>
            <a:r>
              <a:rPr lang="en-US" sz="1600" b="1" kern="0" dirty="0">
                <a:ln>
                  <a:noFill/>
                  <a:prstDash val="sysDot"/>
                </a:ln>
                <a:solidFill>
                  <a:schemeClr val="accent6"/>
                </a:solidFill>
                <a:latin typeface="Georgia Pro Cond Light" panose="02040306050405020303" charset="0"/>
                <a:cs typeface="Georgia Pro Cond Light" panose="02040306050405020303" charset="0"/>
                <a:sym typeface="+mn-ea"/>
              </a:rPr>
              <a:t>↗</a:t>
            </a:r>
            <a:r>
              <a:rPr lang="en-US" sz="1600" b="1"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F</a:t>
            </a:r>
            <a:endParaRPr lang="en-US" sz="1600" kern="0" dirty="0">
              <a:ln>
                <a:noFill/>
                <a:prstDash val="sysDot"/>
              </a:ln>
              <a:solidFill>
                <a:srgbClr val="292929"/>
              </a:solidFill>
              <a:latin typeface="Georgia Pro Cond Light" panose="02040306050405020303" charset="0"/>
              <a:cs typeface="Georgia Pro Cond Light" panose="02040306050405020303" charset="0"/>
              <a:sym typeface="+mn-ea"/>
            </a:endParaRPr>
          </a:p>
          <a:p>
            <a:pPr indent="0" rtl="0" eaLnBrk="1" hangingPunct="1">
              <a:lnSpc>
                <a:spcPct val="150000"/>
              </a:lnSpc>
              <a:spcBef>
                <a:spcPts val="0"/>
              </a:spcBef>
              <a:spcAft>
                <a:spcPts val="0"/>
              </a:spcAft>
              <a:buNone/>
            </a:pP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Churned </a:t>
            </a:r>
            <a:r>
              <a:rPr lang="en-US" altLang="en-US" sz="16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600" kern="0" dirty="0">
                <a:ln>
                  <a:noFill/>
                  <a:prstDash val="sysDot"/>
                </a:ln>
                <a:solidFill>
                  <a:srgbClr val="292929"/>
                </a:solidFill>
                <a:latin typeface="Georgia Pro Cond Light" panose="02040306050405020303" charset="0"/>
                <a:cs typeface="Georgia Pro Cond Light" panose="02040306050405020303" charset="0"/>
                <a:sym typeface="+mn-ea"/>
              </a:rPr>
              <a:t> </a:t>
            </a:r>
            <a:r>
              <a:rPr lang="en-US" sz="1600" b="1" kern="0" dirty="0">
                <a:ln>
                  <a:noFill/>
                  <a:prstDash val="sysDot"/>
                </a:ln>
                <a:solidFill>
                  <a:schemeClr val="accent6"/>
                </a:solidFill>
                <a:latin typeface="Georgia Pro Cond" panose="02040506050405020303" charset="0"/>
                <a:cs typeface="Georgia Pro Cond" panose="02040506050405020303" charset="0"/>
                <a:sym typeface="+mn-ea"/>
              </a:rPr>
              <a:t>↑ ↑ </a:t>
            </a:r>
            <a:r>
              <a:rPr lang="en-US" sz="1600" kern="0" dirty="0">
                <a:ln>
                  <a:noFill/>
                  <a:prstDash val="sysDot"/>
                </a:ln>
                <a:solidFill>
                  <a:srgbClr val="292929"/>
                </a:solidFill>
                <a:latin typeface="Georgia Pro Cond Light" panose="02040306050405020303" charset="0"/>
                <a:cs typeface="Georgia Pro Cond Light" panose="02040306050405020303" charset="0"/>
                <a:sym typeface="+mn-ea"/>
              </a:rPr>
              <a:t>R</a:t>
            </a:r>
            <a:endParaRPr lang="en-US" sz="1600" kern="0" dirty="0">
              <a:ln>
                <a:noFill/>
                <a:prstDash val="sysDot"/>
              </a:ln>
              <a:solidFill>
                <a:srgbClr val="292929"/>
              </a:solidFill>
              <a:latin typeface="Georgia Pro Cond Light" panose="02040306050405020303" charset="0"/>
              <a:cs typeface="Georgia Pro Cond Light" panose="02040306050405020303" charset="0"/>
              <a:sym typeface="+mn-ea"/>
            </a:endParaRPr>
          </a:p>
        </p:txBody>
      </p:sp>
      <p:sp>
        <p:nvSpPr>
          <p:cNvPr id="12" name="矩形: 圆角 29"/>
          <p:cNvSpPr/>
          <p:nvPr>
            <p:custDataLst>
              <p:tags r:id="rId8"/>
            </p:custDataLst>
          </p:nvPr>
        </p:nvSpPr>
        <p:spPr>
          <a:xfrm>
            <a:off x="771525" y="1666240"/>
            <a:ext cx="3089275" cy="2949575"/>
          </a:xfrm>
          <a:prstGeom prst="roundRect">
            <a:avLst>
              <a:gd name="adj" fmla="val 8073"/>
            </a:avLst>
          </a:prstGeom>
          <a:solidFill>
            <a:srgbClr val="FFFFFF"/>
          </a:solidFill>
          <a:ln>
            <a:solidFill>
              <a:schemeClr val="accent1">
                <a:lumMod val="20000"/>
                <a:lumOff val="80000"/>
              </a:schemeClr>
            </a:solid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360045" bIns="360045" numCol="1" spcCol="0" rtlCol="0" fromWordArt="0" anchor="ctr" anchorCtr="0" forceAA="0" compatLnSpc="1"/>
          <a:p>
            <a:pPr marL="0" algn="l" rtl="0" eaLnBrk="1" hangingPunct="1">
              <a:lnSpc>
                <a:spcPct val="100000"/>
              </a:lnSpc>
              <a:spcBef>
                <a:spcPts val="0"/>
              </a:spcBef>
              <a:spcAft>
                <a:spcPts val="0"/>
              </a:spcAft>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Minimizes intra-cluster variance</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marL="0" algn="l" rtl="0" eaLnBrk="1" hangingPunct="1">
              <a:lnSpc>
                <a:spcPct val="100000"/>
              </a:lnSpc>
              <a:spcBef>
                <a:spcPts val="0"/>
              </a:spcBef>
              <a:spcAft>
                <a:spcPts val="0"/>
              </a:spcAft>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Euclidean distance metric</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marL="0" algn="l" rtl="0" eaLnBrk="1" hangingPunct="1">
              <a:lnSpc>
                <a:spcPct val="100000"/>
              </a:lnSpc>
              <a:spcBef>
                <a:spcPts val="0"/>
              </a:spcBef>
              <a:spcAft>
                <a:spcPts val="0"/>
              </a:spcAft>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Elbow method: k=4 optimal</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a:p>
            <a:pPr marL="0" algn="l" rtl="0" eaLnBrk="1" hangingPunct="1">
              <a:lnSpc>
                <a:spcPct val="100000"/>
              </a:lnSpc>
              <a:spcBef>
                <a:spcPts val="0"/>
              </a:spcBef>
              <a:spcAft>
                <a:spcPts val="0"/>
              </a:spcAft>
            </a:pPr>
            <a:r>
              <a:rPr lang="en-US" altLang="en-US" sz="1400" kern="0" dirty="0">
                <a:ln>
                  <a:noFill/>
                  <a:prstDash val="sysDot"/>
                </a:ln>
                <a:solidFill>
                  <a:srgbClr val="292929"/>
                </a:solidFill>
                <a:latin typeface="Georgia Pro Cond Light" panose="02040306050405020303" charset="0"/>
                <a:cs typeface="Georgia Pro Cond Light" panose="02040306050405020303" charset="0"/>
                <a:sym typeface="+mn-ea"/>
              </a:rPr>
              <a:t>→</a:t>
            </a:r>
            <a:r>
              <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rPr>
              <a:t> Silhouette Score: 0.49</a:t>
            </a:r>
            <a:endParaRPr lang="en-US" altLang="en-GB" sz="1400" kern="0" dirty="0">
              <a:ln>
                <a:noFill/>
                <a:prstDash val="sysDot"/>
              </a:ln>
              <a:solidFill>
                <a:srgbClr val="292929"/>
              </a:solidFill>
              <a:latin typeface="Georgia Pro Cond Light" panose="02040306050405020303" charset="0"/>
              <a:cs typeface="Georgia Pro Cond Light" panose="02040306050405020303" charset="0"/>
              <a:sym typeface="+mn-ea"/>
            </a:endParaRPr>
          </a:p>
        </p:txBody>
      </p:sp>
      <p:sp>
        <p:nvSpPr>
          <p:cNvPr id="13" name="矩形: 单圆角 30"/>
          <p:cNvSpPr/>
          <p:nvPr>
            <p:custDataLst>
              <p:tags r:id="rId9"/>
            </p:custDataLst>
          </p:nvPr>
        </p:nvSpPr>
        <p:spPr>
          <a:xfrm>
            <a:off x="654050" y="1482725"/>
            <a:ext cx="3207385" cy="391795"/>
          </a:xfrm>
          <a:prstGeom prst="round1Rect">
            <a:avLst/>
          </a:prstGeom>
          <a:solidFill>
            <a:schemeClr val="accent2">
              <a:lumMod val="50000"/>
              <a:alpha val="88000"/>
            </a:schemeClr>
          </a:soli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fontScale="90000"/>
          </a:bodyPr>
          <a:p>
            <a:pPr indent="452755" algn="l"/>
            <a:r>
              <a:rPr lang="en-US" sz="2000" b="1" dirty="0">
                <a:solidFill>
                  <a:schemeClr val="lt1">
                    <a:lumMod val="100000"/>
                  </a:schemeClr>
                </a:solidFill>
                <a:latin typeface="+mj-lt"/>
                <a:sym typeface="+mn-ea"/>
              </a:rPr>
              <a:t>K-Means Clustering</a:t>
            </a:r>
            <a:endParaRPr lang="en-US" sz="2000" b="1" dirty="0">
              <a:solidFill>
                <a:schemeClr val="lt1">
                  <a:lumMod val="100000"/>
                </a:schemeClr>
              </a:solidFill>
              <a:latin typeface="+mj-lt"/>
              <a:sym typeface="+mn-ea"/>
            </a:endParaRPr>
          </a:p>
        </p:txBody>
      </p:sp>
      <p:sp>
        <p:nvSpPr>
          <p:cNvPr id="31" name="矩形: 单圆角 30"/>
          <p:cNvSpPr/>
          <p:nvPr>
            <p:custDataLst>
              <p:tags r:id="rId10"/>
            </p:custDataLst>
          </p:nvPr>
        </p:nvSpPr>
        <p:spPr>
          <a:xfrm>
            <a:off x="8253730" y="1482725"/>
            <a:ext cx="3039745" cy="391795"/>
          </a:xfrm>
          <a:prstGeom prst="round1Rect">
            <a:avLst/>
          </a:prstGeom>
          <a:solidFill>
            <a:schemeClr val="accent2">
              <a:lumMod val="50000"/>
              <a:alpha val="88000"/>
            </a:schemeClr>
          </a:solidFill>
          <a:ln>
            <a:noFill/>
          </a:ln>
          <a:effectLst>
            <a:outerShdw blurRad="203200" dist="76200" dir="8100000" algn="tr" rotWithShape="0">
              <a:schemeClr val="accent1">
                <a:lumMod val="75000"/>
                <a:alpha val="20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rmAutofit fontScale="90000"/>
          </a:bodyPr>
          <a:p>
            <a:pPr indent="452755"/>
            <a:r>
              <a:rPr lang="en-US" sz="2000" b="1" dirty="0">
                <a:solidFill>
                  <a:schemeClr val="lt1">
                    <a:lumMod val="100000"/>
                  </a:schemeClr>
                </a:solidFill>
                <a:latin typeface="+mj-lt"/>
                <a:sym typeface="+mn-ea"/>
              </a:rPr>
              <a:t>Labelling</a:t>
            </a:r>
            <a:endParaRPr lang="en-US" sz="2000" b="1" dirty="0">
              <a:solidFill>
                <a:schemeClr val="lt1">
                  <a:lumMod val="100000"/>
                </a:schemeClr>
              </a:solidFill>
              <a:latin typeface="+mj-lt"/>
              <a:sym typeface="+mn-ea"/>
            </a:endParaRPr>
          </a:p>
        </p:txBody>
      </p:sp>
      <p:sp>
        <p:nvSpPr>
          <p:cNvPr id="17" name="Rectangles 16"/>
          <p:cNvSpPr/>
          <p:nvPr/>
        </p:nvSpPr>
        <p:spPr>
          <a:xfrm>
            <a:off x="901065" y="1859280"/>
            <a:ext cx="2763520" cy="213360"/>
          </a:xfrm>
          <a:prstGeom prst="rect">
            <a:avLst/>
          </a:prstGeom>
          <a:solidFill>
            <a:schemeClr val="bg2">
              <a:lumMod val="50000"/>
              <a:alpha val="7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en-GB" sz="1200"/>
              <a:t>Hard Assignment</a:t>
            </a:r>
            <a:endParaRPr lang="en-US" altLang="en-GB" sz="1200"/>
          </a:p>
        </p:txBody>
      </p:sp>
      <p:sp>
        <p:nvSpPr>
          <p:cNvPr id="18" name="Rectangles 17"/>
          <p:cNvSpPr/>
          <p:nvPr/>
        </p:nvSpPr>
        <p:spPr>
          <a:xfrm>
            <a:off x="8445500" y="1875790"/>
            <a:ext cx="2763520" cy="213360"/>
          </a:xfrm>
          <a:prstGeom prst="rect">
            <a:avLst/>
          </a:prstGeom>
          <a:solidFill>
            <a:schemeClr val="bg2">
              <a:lumMod val="50000"/>
              <a:alpha val="7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en-GB" sz="1200"/>
              <a:t>RFM-Based Rules</a:t>
            </a:r>
            <a:endParaRPr lang="en-US" altLang="en-GB" sz="1200"/>
          </a:p>
        </p:txBody>
      </p:sp>
      <p:sp>
        <p:nvSpPr>
          <p:cNvPr id="19" name="Rectangles 18"/>
          <p:cNvSpPr/>
          <p:nvPr/>
        </p:nvSpPr>
        <p:spPr>
          <a:xfrm>
            <a:off x="4725670" y="1875790"/>
            <a:ext cx="2763520" cy="213360"/>
          </a:xfrm>
          <a:prstGeom prst="rect">
            <a:avLst/>
          </a:prstGeom>
          <a:solidFill>
            <a:schemeClr val="bg2">
              <a:lumMod val="50000"/>
              <a:alpha val="7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en-GB" sz="1200"/>
              <a:t>Soft Probabilistic</a:t>
            </a:r>
            <a:endParaRPr lang="en-US" altLang="en-GB" sz="1200"/>
          </a:p>
        </p:txBody>
      </p:sp>
      <p:sp>
        <p:nvSpPr>
          <p:cNvPr id="44" name="Text Box 43"/>
          <p:cNvSpPr txBox="1"/>
          <p:nvPr/>
        </p:nvSpPr>
        <p:spPr>
          <a:xfrm>
            <a:off x="678815" y="965835"/>
            <a:ext cx="10614660" cy="317500"/>
          </a:xfrm>
          <a:prstGeom prst="rect">
            <a:avLst/>
          </a:prstGeom>
          <a:noFill/>
        </p:spPr>
        <p:txBody>
          <a:bodyPr wrap="square" rtlCol="0">
            <a:noAutofit/>
          </a:bodyPr>
          <a:p>
            <a:r>
              <a:rPr lang="en-US" dirty="0">
                <a:solidFill>
                  <a:srgbClr val="64748B"/>
                </a:solidFill>
                <a:latin typeface="Georgia Pro Cond Light" panose="02040306050405020303" charset="0"/>
                <a:ea typeface="SimSun" panose="02010600030101010101" pitchFamily="2" charset="-122"/>
                <a:cs typeface="Georgia Pro Cond Light" panose="02040306050405020303" charset="0"/>
                <a:sym typeface="+mn-ea"/>
              </a:rPr>
              <a:t>Dual-algorithm approach: KMeans for crisp boundaries, GMM for probabilistic membership &amp; risk scoring.</a:t>
            </a:r>
            <a:endParaRPr lang="en-US" dirty="0">
              <a:solidFill>
                <a:srgbClr val="64748B"/>
              </a:solidFill>
              <a:latin typeface="Georgia Pro Cond Light" panose="02040306050405020303" charset="0"/>
              <a:ea typeface="SimSun" panose="02010600030101010101" pitchFamily="2" charset="-122"/>
              <a:cs typeface="Georgia Pro Cond Light" panose="02040306050405020303" charset="0"/>
            </a:endParaRPr>
          </a:p>
          <a:p>
            <a:endParaRPr lang="en-GB" altLang="en-US">
              <a:latin typeface="Georgia Pro Cond Light" panose="02040306050405020303" charset="0"/>
              <a:cs typeface="Georgia Pro Cond Light" panose="02040306050405020303" charset="0"/>
            </a:endParaRPr>
          </a:p>
        </p:txBody>
      </p:sp>
      <p:sp>
        <p:nvSpPr>
          <p:cNvPr id="45" name="Text 8"/>
          <p:cNvSpPr/>
          <p:nvPr/>
        </p:nvSpPr>
        <p:spPr>
          <a:xfrm>
            <a:off x="678815" y="5316220"/>
            <a:ext cx="10834370" cy="685800"/>
          </a:xfrm>
          <a:prstGeom prst="roundRect">
            <a:avLst>
              <a:gd name="adj" fmla="val 186667"/>
            </a:avLst>
          </a:prstGeom>
          <a:solidFill>
            <a:schemeClr val="tx1">
              <a:lumMod val="10000"/>
              <a:lumOff val="90000"/>
            </a:schemeClr>
          </a:solidFill>
          <a:ln w="9525">
            <a:solidFill>
              <a:srgbClr val="000000"/>
            </a:solidFill>
          </a:ln>
          <a:effectLst>
            <a:outerShdw blurRad="190500" dist="38100" dir="5400000" algn="bl" rotWithShape="0">
              <a:srgbClr val="2563EB">
                <a:alpha val="6000"/>
              </a:srgbClr>
            </a:outerShdw>
          </a:effectLst>
        </p:spPr>
        <p:txBody>
          <a:bodyPr wrap="none" lIns="0" tIns="0" rIns="0" bIns="0" rtlCol="0" anchor="ctr">
            <a:normAutofit/>
          </a:bodyPr>
          <a:lstStyle/>
          <a:p>
            <a:pPr marL="0" indent="0">
              <a:buNone/>
            </a:pPr>
            <a:endParaRPr lang="en-US" sz="1400" dirty="0">
              <a:latin typeface="Georgia Pro Cond Light" panose="02040306050405020303" charset="0"/>
              <a:cs typeface="Georgia Pro Cond Light" panose="02040306050405020303" charset="0"/>
            </a:endParaRPr>
          </a:p>
        </p:txBody>
      </p:sp>
      <p:sp>
        <p:nvSpPr>
          <p:cNvPr id="46" name="Text 26"/>
          <p:cNvSpPr/>
          <p:nvPr/>
        </p:nvSpPr>
        <p:spPr>
          <a:xfrm>
            <a:off x="859790" y="5579110"/>
            <a:ext cx="1914525" cy="160020"/>
          </a:xfrm>
          <a:prstGeom prst="rect">
            <a:avLst/>
          </a:prstGeom>
          <a:noFill/>
        </p:spPr>
        <p:txBody>
          <a:bodyPr wrap="square" lIns="0" tIns="0" rIns="0" bIns="0" rtlCol="0" anchor="t"/>
          <a:lstStyle/>
          <a:p>
            <a:pPr marL="0" indent="0">
              <a:lnSpc>
                <a:spcPts val="1260"/>
              </a:lnSpc>
              <a:buNone/>
            </a:pPr>
            <a:r>
              <a:rPr lang="en-US" sz="1600" b="1" dirty="0">
                <a:solidFill>
                  <a:srgbClr val="C00000"/>
                </a:solidFill>
                <a:latin typeface="Georgia Pro Cond" panose="02040506050405020303" charset="0"/>
                <a:ea typeface="SimSun" panose="02010600030101010101" pitchFamily="2" charset="-122"/>
                <a:cs typeface="Georgia Pro Cond" panose="02040506050405020303" charset="0"/>
              </a:rPr>
              <a:t>Cluster Distribution</a:t>
            </a:r>
            <a:endParaRPr lang="en-US" sz="1600" b="1" dirty="0">
              <a:solidFill>
                <a:srgbClr val="C00000"/>
              </a:solidFill>
              <a:latin typeface="Georgia Pro Cond" panose="02040506050405020303" charset="0"/>
              <a:ea typeface="SimSun" panose="02010600030101010101" pitchFamily="2" charset="-122"/>
              <a:cs typeface="Georgia Pro Cond" panose="02040506050405020303" charset="0"/>
            </a:endParaRPr>
          </a:p>
        </p:txBody>
      </p:sp>
      <p:sp>
        <p:nvSpPr>
          <p:cNvPr id="48" name="Text 28"/>
          <p:cNvSpPr/>
          <p:nvPr/>
        </p:nvSpPr>
        <p:spPr>
          <a:xfrm>
            <a:off x="2348865" y="5457190"/>
            <a:ext cx="2036445" cy="148590"/>
          </a:xfrm>
          <a:prstGeom prst="rect">
            <a:avLst/>
          </a:prstGeom>
          <a:noFill/>
        </p:spPr>
        <p:txBody>
          <a:bodyPr wrap="square" lIns="0" tIns="0" rIns="0" bIns="0" rtlCol="0" anchor="t"/>
          <a:lstStyle/>
          <a:p>
            <a:pPr marL="0" indent="0" algn="ctr">
              <a:lnSpc>
                <a:spcPts val="117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VIP</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50" name="Text 30"/>
          <p:cNvSpPr/>
          <p:nvPr/>
        </p:nvSpPr>
        <p:spPr>
          <a:xfrm>
            <a:off x="4404360" y="5457190"/>
            <a:ext cx="2036445" cy="148590"/>
          </a:xfrm>
          <a:prstGeom prst="rect">
            <a:avLst/>
          </a:prstGeom>
          <a:noFill/>
        </p:spPr>
        <p:txBody>
          <a:bodyPr wrap="square" lIns="0" tIns="0" rIns="0" bIns="0" rtlCol="0" anchor="t"/>
          <a:lstStyle/>
          <a:p>
            <a:pPr marL="0" indent="0" algn="ctr">
              <a:lnSpc>
                <a:spcPts val="117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At Risk</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52" name="Text 32"/>
          <p:cNvSpPr/>
          <p:nvPr/>
        </p:nvSpPr>
        <p:spPr>
          <a:xfrm>
            <a:off x="6649720" y="5457190"/>
            <a:ext cx="2036445" cy="148590"/>
          </a:xfrm>
          <a:prstGeom prst="rect">
            <a:avLst/>
          </a:prstGeom>
          <a:noFill/>
        </p:spPr>
        <p:txBody>
          <a:bodyPr wrap="square" lIns="0" tIns="0" rIns="0" bIns="0" rtlCol="0" anchor="t"/>
          <a:lstStyle/>
          <a:p>
            <a:pPr marL="0" indent="0" algn="ctr">
              <a:lnSpc>
                <a:spcPts val="117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Potential</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54" name="Text 34"/>
          <p:cNvSpPr/>
          <p:nvPr/>
        </p:nvSpPr>
        <p:spPr>
          <a:xfrm>
            <a:off x="8770620" y="5457190"/>
            <a:ext cx="2036445" cy="148590"/>
          </a:xfrm>
          <a:prstGeom prst="rect">
            <a:avLst/>
          </a:prstGeom>
          <a:noFill/>
        </p:spPr>
        <p:txBody>
          <a:bodyPr wrap="square" lIns="0" tIns="0" rIns="0" bIns="0" rtlCol="0" anchor="t"/>
          <a:lstStyle/>
          <a:p>
            <a:pPr marL="0" indent="0" algn="ctr">
              <a:lnSpc>
                <a:spcPts val="1170"/>
              </a:lnSpc>
              <a:buNone/>
            </a:pPr>
            <a:r>
              <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rPr>
              <a:t>Churned</a:t>
            </a:r>
            <a:endParaRPr lang="en-US" sz="14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55" name="Text Box 54"/>
          <p:cNvSpPr txBox="1"/>
          <p:nvPr/>
        </p:nvSpPr>
        <p:spPr>
          <a:xfrm>
            <a:off x="3034665" y="5619115"/>
            <a:ext cx="629920" cy="275590"/>
          </a:xfrm>
          <a:prstGeom prst="rect">
            <a:avLst/>
          </a:prstGeom>
          <a:noFill/>
        </p:spPr>
        <p:txBody>
          <a:bodyPr wrap="square" rtlCol="0">
            <a:spAutoFit/>
          </a:bodyPr>
          <a:p>
            <a:pPr algn="ctr"/>
            <a:r>
              <a:rPr lang="en-US" altLang="en-GB" sz="1200">
                <a:solidFill>
                  <a:srgbClr val="00B050"/>
                </a:solidFill>
                <a:latin typeface="Georgia Pro Cond" panose="02040506050405020303" charset="0"/>
                <a:cs typeface="Georgia Pro Cond" panose="02040506050405020303" charset="0"/>
                <a:sym typeface="+mn-ea"/>
              </a:rPr>
              <a:t>100</a:t>
            </a:r>
            <a:endParaRPr lang="en-US" altLang="en-GB" sz="1200">
              <a:solidFill>
                <a:srgbClr val="00B050"/>
              </a:solidFill>
              <a:latin typeface="Georgia Pro Cond" panose="02040506050405020303" charset="0"/>
              <a:cs typeface="Georgia Pro Cond" panose="02040506050405020303" charset="0"/>
            </a:endParaRPr>
          </a:p>
        </p:txBody>
      </p:sp>
      <p:sp>
        <p:nvSpPr>
          <p:cNvPr id="66" name="Text Box 65"/>
          <p:cNvSpPr txBox="1"/>
          <p:nvPr/>
        </p:nvSpPr>
        <p:spPr>
          <a:xfrm>
            <a:off x="5107305" y="5619115"/>
            <a:ext cx="629920" cy="275590"/>
          </a:xfrm>
          <a:prstGeom prst="rect">
            <a:avLst/>
          </a:prstGeom>
          <a:noFill/>
        </p:spPr>
        <p:txBody>
          <a:bodyPr wrap="square" rtlCol="0">
            <a:spAutoFit/>
          </a:bodyPr>
          <a:p>
            <a:pPr algn="ctr"/>
            <a:r>
              <a:rPr lang="en-US" altLang="en-GB" sz="1200">
                <a:solidFill>
                  <a:srgbClr val="FF0000"/>
                </a:solidFill>
                <a:latin typeface="Georgia Pro Cond" panose="02040506050405020303" charset="0"/>
                <a:cs typeface="Georgia Pro Cond" panose="02040506050405020303" charset="0"/>
                <a:sym typeface="+mn-ea"/>
              </a:rPr>
              <a:t>2572</a:t>
            </a:r>
            <a:endParaRPr lang="en-US" altLang="en-GB" sz="1200">
              <a:solidFill>
                <a:srgbClr val="FF0000"/>
              </a:solidFill>
              <a:latin typeface="Georgia Pro Cond" panose="02040506050405020303" charset="0"/>
              <a:cs typeface="Georgia Pro Cond" panose="02040506050405020303" charset="0"/>
              <a:sym typeface="+mn-ea"/>
            </a:endParaRPr>
          </a:p>
        </p:txBody>
      </p:sp>
      <p:sp>
        <p:nvSpPr>
          <p:cNvPr id="67" name="Text Box 66"/>
          <p:cNvSpPr txBox="1"/>
          <p:nvPr/>
        </p:nvSpPr>
        <p:spPr>
          <a:xfrm>
            <a:off x="7353300" y="5619115"/>
            <a:ext cx="629920" cy="275590"/>
          </a:xfrm>
          <a:prstGeom prst="rect">
            <a:avLst/>
          </a:prstGeom>
          <a:noFill/>
        </p:spPr>
        <p:txBody>
          <a:bodyPr wrap="square" rtlCol="0">
            <a:spAutoFit/>
          </a:bodyPr>
          <a:p>
            <a:pPr algn="ctr"/>
            <a:r>
              <a:rPr lang="en-US" altLang="en-GB" sz="1200">
                <a:solidFill>
                  <a:schemeClr val="accent5"/>
                </a:solidFill>
                <a:latin typeface="Georgia Pro Cond" panose="02040506050405020303" charset="0"/>
                <a:cs typeface="Georgia Pro Cond" panose="02040506050405020303" charset="0"/>
                <a:sym typeface="+mn-ea"/>
              </a:rPr>
              <a:t>625</a:t>
            </a:r>
            <a:endParaRPr lang="en-US" altLang="en-GB" sz="1200">
              <a:solidFill>
                <a:schemeClr val="accent5"/>
              </a:solidFill>
              <a:latin typeface="Georgia Pro Cond" panose="02040506050405020303" charset="0"/>
              <a:cs typeface="Georgia Pro Cond" panose="02040506050405020303" charset="0"/>
              <a:sym typeface="+mn-ea"/>
            </a:endParaRPr>
          </a:p>
        </p:txBody>
      </p:sp>
      <p:sp>
        <p:nvSpPr>
          <p:cNvPr id="68" name="Text Box 67"/>
          <p:cNvSpPr txBox="1"/>
          <p:nvPr/>
        </p:nvSpPr>
        <p:spPr>
          <a:xfrm>
            <a:off x="9589135" y="5619115"/>
            <a:ext cx="629920" cy="275590"/>
          </a:xfrm>
          <a:prstGeom prst="rect">
            <a:avLst/>
          </a:prstGeom>
          <a:noFill/>
        </p:spPr>
        <p:txBody>
          <a:bodyPr wrap="square" rtlCol="0">
            <a:spAutoFit/>
          </a:bodyPr>
          <a:p>
            <a:r>
              <a:rPr lang="en-US" altLang="en-GB" sz="1200">
                <a:solidFill>
                  <a:schemeClr val="bg2">
                    <a:lumMod val="25000"/>
                  </a:schemeClr>
                </a:solidFill>
                <a:latin typeface="Georgia Pro Cond" panose="02040506050405020303" charset="0"/>
                <a:cs typeface="Georgia Pro Cond" panose="02040506050405020303" charset="0"/>
                <a:sym typeface="+mn-ea"/>
              </a:rPr>
              <a:t>1026</a:t>
            </a:r>
            <a:endParaRPr lang="en-US" altLang="en-GB" sz="1200">
              <a:solidFill>
                <a:schemeClr val="bg2">
                  <a:lumMod val="25000"/>
                </a:schemeClr>
              </a:solidFill>
              <a:latin typeface="Georgia Pro Cond" panose="02040506050405020303" charset="0"/>
              <a:cs typeface="Georgia Pro Cond" panose="02040506050405020303"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8815" y="405765"/>
            <a:ext cx="4958715" cy="810895"/>
          </a:xfrm>
        </p:spPr>
        <p:txBody>
          <a:bodyPr>
            <a:normAutofit fontScale="90000"/>
          </a:bodyPr>
          <a:lstStyle/>
          <a:p>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Segmentation Insights &amp; Risk Modeling</a:t>
            </a:r>
            <a:endParaRPr lang="en-IN">
              <a:latin typeface="Georgia Pro Cond Light" panose="02040306050405020303" charset="0"/>
              <a:cs typeface="Georgia Pro Cond Light" panose="02040306050405020303" charset="0"/>
            </a:endParaRPr>
          </a:p>
        </p:txBody>
      </p:sp>
      <p:sp>
        <p:nvSpPr>
          <p:cNvPr id="2" name="Text Box 1"/>
          <p:cNvSpPr txBox="1"/>
          <p:nvPr/>
        </p:nvSpPr>
        <p:spPr>
          <a:xfrm>
            <a:off x="7080885" y="419735"/>
            <a:ext cx="4064000" cy="368300"/>
          </a:xfrm>
          <a:prstGeom prst="rect">
            <a:avLst/>
          </a:prstGeom>
          <a:noFill/>
        </p:spPr>
        <p:txBody>
          <a:bodyPr wrap="square" rtlCol="0">
            <a:spAutoFit/>
          </a:bodyPr>
          <a:p>
            <a:pPr algn="ctr"/>
            <a:r>
              <a:rPr lang="en-US" altLang="en-GB">
                <a:solidFill>
                  <a:schemeClr val="bg2"/>
                </a:solidFill>
              </a:rPr>
              <a:t>Segment x Risk Profile</a:t>
            </a:r>
            <a:endParaRPr lang="en-US" altLang="en-GB">
              <a:solidFill>
                <a:schemeClr val="bg2"/>
              </a:solidFill>
            </a:endParaRPr>
          </a:p>
        </p:txBody>
      </p:sp>
      <p:sp>
        <p:nvSpPr>
          <p:cNvPr id="6" name="Text Box 5"/>
          <p:cNvSpPr txBox="1"/>
          <p:nvPr/>
        </p:nvSpPr>
        <p:spPr>
          <a:xfrm>
            <a:off x="679450" y="1442085"/>
            <a:ext cx="4958080" cy="584835"/>
          </a:xfrm>
          <a:prstGeom prst="rect">
            <a:avLst/>
          </a:prstGeom>
          <a:noFill/>
        </p:spPr>
        <p:txBody>
          <a:bodyPr wrap="square" rtlCol="0">
            <a:noAutofit/>
          </a:bodyPr>
          <a:p>
            <a:r>
              <a:rPr lang="en-US" dirty="0">
                <a:solidFill>
                  <a:srgbClr val="64748B"/>
                </a:solidFill>
                <a:latin typeface="Georgia Pro Cond Light" panose="02040306050405020303" charset="0"/>
                <a:ea typeface="SimSun" panose="02010600030101010101" pitchFamily="2" charset="-122"/>
                <a:cs typeface="Georgia Pro Cond Light" panose="02040306050405020303" charset="0"/>
                <a:sym typeface="+mn-ea"/>
              </a:rPr>
              <a:t>Combining cluster labels with GMM log-likelihood scores to derive actionable risk tiers.</a:t>
            </a:r>
            <a:endParaRPr lang="en-US" dirty="0">
              <a:latin typeface="Georgia Pro Cond Light" panose="02040306050405020303" charset="0"/>
              <a:cs typeface="Georgia Pro Cond Light" panose="02040306050405020303" charset="0"/>
            </a:endParaRPr>
          </a:p>
          <a:p>
            <a:endParaRPr lang="en-US" altLang="en-US" dirty="0">
              <a:latin typeface="Georgia Pro Cond Light" panose="02040306050405020303" charset="0"/>
              <a:cs typeface="Georgia Pro Cond Light" panose="02040306050405020303" charset="0"/>
            </a:endParaRPr>
          </a:p>
        </p:txBody>
      </p:sp>
      <p:sp>
        <p:nvSpPr>
          <p:cNvPr id="18" name="Text 1"/>
          <p:cNvSpPr/>
          <p:nvPr/>
        </p:nvSpPr>
        <p:spPr>
          <a:xfrm>
            <a:off x="704850" y="2252345"/>
            <a:ext cx="4661535" cy="1266190"/>
          </a:xfrm>
          <a:prstGeom prst="rect">
            <a:avLst/>
          </a:prstGeom>
          <a:solidFill>
            <a:srgbClr val="2563EB">
              <a:alpha val="6000"/>
            </a:srgbClr>
          </a:solidFill>
          <a:ln w="9525">
            <a:solidFill>
              <a:srgbClr val="2563EB"/>
            </a:solidFill>
          </a:ln>
        </p:spPr>
        <p:txBody>
          <a:bodyPr wrap="none" lIns="0" tIns="0" rIns="0" bIns="0" rtlCol="0" anchor="ctr">
            <a:normAutofit/>
          </a:bodyPr>
          <a:lstStyle/>
          <a:p>
            <a:pPr marL="0" indent="0">
              <a:buNone/>
            </a:pPr>
            <a:endParaRPr lang="en-US" sz="1400" dirty="0">
              <a:latin typeface="Georgia Pro Cond" panose="02040506050405020303" charset="0"/>
              <a:cs typeface="Georgia Pro Cond" panose="02040506050405020303" charset="0"/>
            </a:endParaRPr>
          </a:p>
        </p:txBody>
      </p:sp>
      <p:sp>
        <p:nvSpPr>
          <p:cNvPr id="22" name="Text 3"/>
          <p:cNvSpPr/>
          <p:nvPr/>
        </p:nvSpPr>
        <p:spPr>
          <a:xfrm>
            <a:off x="704850" y="3630295"/>
            <a:ext cx="4661535" cy="1056640"/>
          </a:xfrm>
          <a:prstGeom prst="rect">
            <a:avLst/>
          </a:prstGeom>
          <a:solidFill>
            <a:srgbClr val="EF4444">
              <a:alpha val="5000"/>
            </a:srgbClr>
          </a:solidFill>
          <a:ln w="9525">
            <a:solidFill>
              <a:srgbClr val="EF4444"/>
            </a:solidFill>
          </a:ln>
        </p:spPr>
        <p:txBody>
          <a:bodyPr wrap="none" lIns="0" tIns="0" rIns="0" bIns="0" rtlCol="0" anchor="ctr">
            <a:normAutofit/>
          </a:bodyPr>
          <a:lstStyle/>
          <a:p>
            <a:pPr marL="0" indent="0">
              <a:buNone/>
            </a:pPr>
            <a:endParaRPr lang="en-US" sz="1400" dirty="0">
              <a:latin typeface="Georgia Pro Cond" panose="02040506050405020303" charset="0"/>
              <a:cs typeface="Georgia Pro Cond" panose="02040506050405020303" charset="0"/>
            </a:endParaRPr>
          </a:p>
        </p:txBody>
      </p:sp>
      <p:sp>
        <p:nvSpPr>
          <p:cNvPr id="24" name="Text 5"/>
          <p:cNvSpPr/>
          <p:nvPr/>
        </p:nvSpPr>
        <p:spPr>
          <a:xfrm>
            <a:off x="704850" y="4799330"/>
            <a:ext cx="4661535" cy="1056640"/>
          </a:xfrm>
          <a:prstGeom prst="rect">
            <a:avLst/>
          </a:prstGeom>
          <a:solidFill>
            <a:srgbClr val="10B981">
              <a:alpha val="5000"/>
            </a:srgbClr>
          </a:solidFill>
          <a:ln w="9525">
            <a:solidFill>
              <a:srgbClr val="10B981"/>
            </a:solidFill>
          </a:ln>
        </p:spPr>
        <p:txBody>
          <a:bodyPr wrap="none" lIns="0" tIns="0" rIns="0" bIns="0" rtlCol="0" anchor="ctr">
            <a:normAutofit/>
          </a:bodyPr>
          <a:lstStyle/>
          <a:p>
            <a:pPr marL="0" indent="0">
              <a:buNone/>
            </a:pPr>
            <a:endParaRPr lang="en-US" sz="1400" dirty="0">
              <a:latin typeface="Georgia Pro Cond" panose="02040506050405020303" charset="0"/>
              <a:cs typeface="Georgia Pro Cond" panose="02040506050405020303" charset="0"/>
            </a:endParaRPr>
          </a:p>
        </p:txBody>
      </p:sp>
      <p:sp>
        <p:nvSpPr>
          <p:cNvPr id="26" name="Text 10"/>
          <p:cNvSpPr/>
          <p:nvPr/>
        </p:nvSpPr>
        <p:spPr>
          <a:xfrm>
            <a:off x="906780" y="2422525"/>
            <a:ext cx="1885950" cy="228600"/>
          </a:xfrm>
          <a:prstGeom prst="rect">
            <a:avLst/>
          </a:prstGeom>
          <a:noFill/>
        </p:spPr>
        <p:txBody>
          <a:bodyPr wrap="square" lIns="0" tIns="0" rIns="0" bIns="0" rtlCol="0" anchor="t"/>
          <a:lstStyle/>
          <a:p>
            <a:pPr marL="0" indent="0">
              <a:lnSpc>
                <a:spcPts val="1530"/>
              </a:lnSpc>
              <a:buNone/>
            </a:pPr>
            <a:r>
              <a:rPr lang="en-US" sz="1200" b="1" dirty="0">
                <a:solidFill>
                  <a:srgbClr val="2563EB"/>
                </a:solidFill>
                <a:latin typeface="Georgia Pro Cond" panose="02040506050405020303" charset="0"/>
                <a:ea typeface="SimSun" panose="02010600030101010101" pitchFamily="2" charset="-122"/>
                <a:cs typeface="Georgia Pro Cond" panose="02040506050405020303" charset="0"/>
              </a:rPr>
              <a:t>⭐ VIP + High Risk</a:t>
            </a:r>
            <a:endParaRPr lang="en-US" sz="1200" b="1" dirty="0">
              <a:solidFill>
                <a:srgbClr val="2563EB"/>
              </a:solidFill>
              <a:latin typeface="Georgia Pro Cond" panose="02040506050405020303" charset="0"/>
              <a:ea typeface="SimSun" panose="02010600030101010101" pitchFamily="2" charset="-122"/>
              <a:cs typeface="Georgia Pro Cond" panose="02040506050405020303" charset="0"/>
            </a:endParaRPr>
          </a:p>
        </p:txBody>
      </p:sp>
      <p:sp>
        <p:nvSpPr>
          <p:cNvPr id="27" name="Text 11"/>
          <p:cNvSpPr/>
          <p:nvPr/>
        </p:nvSpPr>
        <p:spPr>
          <a:xfrm>
            <a:off x="906780" y="2778760"/>
            <a:ext cx="4291965" cy="629285"/>
          </a:xfrm>
          <a:prstGeom prst="rect">
            <a:avLst/>
          </a:prstGeom>
          <a:noFill/>
        </p:spPr>
        <p:txBody>
          <a:bodyPr wrap="square" lIns="0" tIns="0" rIns="0" bIns="0" rtlCol="0" anchor="t"/>
          <a:lstStyle/>
          <a:p>
            <a:pPr marL="0" indent="0">
              <a:lnSpc>
                <a:spcPts val="1405"/>
              </a:lnSpc>
              <a:buNone/>
            </a:pPr>
            <a:r>
              <a:rPr lang="en-US" sz="1200" dirty="0">
                <a:solidFill>
                  <a:srgbClr val="334155"/>
                </a:solidFill>
                <a:latin typeface="Georgia Pro Cond" panose="02040506050405020303" charset="0"/>
                <a:ea typeface="SimSun" panose="02010600030101010101" pitchFamily="2" charset="-122"/>
                <a:cs typeface="Georgia Pro Cond" panose="02040506050405020303" charset="0"/>
              </a:rPr>
              <a:t>Top revenue contributors showing engagement drop signals. Immediate personalized outreach required — account for 42% of total revenue.</a:t>
            </a:r>
            <a:endParaRPr lang="en-US" sz="1200" dirty="0">
              <a:solidFill>
                <a:srgbClr val="334155"/>
              </a:solidFill>
              <a:latin typeface="Georgia Pro Cond" panose="02040506050405020303" charset="0"/>
              <a:ea typeface="SimSun" panose="02010600030101010101" pitchFamily="2" charset="-122"/>
              <a:cs typeface="Georgia Pro Cond" panose="02040506050405020303" charset="0"/>
            </a:endParaRPr>
          </a:p>
        </p:txBody>
      </p:sp>
      <p:sp>
        <p:nvSpPr>
          <p:cNvPr id="28" name="Text 12"/>
          <p:cNvSpPr/>
          <p:nvPr/>
        </p:nvSpPr>
        <p:spPr>
          <a:xfrm>
            <a:off x="906780" y="3801110"/>
            <a:ext cx="1948180" cy="228600"/>
          </a:xfrm>
          <a:prstGeom prst="rect">
            <a:avLst/>
          </a:prstGeom>
          <a:noFill/>
        </p:spPr>
        <p:txBody>
          <a:bodyPr wrap="square" lIns="0" tIns="0" rIns="0" bIns="0" rtlCol="0" anchor="t"/>
          <a:lstStyle/>
          <a:p>
            <a:pPr marL="0" indent="0">
              <a:lnSpc>
                <a:spcPts val="1530"/>
              </a:lnSpc>
              <a:buNone/>
            </a:pPr>
            <a:r>
              <a:rPr lang="en-US" sz="1200" b="1" dirty="0">
                <a:solidFill>
                  <a:srgbClr val="DC2626"/>
                </a:solidFill>
                <a:latin typeface="Georgia Pro Cond" panose="02040506050405020303" charset="0"/>
                <a:ea typeface="SimSun" panose="02010600030101010101" pitchFamily="2" charset="-122"/>
                <a:cs typeface="Georgia Pro Cond" panose="02040506050405020303" charset="0"/>
              </a:rPr>
              <a:t>⚠ At Risk + High Risk</a:t>
            </a:r>
            <a:endParaRPr lang="en-US" sz="1200" b="1" dirty="0">
              <a:solidFill>
                <a:srgbClr val="DC2626"/>
              </a:solidFill>
              <a:latin typeface="Georgia Pro Cond" panose="02040506050405020303" charset="0"/>
              <a:ea typeface="SimSun" panose="02010600030101010101" pitchFamily="2" charset="-122"/>
              <a:cs typeface="Georgia Pro Cond" panose="02040506050405020303" charset="0"/>
            </a:endParaRPr>
          </a:p>
        </p:txBody>
      </p:sp>
      <p:sp>
        <p:nvSpPr>
          <p:cNvPr id="29" name="Text 13"/>
          <p:cNvSpPr/>
          <p:nvPr/>
        </p:nvSpPr>
        <p:spPr>
          <a:xfrm>
            <a:off x="906780" y="4183380"/>
            <a:ext cx="4291965" cy="419735"/>
          </a:xfrm>
          <a:prstGeom prst="rect">
            <a:avLst/>
          </a:prstGeom>
          <a:noFill/>
        </p:spPr>
        <p:txBody>
          <a:bodyPr wrap="square" lIns="0" tIns="0" rIns="0" bIns="0" rtlCol="0" anchor="t"/>
          <a:lstStyle/>
          <a:p>
            <a:pPr marL="0" indent="0">
              <a:lnSpc>
                <a:spcPts val="1405"/>
              </a:lnSpc>
              <a:buNone/>
            </a:pPr>
            <a:r>
              <a:rPr lang="en-US" sz="1200" dirty="0">
                <a:solidFill>
                  <a:srgbClr val="334155"/>
                </a:solidFill>
                <a:latin typeface="Georgia Pro Cond" panose="02040506050405020303" charset="0"/>
                <a:ea typeface="SimSun" panose="02010600030101010101" pitchFamily="2" charset="-122"/>
                <a:cs typeface="Georgia Pro Cond" panose="02040506050405020303" charset="0"/>
              </a:rPr>
              <a:t>Already disengaging with high GMM anomaly scores. Win-back campaigns with discount triggers needed within 30 days.</a:t>
            </a:r>
            <a:endParaRPr lang="en-US" sz="1200" dirty="0">
              <a:solidFill>
                <a:srgbClr val="334155"/>
              </a:solidFill>
              <a:latin typeface="Georgia Pro Cond" panose="02040506050405020303" charset="0"/>
              <a:ea typeface="SimSun" panose="02010600030101010101" pitchFamily="2" charset="-122"/>
              <a:cs typeface="Georgia Pro Cond" panose="02040506050405020303" charset="0"/>
            </a:endParaRPr>
          </a:p>
        </p:txBody>
      </p:sp>
      <p:sp>
        <p:nvSpPr>
          <p:cNvPr id="30" name="Text 14"/>
          <p:cNvSpPr/>
          <p:nvPr/>
        </p:nvSpPr>
        <p:spPr>
          <a:xfrm>
            <a:off x="906780" y="4969510"/>
            <a:ext cx="1948815" cy="228600"/>
          </a:xfrm>
          <a:prstGeom prst="rect">
            <a:avLst/>
          </a:prstGeom>
          <a:noFill/>
        </p:spPr>
        <p:txBody>
          <a:bodyPr wrap="square" lIns="0" tIns="0" rIns="0" bIns="0" rtlCol="0" anchor="t"/>
          <a:lstStyle/>
          <a:p>
            <a:pPr marL="0" indent="0">
              <a:lnSpc>
                <a:spcPts val="1530"/>
              </a:lnSpc>
              <a:buNone/>
            </a:pPr>
            <a:r>
              <a:rPr lang="en-US" sz="1200" b="1" dirty="0">
                <a:solidFill>
                  <a:srgbClr val="059669"/>
                </a:solidFill>
                <a:latin typeface="Georgia Pro Cond" panose="02040506050405020303" charset="0"/>
                <a:ea typeface="SimSun" panose="02010600030101010101" pitchFamily="2" charset="-122"/>
                <a:cs typeface="Georgia Pro Cond" panose="02040506050405020303" charset="0"/>
              </a:rPr>
              <a:t>🌱  Potential + Low Risk</a:t>
            </a:r>
            <a:endParaRPr lang="en-US" sz="1200" b="1" dirty="0">
              <a:solidFill>
                <a:srgbClr val="059669"/>
              </a:solidFill>
              <a:latin typeface="Georgia Pro Cond" panose="02040506050405020303" charset="0"/>
              <a:ea typeface="SimSun" panose="02010600030101010101" pitchFamily="2" charset="-122"/>
              <a:cs typeface="Georgia Pro Cond" panose="02040506050405020303" charset="0"/>
            </a:endParaRPr>
          </a:p>
        </p:txBody>
      </p:sp>
      <p:sp>
        <p:nvSpPr>
          <p:cNvPr id="31" name="Text 15"/>
          <p:cNvSpPr/>
          <p:nvPr/>
        </p:nvSpPr>
        <p:spPr>
          <a:xfrm>
            <a:off x="952500" y="5267960"/>
            <a:ext cx="4291965" cy="442595"/>
          </a:xfrm>
          <a:prstGeom prst="rect">
            <a:avLst/>
          </a:prstGeom>
          <a:noFill/>
        </p:spPr>
        <p:txBody>
          <a:bodyPr wrap="square" lIns="0" tIns="0" rIns="0" bIns="0" rtlCol="0" anchor="t"/>
          <a:lstStyle/>
          <a:p>
            <a:pPr marL="0" indent="0">
              <a:lnSpc>
                <a:spcPts val="1405"/>
              </a:lnSpc>
              <a:buNone/>
            </a:pPr>
            <a:r>
              <a:rPr lang="en-US" sz="1200" dirty="0">
                <a:solidFill>
                  <a:srgbClr val="334155"/>
                </a:solidFill>
                <a:latin typeface="Georgia Pro Cond" panose="02040506050405020303" charset="0"/>
                <a:ea typeface="SimSun" panose="02010600030101010101" pitchFamily="2" charset="-122"/>
                <a:cs typeface="Georgia Pro Cond" panose="02040506050405020303" charset="0"/>
              </a:rPr>
              <a:t>Stable behavioral pattern, increasing frequency. Loyalty program enrollment and cross-sell campaigns for revenue uplift.</a:t>
            </a:r>
            <a:endParaRPr lang="en-US" sz="1200" dirty="0">
              <a:solidFill>
                <a:srgbClr val="334155"/>
              </a:solidFill>
              <a:latin typeface="Georgia Pro Cond" panose="02040506050405020303" charset="0"/>
              <a:ea typeface="SimSun" panose="02010600030101010101" pitchFamily="2" charset="-122"/>
              <a:cs typeface="Georgia Pro Cond" panose="02040506050405020303" charset="0"/>
            </a:endParaRPr>
          </a:p>
        </p:txBody>
      </p:sp>
      <p:sp>
        <p:nvSpPr>
          <p:cNvPr id="33" name="Text Box 32"/>
          <p:cNvSpPr txBox="1"/>
          <p:nvPr/>
        </p:nvSpPr>
        <p:spPr>
          <a:xfrm>
            <a:off x="3735070" y="3703320"/>
            <a:ext cx="1576070" cy="283845"/>
          </a:xfrm>
          <a:prstGeom prst="rect">
            <a:avLst/>
          </a:prstGeom>
          <a:solidFill>
            <a:schemeClr val="accent4">
              <a:lumMod val="40000"/>
              <a:lumOff val="60000"/>
              <a:alpha val="57000"/>
            </a:schemeClr>
          </a:solidFill>
        </p:spPr>
        <p:txBody>
          <a:bodyPr wrap="square" rtlCol="0" anchor="t" anchorCtr="0">
            <a:noAutofit/>
          </a:bodyPr>
          <a:p>
            <a:r>
              <a:rPr lang="en-US" sz="1000" b="1" dirty="0">
                <a:solidFill>
                  <a:srgbClr val="D97706"/>
                </a:solidFill>
                <a:latin typeface="Georgia Pro Cond" panose="02040506050405020303" charset="0"/>
                <a:ea typeface="SimSun" panose="02010600030101010101" pitchFamily="2" charset="-122"/>
                <a:cs typeface="Georgia Pro Cond" panose="02040506050405020303" charset="0"/>
                <a:sym typeface="+mn-ea"/>
              </a:rPr>
              <a:t>🟡  Likely Churn</a:t>
            </a:r>
            <a:endParaRPr lang="en-US" sz="1000" b="1" dirty="0">
              <a:solidFill>
                <a:srgbClr val="D97706"/>
              </a:solidFill>
              <a:latin typeface="Georgia Pro Cond" panose="02040506050405020303" charset="0"/>
              <a:ea typeface="SimSun" panose="02010600030101010101" pitchFamily="2" charset="-122"/>
              <a:cs typeface="Georgia Pro Cond" panose="02040506050405020303" charset="0"/>
            </a:endParaRPr>
          </a:p>
          <a:p>
            <a:endParaRPr lang="en-US" altLang="en-US" sz="1000" b="1" dirty="0">
              <a:solidFill>
                <a:srgbClr val="D97706"/>
              </a:solidFill>
              <a:latin typeface="Georgia Pro Cond" panose="02040506050405020303" charset="0"/>
              <a:ea typeface="SimSun" panose="02010600030101010101" pitchFamily="2" charset="-122"/>
              <a:cs typeface="Georgia Pro Cond" panose="02040506050405020303" charset="0"/>
            </a:endParaRPr>
          </a:p>
        </p:txBody>
      </p:sp>
      <p:sp>
        <p:nvSpPr>
          <p:cNvPr id="34" name="Text Box 33"/>
          <p:cNvSpPr txBox="1"/>
          <p:nvPr/>
        </p:nvSpPr>
        <p:spPr>
          <a:xfrm>
            <a:off x="3734435" y="2311400"/>
            <a:ext cx="1576070" cy="245110"/>
          </a:xfrm>
          <a:prstGeom prst="rect">
            <a:avLst/>
          </a:prstGeom>
          <a:solidFill>
            <a:schemeClr val="accent2">
              <a:lumMod val="40000"/>
              <a:lumOff val="60000"/>
            </a:schemeClr>
          </a:solidFill>
        </p:spPr>
        <p:txBody>
          <a:bodyPr wrap="square" rtlCol="0" anchor="t">
            <a:spAutoFit/>
          </a:bodyPr>
          <a:p>
            <a:pPr marL="0" indent="0" algn="l" fontAlgn="t">
              <a:lnSpc>
                <a:spcPct val="100000"/>
              </a:lnSpc>
              <a:buNone/>
            </a:pPr>
            <a:r>
              <a:rPr lang="en-US" sz="1000" b="1" dirty="0">
                <a:solidFill>
                  <a:srgbClr val="DC2626"/>
                </a:solidFill>
                <a:latin typeface="Georgia Pro Cond" panose="02040506050405020303" charset="0"/>
                <a:ea typeface="SimSun" panose="02010600030101010101" pitchFamily="2" charset="-122"/>
                <a:cs typeface="Georgia Pro Cond" panose="02040506050405020303" charset="0"/>
                <a:sym typeface="+mn-ea"/>
              </a:rPr>
              <a:t>🔴   Critical Retention</a:t>
            </a:r>
            <a:endParaRPr lang="en-US" altLang="en-US" sz="1000" b="1" dirty="0">
              <a:solidFill>
                <a:srgbClr val="DC2626"/>
              </a:solidFill>
              <a:latin typeface="Georgia Pro Cond" panose="02040506050405020303" charset="0"/>
              <a:ea typeface="SimSun" panose="02010600030101010101" pitchFamily="2" charset="-122"/>
              <a:cs typeface="Georgia Pro Cond" panose="02040506050405020303" charset="0"/>
              <a:sym typeface="+mn-ea"/>
            </a:endParaRPr>
          </a:p>
        </p:txBody>
      </p:sp>
      <p:sp>
        <p:nvSpPr>
          <p:cNvPr id="35" name="Text Box 34"/>
          <p:cNvSpPr txBox="1"/>
          <p:nvPr/>
        </p:nvSpPr>
        <p:spPr>
          <a:xfrm>
            <a:off x="3734435" y="4909185"/>
            <a:ext cx="1576070" cy="245110"/>
          </a:xfrm>
          <a:prstGeom prst="rect">
            <a:avLst/>
          </a:prstGeom>
          <a:solidFill>
            <a:schemeClr val="accent6">
              <a:lumMod val="40000"/>
              <a:lumOff val="60000"/>
            </a:schemeClr>
          </a:solidFill>
        </p:spPr>
        <p:txBody>
          <a:bodyPr wrap="square" rtlCol="0" anchor="t">
            <a:spAutoFit/>
          </a:bodyPr>
          <a:p>
            <a:pPr marL="0" indent="0" algn="l">
              <a:buNone/>
            </a:pPr>
            <a:r>
              <a:rPr lang="en-US" sz="1000" b="1" dirty="0">
                <a:solidFill>
                  <a:srgbClr val="059669"/>
                </a:solidFill>
                <a:latin typeface="Georgia Pro Cond" panose="02040506050405020303" charset="0"/>
                <a:ea typeface="SimSun" panose="02010600030101010101" pitchFamily="2" charset="-122"/>
                <a:cs typeface="Georgia Pro Cond" panose="02040506050405020303" charset="0"/>
                <a:sym typeface="+mn-ea"/>
              </a:rPr>
              <a:t>🟢 Growth Opportunity</a:t>
            </a:r>
            <a:endParaRPr lang="en-US" altLang="en-US" sz="1000" b="1" dirty="0">
              <a:solidFill>
                <a:srgbClr val="059669"/>
              </a:solidFill>
              <a:latin typeface="Georgia Pro Cond" panose="02040506050405020303" charset="0"/>
              <a:ea typeface="SimSun" panose="02010600030101010101" pitchFamily="2" charset="-122"/>
              <a:cs typeface="Georgia Pro Cond" panose="02040506050405020303" charset="0"/>
              <a:sym typeface="+mn-ea"/>
            </a:endParaRPr>
          </a:p>
        </p:txBody>
      </p:sp>
      <p:pic>
        <p:nvPicPr>
          <p:cNvPr id="7" name="Content Placeholder 6"/>
          <p:cNvPicPr>
            <a:picLocks noChangeAspect="1"/>
          </p:cNvPicPr>
          <p:nvPr>
            <p:ph idx="1"/>
          </p:nvPr>
        </p:nvPicPr>
        <p:blipFill>
          <a:blip r:embed="rId1"/>
          <a:stretch>
            <a:fillRect/>
          </a:stretch>
        </p:blipFill>
        <p:spPr>
          <a:xfrm>
            <a:off x="6588760" y="1216660"/>
            <a:ext cx="5048250" cy="4333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lowchart: Alternate Process 50"/>
          <p:cNvSpPr/>
          <p:nvPr>
            <p:custDataLst>
              <p:tags r:id="rId1"/>
            </p:custDataLst>
          </p:nvPr>
        </p:nvSpPr>
        <p:spPr>
          <a:xfrm>
            <a:off x="527050" y="1695450"/>
            <a:ext cx="6155690" cy="3861435"/>
          </a:xfrm>
          <a:prstGeom prst="flowChartAlternateProcess">
            <a:avLst/>
          </a:prstGeom>
          <a:blipFill rotWithShape="1">
            <a:blip r:embed="rId2">
              <a:alphaModFix amt="70000"/>
            </a:blip>
            <a:tile tx="0" ty="0" sx="100000" sy="100000" flip="none" algn="tl"/>
          </a:blipFill>
          <a:ln w="6350" cap="rnd">
            <a:noFill/>
            <a:round/>
          </a:ln>
          <a:effectLst/>
          <a:scene3d>
            <a:camera prst="orthographicFront"/>
            <a:lightRig rig="threePt" dir="t"/>
          </a:scene3d>
          <a:sp3d extrusionH="254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2" name="Text Box 51"/>
          <p:cNvSpPr txBox="1"/>
          <p:nvPr/>
        </p:nvSpPr>
        <p:spPr>
          <a:xfrm>
            <a:off x="1371600" y="1767840"/>
            <a:ext cx="4064000" cy="368300"/>
          </a:xfrm>
          <a:prstGeom prst="rect">
            <a:avLst/>
          </a:prstGeom>
          <a:noFill/>
        </p:spPr>
        <p:txBody>
          <a:bodyPr wrap="square" rtlCol="0">
            <a:spAutoFit/>
          </a:bodyPr>
          <a:p>
            <a:pPr algn="ctr"/>
            <a:r>
              <a:rPr lang="en-US" altLang="en-GB" b="1">
                <a:solidFill>
                  <a:srgbClr val="C00000"/>
                </a:solidFill>
                <a:latin typeface="Georgia Pro Cond" panose="02040506050405020303" charset="0"/>
                <a:cs typeface="Georgia Pro Cond" panose="02040506050405020303" charset="0"/>
              </a:rPr>
              <a:t>Model Architecture</a:t>
            </a:r>
            <a:endParaRPr lang="en-US" altLang="en-GB" b="1">
              <a:solidFill>
                <a:srgbClr val="C00000"/>
              </a:solidFill>
              <a:latin typeface="Georgia Pro Cond" panose="02040506050405020303" charset="0"/>
              <a:cs typeface="Georgia Pro Cond" panose="02040506050405020303" charset="0"/>
            </a:endParaRPr>
          </a:p>
        </p:txBody>
      </p:sp>
      <p:sp>
        <p:nvSpPr>
          <p:cNvPr id="4" name="Title 3"/>
          <p:cNvSpPr>
            <a:spLocks noGrp="1"/>
          </p:cNvSpPr>
          <p:nvPr>
            <p:ph type="title"/>
          </p:nvPr>
        </p:nvSpPr>
        <p:spPr>
          <a:xfrm>
            <a:off x="527119" y="363001"/>
            <a:ext cx="10834234" cy="612775"/>
          </a:xfrm>
        </p:spPr>
        <p:txBody>
          <a:bodyPr>
            <a:normAutofit/>
          </a:bodyPr>
          <a:lstStyle/>
          <a:p>
            <a:r>
              <a:rPr lang="en-US" dirty="0">
                <a:solidFill>
                  <a:srgbClr val="0F172A"/>
                </a:solidFill>
                <a:latin typeface="Georgia Pro Cond Light" panose="02040306050405020303" charset="0"/>
                <a:ea typeface="SimSun" panose="02010600030101010101" pitchFamily="2" charset="-122"/>
                <a:cs typeface="Georgia Pro Cond Light" panose="02040306050405020303" charset="0"/>
                <a:sym typeface="+mn-ea"/>
              </a:rPr>
              <a:t> Predictive Modelling Overview</a:t>
            </a:r>
            <a:endParaRPr lang="en-US" dirty="0">
              <a:latin typeface="Georgia Pro Cond Light" panose="02040306050405020303" charset="0"/>
              <a:cs typeface="Georgia Pro Cond Light" panose="02040306050405020303" charset="0"/>
            </a:endParaRPr>
          </a:p>
        </p:txBody>
      </p:sp>
      <p:grpSp>
        <p:nvGrpSpPr>
          <p:cNvPr id="47" name="Group 46"/>
          <p:cNvGrpSpPr/>
          <p:nvPr>
            <p:custDataLst>
              <p:tags r:id="rId3"/>
            </p:custDataLst>
          </p:nvPr>
        </p:nvGrpSpPr>
        <p:grpSpPr>
          <a:xfrm>
            <a:off x="789305" y="2230919"/>
            <a:ext cx="5604634" cy="3005161"/>
            <a:chOff x="1125" y="2292"/>
            <a:chExt cx="6467" cy="3440"/>
          </a:xfrm>
        </p:grpSpPr>
        <p:sp>
          <p:nvSpPr>
            <p:cNvPr id="33" name="Text 2"/>
            <p:cNvSpPr/>
            <p:nvPr>
              <p:custDataLst>
                <p:tags r:id="rId4"/>
              </p:custDataLst>
            </p:nvPr>
          </p:nvSpPr>
          <p:spPr>
            <a:xfrm>
              <a:off x="1125" y="2292"/>
              <a:ext cx="6467" cy="847"/>
            </a:xfrm>
            <a:prstGeom prst="roundRect">
              <a:avLst>
                <a:gd name="adj" fmla="val 136042"/>
              </a:avLst>
            </a:prstGeom>
            <a:solidFill>
              <a:schemeClr val="accent6">
                <a:lumMod val="75000"/>
                <a:alpha val="89000"/>
              </a:schemeClr>
            </a:solidFill>
          </p:spPr>
          <p:txBody>
            <a:bodyPr wrap="none" lIns="0" tIns="0" rIns="0" bIns="0" rtlCol="0" anchor="ctr">
              <a:normAutofit/>
            </a:bodyPr>
            <a:lstStyle/>
            <a:p>
              <a:pPr marL="0" indent="0">
                <a:buNone/>
              </a:pPr>
              <a:endParaRPr lang="en-US" dirty="0">
                <a:latin typeface="Georgia Pro Cond Light" panose="02040306050405020303" charset="0"/>
                <a:cs typeface="Georgia Pro Cond Light" panose="02040306050405020303" charset="0"/>
              </a:endParaRPr>
            </a:p>
          </p:txBody>
        </p:sp>
        <p:sp>
          <p:nvSpPr>
            <p:cNvPr id="34" name="Text 3"/>
            <p:cNvSpPr/>
            <p:nvPr>
              <p:custDataLst>
                <p:tags r:id="rId5"/>
              </p:custDataLst>
            </p:nvPr>
          </p:nvSpPr>
          <p:spPr>
            <a:xfrm>
              <a:off x="4343" y="3259"/>
              <a:ext cx="30" cy="210"/>
            </a:xfrm>
            <a:prstGeom prst="rect">
              <a:avLst/>
            </a:prstGeom>
            <a:solidFill>
              <a:srgbClr val="2563EB">
                <a:alpha val="30000"/>
              </a:srgbClr>
            </a:solidFill>
          </p:spPr>
          <p:txBody>
            <a:bodyPr wrap="none" lIns="0" tIns="0" rIns="0" bIns="0" rtlCol="0" anchor="ctr">
              <a:noAutofit/>
            </a:bodyPr>
            <a:lstStyle/>
            <a:p>
              <a:pPr marL="0" indent="0">
                <a:buNone/>
              </a:pPr>
              <a:endParaRPr lang="en-US" sz="1700" dirty="0">
                <a:latin typeface="Georgia Pro Cond Light" panose="02040306050405020303" charset="0"/>
                <a:cs typeface="Georgia Pro Cond Light" panose="02040306050405020303" charset="0"/>
              </a:endParaRPr>
            </a:p>
          </p:txBody>
        </p:sp>
        <p:sp>
          <p:nvSpPr>
            <p:cNvPr id="35" name="Text 4"/>
            <p:cNvSpPr/>
            <p:nvPr>
              <p:custDataLst>
                <p:tags r:id="rId6"/>
              </p:custDataLst>
            </p:nvPr>
          </p:nvSpPr>
          <p:spPr>
            <a:xfrm>
              <a:off x="1125" y="3589"/>
              <a:ext cx="6467" cy="847"/>
            </a:xfrm>
            <a:prstGeom prst="roundRect">
              <a:avLst>
                <a:gd name="adj" fmla="val 136042"/>
              </a:avLst>
            </a:prstGeom>
            <a:solidFill>
              <a:schemeClr val="bg2">
                <a:lumMod val="25000"/>
                <a:alpha val="89000"/>
              </a:schemeClr>
            </a:solidFill>
          </p:spPr>
          <p:txBody>
            <a:bodyPr wrap="none" lIns="0" tIns="0" rIns="0" bIns="0" rtlCol="0" anchor="ctr">
              <a:normAutofit/>
            </a:bodyPr>
            <a:lstStyle/>
            <a:p>
              <a:pPr marL="0" indent="0">
                <a:buNone/>
              </a:pPr>
              <a:endParaRPr lang="en-US" dirty="0">
                <a:latin typeface="Georgia Pro Cond Light" panose="02040306050405020303" charset="0"/>
                <a:cs typeface="Georgia Pro Cond Light" panose="02040306050405020303" charset="0"/>
              </a:endParaRPr>
            </a:p>
          </p:txBody>
        </p:sp>
        <p:sp>
          <p:nvSpPr>
            <p:cNvPr id="36" name="Text 5"/>
            <p:cNvSpPr/>
            <p:nvPr>
              <p:custDataLst>
                <p:tags r:id="rId7"/>
              </p:custDataLst>
            </p:nvPr>
          </p:nvSpPr>
          <p:spPr>
            <a:xfrm>
              <a:off x="4343" y="4556"/>
              <a:ext cx="30" cy="210"/>
            </a:xfrm>
            <a:prstGeom prst="rect">
              <a:avLst/>
            </a:prstGeom>
            <a:solidFill>
              <a:srgbClr val="7C3AED">
                <a:alpha val="30000"/>
              </a:srgbClr>
            </a:solidFill>
          </p:spPr>
          <p:txBody>
            <a:bodyPr wrap="none" lIns="0" tIns="0" rIns="0" bIns="0" rtlCol="0" anchor="ctr">
              <a:noAutofit/>
            </a:bodyPr>
            <a:lstStyle/>
            <a:p>
              <a:pPr marL="0" indent="0">
                <a:buNone/>
              </a:pPr>
              <a:endParaRPr lang="en-US" sz="1700" dirty="0">
                <a:latin typeface="Georgia Pro Cond Light" panose="02040306050405020303" charset="0"/>
                <a:cs typeface="Georgia Pro Cond Light" panose="02040306050405020303" charset="0"/>
              </a:endParaRPr>
            </a:p>
          </p:txBody>
        </p:sp>
        <p:sp>
          <p:nvSpPr>
            <p:cNvPr id="37" name="Text 6"/>
            <p:cNvSpPr/>
            <p:nvPr>
              <p:custDataLst>
                <p:tags r:id="rId8"/>
              </p:custDataLst>
            </p:nvPr>
          </p:nvSpPr>
          <p:spPr>
            <a:xfrm>
              <a:off x="1125" y="4886"/>
              <a:ext cx="6467" cy="847"/>
            </a:xfrm>
            <a:prstGeom prst="roundRect">
              <a:avLst>
                <a:gd name="adj" fmla="val 136042"/>
              </a:avLst>
            </a:prstGeom>
            <a:solidFill>
              <a:srgbClr val="0891B2">
                <a:alpha val="89000"/>
              </a:srgbClr>
            </a:solidFill>
          </p:spPr>
          <p:txBody>
            <a:bodyPr wrap="none" lIns="0" tIns="0" rIns="0" bIns="0" rtlCol="0" anchor="ctr">
              <a:normAutofit/>
            </a:bodyPr>
            <a:lstStyle/>
            <a:p>
              <a:pPr marL="0" indent="0">
                <a:buNone/>
              </a:pPr>
              <a:endParaRPr lang="en-US" dirty="0">
                <a:latin typeface="Georgia Pro Cond Light" panose="02040306050405020303" charset="0"/>
                <a:cs typeface="Georgia Pro Cond Light" panose="02040306050405020303" charset="0"/>
              </a:endParaRPr>
            </a:p>
          </p:txBody>
        </p:sp>
        <p:sp>
          <p:nvSpPr>
            <p:cNvPr id="39" name="Text 17"/>
            <p:cNvSpPr/>
            <p:nvPr>
              <p:custDataLst>
                <p:tags r:id="rId9"/>
              </p:custDataLst>
            </p:nvPr>
          </p:nvSpPr>
          <p:spPr>
            <a:xfrm>
              <a:off x="1740" y="2442"/>
              <a:ext cx="4758" cy="288"/>
            </a:xfrm>
            <a:prstGeom prst="rect">
              <a:avLst/>
            </a:prstGeom>
            <a:noFill/>
          </p:spPr>
          <p:txBody>
            <a:bodyPr wrap="square" lIns="0" tIns="0" rIns="0" bIns="0" rtlCol="0" anchor="t"/>
            <a:lstStyle/>
            <a:p>
              <a:pPr marL="0" indent="0">
                <a:lnSpc>
                  <a:spcPts val="1440"/>
                </a:lnSpc>
                <a:buNone/>
              </a:pPr>
              <a:r>
                <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rPr>
                <a:t>Input Layer</a:t>
              </a:r>
              <a:endPar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40" name="Text 18"/>
            <p:cNvSpPr/>
            <p:nvPr>
              <p:custDataLst>
                <p:tags r:id="rId10"/>
              </p:custDataLst>
            </p:nvPr>
          </p:nvSpPr>
          <p:spPr>
            <a:xfrm>
              <a:off x="1740" y="2755"/>
              <a:ext cx="5566" cy="282"/>
            </a:xfrm>
            <a:prstGeom prst="rect">
              <a:avLst/>
            </a:prstGeom>
            <a:noFill/>
          </p:spPr>
          <p:txBody>
            <a:bodyPr wrap="square" lIns="0" tIns="0" rIns="0" bIns="0" rtlCol="0" anchor="t"/>
            <a:lstStyle/>
            <a:p>
              <a:pPr marL="0" indent="0">
                <a:lnSpc>
                  <a:spcPts val="1295"/>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4 features: Recency, Frequency, Monetary, AvgOrderValue</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42" name="Text 20"/>
            <p:cNvSpPr/>
            <p:nvPr>
              <p:custDataLst>
                <p:tags r:id="rId11"/>
              </p:custDataLst>
            </p:nvPr>
          </p:nvSpPr>
          <p:spPr>
            <a:xfrm>
              <a:off x="1740" y="3739"/>
              <a:ext cx="4483" cy="288"/>
            </a:xfrm>
            <a:prstGeom prst="rect">
              <a:avLst/>
            </a:prstGeom>
            <a:noFill/>
          </p:spPr>
          <p:txBody>
            <a:bodyPr wrap="square" lIns="0" tIns="0" rIns="0" bIns="0" rtlCol="0" anchor="t"/>
            <a:lstStyle/>
            <a:p>
              <a:pPr marL="0" indent="0">
                <a:lnSpc>
                  <a:spcPts val="1440"/>
                </a:lnSpc>
                <a:buNone/>
              </a:pPr>
              <a:r>
                <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rPr>
                <a:t>Gradient Boosting (GBM)</a:t>
              </a:r>
              <a:endPar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43" name="Text 21"/>
            <p:cNvSpPr/>
            <p:nvPr>
              <p:custDataLst>
                <p:tags r:id="rId12"/>
              </p:custDataLst>
            </p:nvPr>
          </p:nvSpPr>
          <p:spPr>
            <a:xfrm>
              <a:off x="1740" y="4063"/>
              <a:ext cx="5566" cy="259"/>
            </a:xfrm>
            <a:prstGeom prst="rect">
              <a:avLst/>
            </a:prstGeom>
            <a:noFill/>
          </p:spPr>
          <p:txBody>
            <a:bodyPr wrap="square" lIns="0" tIns="0" rIns="0" bIns="0" rtlCol="0" anchor="t"/>
            <a:lstStyle/>
            <a:p>
              <a:pPr marL="0" indent="0">
                <a:lnSpc>
                  <a:spcPts val="1295"/>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n_estimators=120, max_depth=4, learning_rate=0.05</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45" name="Text 23"/>
            <p:cNvSpPr/>
            <p:nvPr>
              <p:custDataLst>
                <p:tags r:id="rId13"/>
              </p:custDataLst>
            </p:nvPr>
          </p:nvSpPr>
          <p:spPr>
            <a:xfrm>
              <a:off x="1740" y="5036"/>
              <a:ext cx="4514" cy="288"/>
            </a:xfrm>
            <a:prstGeom prst="rect">
              <a:avLst/>
            </a:prstGeom>
            <a:noFill/>
          </p:spPr>
          <p:txBody>
            <a:bodyPr wrap="square" lIns="0" tIns="0" rIns="0" bIns="0" rtlCol="0" anchor="t"/>
            <a:lstStyle/>
            <a:p>
              <a:pPr marL="0" indent="0">
                <a:lnSpc>
                  <a:spcPts val="1440"/>
                </a:lnSpc>
                <a:buNone/>
              </a:pPr>
              <a:r>
                <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rPr>
                <a:t>Dual Output</a:t>
              </a:r>
              <a:endParaRPr lang="en-US" sz="1600" b="1"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sp>
          <p:nvSpPr>
            <p:cNvPr id="46" name="Text 24"/>
            <p:cNvSpPr/>
            <p:nvPr>
              <p:custDataLst>
                <p:tags r:id="rId14"/>
              </p:custDataLst>
            </p:nvPr>
          </p:nvSpPr>
          <p:spPr>
            <a:xfrm>
              <a:off x="1740" y="5371"/>
              <a:ext cx="5565" cy="259"/>
            </a:xfrm>
            <a:prstGeom prst="rect">
              <a:avLst/>
            </a:prstGeom>
            <a:noFill/>
          </p:spPr>
          <p:txBody>
            <a:bodyPr wrap="square" lIns="0" tIns="0" rIns="0" bIns="0" rtlCol="0" anchor="t"/>
            <a:lstStyle/>
            <a:p>
              <a:pPr marL="0" indent="0">
                <a:lnSpc>
                  <a:spcPts val="1295"/>
                </a:lnSpc>
                <a:buNone/>
              </a:pPr>
              <a:r>
                <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rPr>
                <a:t>Segment label + Risk tier (High/Mid/Low) with probabilities</a:t>
              </a:r>
              <a:endParaRPr lang="en-US" sz="1600" dirty="0">
                <a:solidFill>
                  <a:schemeClr val="bg2"/>
                </a:solidFill>
                <a:latin typeface="Georgia Pro Cond Light" panose="02040306050405020303" charset="0"/>
                <a:ea typeface="SimSun" panose="02010600030101010101" pitchFamily="2" charset="-122"/>
                <a:cs typeface="Georgia Pro Cond Light" panose="02040306050405020303" charset="0"/>
              </a:endParaRPr>
            </a:p>
          </p:txBody>
        </p:sp>
      </p:grpSp>
      <p:sp>
        <p:nvSpPr>
          <p:cNvPr id="48" name="Flowchart: Sort 47"/>
          <p:cNvSpPr/>
          <p:nvPr>
            <p:custDataLst>
              <p:tags r:id="rId15"/>
            </p:custDataLst>
          </p:nvPr>
        </p:nvSpPr>
        <p:spPr>
          <a:xfrm>
            <a:off x="960755" y="2463165"/>
            <a:ext cx="196215" cy="274955"/>
          </a:xfrm>
          <a:prstGeom prst="flowChartSor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9" name="Flowchart: Sort 48"/>
          <p:cNvSpPr/>
          <p:nvPr>
            <p:custDataLst>
              <p:tags r:id="rId16"/>
            </p:custDataLst>
          </p:nvPr>
        </p:nvSpPr>
        <p:spPr>
          <a:xfrm>
            <a:off x="960755" y="3596005"/>
            <a:ext cx="196215" cy="274955"/>
          </a:xfrm>
          <a:prstGeom prst="flowChartSor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0" name="Flowchart: Sort 49"/>
          <p:cNvSpPr/>
          <p:nvPr>
            <p:custDataLst>
              <p:tags r:id="rId17"/>
            </p:custDataLst>
          </p:nvPr>
        </p:nvSpPr>
        <p:spPr>
          <a:xfrm>
            <a:off x="960755" y="4728845"/>
            <a:ext cx="196215" cy="274955"/>
          </a:xfrm>
          <a:prstGeom prst="flowChartSor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grpSp>
        <p:nvGrpSpPr>
          <p:cNvPr id="64" name="Group 63"/>
          <p:cNvGrpSpPr/>
          <p:nvPr/>
        </p:nvGrpSpPr>
        <p:grpSpPr>
          <a:xfrm>
            <a:off x="7061200" y="2056765"/>
            <a:ext cx="4250055" cy="3500120"/>
            <a:chOff x="8432" y="2292"/>
            <a:chExt cx="4843" cy="3288"/>
          </a:xfrm>
        </p:grpSpPr>
        <p:sp>
          <p:nvSpPr>
            <p:cNvPr id="66" name="Text 35"/>
            <p:cNvSpPr/>
            <p:nvPr/>
          </p:nvSpPr>
          <p:spPr>
            <a:xfrm>
              <a:off x="8432" y="2352"/>
              <a:ext cx="205" cy="360"/>
            </a:xfrm>
            <a:prstGeom prst="rect">
              <a:avLst/>
            </a:prstGeom>
            <a:noFill/>
          </p:spPr>
          <p:txBody>
            <a:bodyPr wrap="square" lIns="0" tIns="0" rIns="0" bIns="0" rtlCol="0" anchor="t"/>
            <a:lstStyle/>
            <a:p>
              <a:pPr marL="0" indent="0">
                <a:lnSpc>
                  <a:spcPts val="1800"/>
                </a:lnSpc>
                <a:buNone/>
              </a:pPr>
              <a:r>
                <a:rPr lang="en-US" dirty="0">
                  <a:solidFill>
                    <a:srgbClr val="2563EB"/>
                  </a:solidFill>
                  <a:latin typeface="Georgia Pro Cond Light" panose="02040306050405020303" charset="0"/>
                  <a:ea typeface="SimSun" panose="02010600030101010101" pitchFamily="2" charset="-122"/>
                  <a:cs typeface="SimSun" panose="02010600030101010101" pitchFamily="2" charset="-122"/>
                </a:rPr>
                <a:t>✓</a:t>
              </a:r>
              <a:endParaRPr lang="en-US" dirty="0">
                <a:solidFill>
                  <a:srgbClr val="2563EB"/>
                </a:solidFill>
                <a:latin typeface="Georgia Pro Cond Light" panose="02040306050405020303" charset="0"/>
                <a:ea typeface="SimSun" panose="02010600030101010101" pitchFamily="2" charset="-122"/>
                <a:cs typeface="SimSun" panose="02010600030101010101" pitchFamily="2" charset="-122"/>
              </a:endParaRPr>
            </a:p>
          </p:txBody>
        </p:sp>
        <p:sp>
          <p:nvSpPr>
            <p:cNvPr id="67" name="Text 36"/>
            <p:cNvSpPr/>
            <p:nvPr/>
          </p:nvSpPr>
          <p:spPr>
            <a:xfrm>
              <a:off x="8753" y="2292"/>
              <a:ext cx="4522" cy="562"/>
            </a:xfrm>
            <a:prstGeom prst="rect">
              <a:avLst/>
            </a:prstGeom>
            <a:noFill/>
          </p:spPr>
          <p:txBody>
            <a:bodyPr wrap="square" lIns="0" tIns="0" rIns="0" bIns="0" rtlCol="0" anchor="t"/>
            <a:lstStyle/>
            <a:p>
              <a:pPr marL="0" indent="0">
                <a:lnSpc>
                  <a:spcPct val="100000"/>
                </a:lnSpc>
                <a:buNone/>
              </a:pPr>
              <a:r>
                <a:rPr lang="en-US" b="1" dirty="0">
                  <a:solidFill>
                    <a:srgbClr val="334155"/>
                  </a:solidFill>
                  <a:latin typeface="Georgia Pro Cond Light" panose="02040306050405020303" charset="0"/>
                  <a:ea typeface="SimSun" panose="02010600030101010101" pitchFamily="2" charset="-122"/>
                  <a:cs typeface="Georgia Pro Cond Light" panose="02040306050405020303" charset="0"/>
                </a:rPr>
                <a:t>Handles non-linearity</a:t>
              </a:r>
              <a:r>
                <a:rPr lang="en-US" dirty="0">
                  <a:solidFill>
                    <a:srgbClr val="334155"/>
                  </a:solidFill>
                  <a:latin typeface="Georgia Pro Cond Light" panose="02040306050405020303" charset="0"/>
                  <a:ea typeface="SimSun" panose="02010600030101010101" pitchFamily="2" charset="-122"/>
                  <a:cs typeface="Georgia Pro Cond Light" panose="02040306050405020303" charset="0"/>
                </a:rPr>
                <a:t> in RFM feature interactions without manual polynomial expansion</a:t>
              </a:r>
              <a:endParaRPr lang="en-US" dirty="0">
                <a:latin typeface="Georgia Pro Cond Light" panose="02040306050405020303" charset="0"/>
                <a:cs typeface="Georgia Pro Cond Light" panose="02040306050405020303" charset="0"/>
              </a:endParaRPr>
            </a:p>
          </p:txBody>
        </p:sp>
        <p:sp>
          <p:nvSpPr>
            <p:cNvPr id="68" name="Text 37"/>
            <p:cNvSpPr/>
            <p:nvPr/>
          </p:nvSpPr>
          <p:spPr>
            <a:xfrm>
              <a:off x="8432" y="3174"/>
              <a:ext cx="205" cy="360"/>
            </a:xfrm>
            <a:prstGeom prst="rect">
              <a:avLst/>
            </a:prstGeom>
            <a:noFill/>
          </p:spPr>
          <p:txBody>
            <a:bodyPr wrap="square" lIns="0" tIns="0" rIns="0" bIns="0" rtlCol="0" anchor="t"/>
            <a:lstStyle/>
            <a:p>
              <a:pPr marL="0" indent="0">
                <a:lnSpc>
                  <a:spcPts val="1800"/>
                </a:lnSpc>
                <a:buNone/>
              </a:pPr>
              <a:r>
                <a:rPr lang="en-US" dirty="0">
                  <a:solidFill>
                    <a:srgbClr val="7C3AED"/>
                  </a:solidFill>
                  <a:latin typeface="Georgia Pro Cond Light" panose="02040306050405020303" charset="0"/>
                  <a:ea typeface="SimSun" panose="02010600030101010101" pitchFamily="2" charset="-122"/>
                  <a:cs typeface="SimSun" panose="02010600030101010101" pitchFamily="2" charset="-122"/>
                </a:rPr>
                <a:t>✓</a:t>
              </a:r>
              <a:endParaRPr lang="en-US" dirty="0">
                <a:solidFill>
                  <a:srgbClr val="7C3AED"/>
                </a:solidFill>
                <a:latin typeface="Georgia Pro Cond Light" panose="02040306050405020303" charset="0"/>
                <a:ea typeface="SimSun" panose="02010600030101010101" pitchFamily="2" charset="-122"/>
                <a:cs typeface="SimSun" panose="02010600030101010101" pitchFamily="2" charset="-122"/>
              </a:endParaRPr>
            </a:p>
          </p:txBody>
        </p:sp>
        <p:sp>
          <p:nvSpPr>
            <p:cNvPr id="69" name="Text 38"/>
            <p:cNvSpPr/>
            <p:nvPr/>
          </p:nvSpPr>
          <p:spPr>
            <a:xfrm>
              <a:off x="8753" y="3124"/>
              <a:ext cx="4522" cy="562"/>
            </a:xfrm>
            <a:prstGeom prst="rect">
              <a:avLst/>
            </a:prstGeom>
            <a:noFill/>
          </p:spPr>
          <p:txBody>
            <a:bodyPr wrap="square" lIns="0" tIns="0" rIns="0" bIns="0" rtlCol="0" anchor="t"/>
            <a:lstStyle/>
            <a:p>
              <a:pPr marL="0" indent="0">
                <a:lnSpc>
                  <a:spcPct val="100000"/>
                </a:lnSpc>
                <a:buNone/>
              </a:pPr>
              <a:r>
                <a:rPr lang="en-US" b="1" dirty="0">
                  <a:solidFill>
                    <a:srgbClr val="334155"/>
                  </a:solidFill>
                  <a:latin typeface="Georgia Pro Cond Light" panose="02040306050405020303" charset="0"/>
                  <a:ea typeface="SimSun" panose="02010600030101010101" pitchFamily="2" charset="-122"/>
                  <a:cs typeface="Georgia Pro Cond Light" panose="02040306050405020303" charset="0"/>
                </a:rPr>
                <a:t>Robust to outliers</a:t>
              </a:r>
              <a:r>
                <a:rPr lang="en-US" dirty="0">
                  <a:solidFill>
                    <a:srgbClr val="334155"/>
                  </a:solidFill>
                  <a:latin typeface="Georgia Pro Cond Light" panose="02040306050405020303" charset="0"/>
                  <a:ea typeface="SimSun" panose="02010600030101010101" pitchFamily="2" charset="-122"/>
                  <a:cs typeface="Georgia Pro Cond Light" panose="02040306050405020303" charset="0"/>
                </a:rPr>
                <a:t> — boosting iteratively corrects for hard-to-classify edge cases</a:t>
              </a:r>
              <a:endParaRPr lang="en-US" dirty="0">
                <a:latin typeface="Georgia Pro Cond Light" panose="02040306050405020303" charset="0"/>
                <a:cs typeface="Georgia Pro Cond Light" panose="02040306050405020303" charset="0"/>
              </a:endParaRPr>
            </a:p>
          </p:txBody>
        </p:sp>
        <p:sp>
          <p:nvSpPr>
            <p:cNvPr id="70" name="Text 39"/>
            <p:cNvSpPr/>
            <p:nvPr/>
          </p:nvSpPr>
          <p:spPr>
            <a:xfrm>
              <a:off x="8432" y="3785"/>
              <a:ext cx="205" cy="360"/>
            </a:xfrm>
            <a:prstGeom prst="rect">
              <a:avLst/>
            </a:prstGeom>
            <a:noFill/>
          </p:spPr>
          <p:txBody>
            <a:bodyPr wrap="square" lIns="0" tIns="0" rIns="0" bIns="0" rtlCol="0" anchor="t"/>
            <a:lstStyle/>
            <a:p>
              <a:pPr marL="0" indent="0">
                <a:lnSpc>
                  <a:spcPts val="1800"/>
                </a:lnSpc>
                <a:buNone/>
              </a:pPr>
              <a:r>
                <a:rPr lang="en-US" dirty="0">
                  <a:solidFill>
                    <a:srgbClr val="0891B2"/>
                  </a:solidFill>
                  <a:latin typeface="Georgia Pro Cond Light" panose="02040306050405020303" charset="0"/>
                  <a:ea typeface="SimSun" panose="02010600030101010101" pitchFamily="2" charset="-122"/>
                  <a:cs typeface="SimSun" panose="02010600030101010101" pitchFamily="2" charset="-122"/>
                </a:rPr>
                <a:t>✓</a:t>
              </a:r>
              <a:endParaRPr lang="en-US" dirty="0">
                <a:solidFill>
                  <a:srgbClr val="0891B2"/>
                </a:solidFill>
                <a:latin typeface="Georgia Pro Cond Light" panose="02040306050405020303" charset="0"/>
                <a:ea typeface="SimSun" panose="02010600030101010101" pitchFamily="2" charset="-122"/>
                <a:cs typeface="SimSun" panose="02010600030101010101" pitchFamily="2" charset="-122"/>
              </a:endParaRPr>
            </a:p>
          </p:txBody>
        </p:sp>
        <p:sp>
          <p:nvSpPr>
            <p:cNvPr id="71" name="Text 40"/>
            <p:cNvSpPr/>
            <p:nvPr/>
          </p:nvSpPr>
          <p:spPr>
            <a:xfrm>
              <a:off x="8753" y="3725"/>
              <a:ext cx="4522" cy="562"/>
            </a:xfrm>
            <a:prstGeom prst="rect">
              <a:avLst/>
            </a:prstGeom>
            <a:noFill/>
          </p:spPr>
          <p:txBody>
            <a:bodyPr wrap="square" lIns="0" tIns="0" rIns="0" bIns="0" rtlCol="0" anchor="t"/>
            <a:lstStyle/>
            <a:p>
              <a:pPr marL="0" indent="0">
                <a:lnSpc>
                  <a:spcPct val="100000"/>
                </a:lnSpc>
                <a:buNone/>
              </a:pPr>
              <a:r>
                <a:rPr lang="en-US" b="1" dirty="0">
                  <a:solidFill>
                    <a:srgbClr val="334155"/>
                  </a:solidFill>
                  <a:latin typeface="Georgia Pro Cond Light" panose="02040306050405020303" charset="0"/>
                  <a:ea typeface="SimSun" panose="02010600030101010101" pitchFamily="2" charset="-122"/>
                  <a:cs typeface="Georgia Pro Cond Light" panose="02040306050405020303" charset="0"/>
                </a:rPr>
                <a:t>Feature importance</a:t>
              </a:r>
              <a:r>
                <a:rPr lang="en-US" dirty="0">
                  <a:solidFill>
                    <a:srgbClr val="334155"/>
                  </a:solidFill>
                  <a:latin typeface="Georgia Pro Cond Light" panose="02040306050405020303" charset="0"/>
                  <a:ea typeface="SimSun" panose="02010600030101010101" pitchFamily="2" charset="-122"/>
                  <a:cs typeface="Georgia Pro Cond Light" panose="02040306050405020303" charset="0"/>
                </a:rPr>
                <a:t> built-in — interpretable for business stakeholders</a:t>
              </a:r>
              <a:endParaRPr lang="en-US" dirty="0">
                <a:latin typeface="Georgia Pro Cond Light" panose="02040306050405020303" charset="0"/>
                <a:cs typeface="Georgia Pro Cond Light" panose="02040306050405020303" charset="0"/>
              </a:endParaRPr>
            </a:p>
          </p:txBody>
        </p:sp>
        <p:sp>
          <p:nvSpPr>
            <p:cNvPr id="72" name="Text 41"/>
            <p:cNvSpPr/>
            <p:nvPr/>
          </p:nvSpPr>
          <p:spPr>
            <a:xfrm>
              <a:off x="8432" y="4427"/>
              <a:ext cx="205" cy="360"/>
            </a:xfrm>
            <a:prstGeom prst="rect">
              <a:avLst/>
            </a:prstGeom>
            <a:noFill/>
          </p:spPr>
          <p:txBody>
            <a:bodyPr wrap="square" lIns="0" tIns="0" rIns="0" bIns="0" rtlCol="0" anchor="t"/>
            <a:lstStyle/>
            <a:p>
              <a:pPr marL="0" indent="0">
                <a:lnSpc>
                  <a:spcPts val="1800"/>
                </a:lnSpc>
                <a:buNone/>
              </a:pPr>
              <a:r>
                <a:rPr lang="en-US" dirty="0">
                  <a:solidFill>
                    <a:srgbClr val="059669"/>
                  </a:solidFill>
                  <a:latin typeface="Georgia Pro Cond Light" panose="02040306050405020303" charset="0"/>
                  <a:ea typeface="SimSun" panose="02010600030101010101" pitchFamily="2" charset="-122"/>
                  <a:cs typeface="SimSun" panose="02010600030101010101" pitchFamily="2" charset="-122"/>
                </a:rPr>
                <a:t>✓</a:t>
              </a:r>
              <a:endParaRPr lang="en-US" dirty="0">
                <a:solidFill>
                  <a:srgbClr val="059669"/>
                </a:solidFill>
                <a:latin typeface="Georgia Pro Cond Light" panose="02040306050405020303" charset="0"/>
                <a:ea typeface="SimSun" panose="02010600030101010101" pitchFamily="2" charset="-122"/>
                <a:cs typeface="SimSun" panose="02010600030101010101" pitchFamily="2" charset="-122"/>
              </a:endParaRPr>
            </a:p>
          </p:txBody>
        </p:sp>
        <p:sp>
          <p:nvSpPr>
            <p:cNvPr id="73" name="Text 42"/>
            <p:cNvSpPr/>
            <p:nvPr/>
          </p:nvSpPr>
          <p:spPr>
            <a:xfrm>
              <a:off x="8753" y="4367"/>
              <a:ext cx="4522" cy="562"/>
            </a:xfrm>
            <a:prstGeom prst="rect">
              <a:avLst/>
            </a:prstGeom>
            <a:noFill/>
          </p:spPr>
          <p:txBody>
            <a:bodyPr wrap="square" lIns="0" tIns="0" rIns="0" bIns="0" rtlCol="0" anchor="t"/>
            <a:lstStyle/>
            <a:p>
              <a:pPr marL="0" indent="0">
                <a:lnSpc>
                  <a:spcPct val="100000"/>
                </a:lnSpc>
                <a:buNone/>
              </a:pPr>
              <a:r>
                <a:rPr lang="en-US" b="1" dirty="0">
                  <a:solidFill>
                    <a:srgbClr val="334155"/>
                  </a:solidFill>
                  <a:latin typeface="Georgia Pro Cond Light" panose="02040306050405020303" charset="0"/>
                  <a:ea typeface="SimSun" panose="02010600030101010101" pitchFamily="2" charset="-122"/>
                  <a:cs typeface="Georgia Pro Cond Light" panose="02040306050405020303" charset="0"/>
                </a:rPr>
                <a:t>Outperformed</a:t>
              </a:r>
              <a:r>
                <a:rPr lang="en-US" dirty="0">
                  <a:solidFill>
                    <a:srgbClr val="334155"/>
                  </a:solidFill>
                  <a:latin typeface="Georgia Pro Cond Light" panose="02040306050405020303" charset="0"/>
                  <a:ea typeface="SimSun" panose="02010600030101010101" pitchFamily="2" charset="-122"/>
                  <a:cs typeface="Georgia Pro Cond Light" panose="02040306050405020303" charset="0"/>
                </a:rPr>
                <a:t> Random Forest and SVM in cross-validation</a:t>
              </a:r>
              <a:endParaRPr lang="en-US" dirty="0">
                <a:latin typeface="Georgia Pro Cond Light" panose="02040306050405020303" charset="0"/>
                <a:cs typeface="Georgia Pro Cond Light" panose="02040306050405020303" charset="0"/>
              </a:endParaRPr>
            </a:p>
          </p:txBody>
        </p:sp>
        <p:sp>
          <p:nvSpPr>
            <p:cNvPr id="74" name="Text 43"/>
            <p:cNvSpPr/>
            <p:nvPr/>
          </p:nvSpPr>
          <p:spPr>
            <a:xfrm>
              <a:off x="8432" y="5088"/>
              <a:ext cx="205" cy="360"/>
            </a:xfrm>
            <a:prstGeom prst="rect">
              <a:avLst/>
            </a:prstGeom>
            <a:noFill/>
          </p:spPr>
          <p:txBody>
            <a:bodyPr wrap="square" lIns="0" tIns="0" rIns="0" bIns="0" rtlCol="0" anchor="t"/>
            <a:lstStyle/>
            <a:p>
              <a:pPr marL="0" indent="0">
                <a:lnSpc>
                  <a:spcPts val="1800"/>
                </a:lnSpc>
                <a:buNone/>
              </a:pPr>
              <a:r>
                <a:rPr lang="en-US" dirty="0">
                  <a:solidFill>
                    <a:srgbClr val="D97706"/>
                  </a:solidFill>
                  <a:latin typeface="Georgia Pro Cond Light" panose="02040306050405020303" charset="0"/>
                  <a:ea typeface="SimSun" panose="02010600030101010101" pitchFamily="2" charset="-122"/>
                  <a:cs typeface="SimSun" panose="02010600030101010101" pitchFamily="2" charset="-122"/>
                </a:rPr>
                <a:t>✓</a:t>
              </a:r>
              <a:endParaRPr lang="en-US" dirty="0">
                <a:solidFill>
                  <a:srgbClr val="D97706"/>
                </a:solidFill>
                <a:latin typeface="Georgia Pro Cond Light" panose="02040306050405020303" charset="0"/>
                <a:ea typeface="SimSun" panose="02010600030101010101" pitchFamily="2" charset="-122"/>
                <a:cs typeface="SimSun" panose="02010600030101010101" pitchFamily="2" charset="-122"/>
              </a:endParaRPr>
            </a:p>
          </p:txBody>
        </p:sp>
        <p:sp>
          <p:nvSpPr>
            <p:cNvPr id="75" name="Text 44"/>
            <p:cNvSpPr/>
            <p:nvPr/>
          </p:nvSpPr>
          <p:spPr>
            <a:xfrm>
              <a:off x="8753" y="5018"/>
              <a:ext cx="4522" cy="562"/>
            </a:xfrm>
            <a:prstGeom prst="rect">
              <a:avLst/>
            </a:prstGeom>
            <a:noFill/>
          </p:spPr>
          <p:txBody>
            <a:bodyPr wrap="square" lIns="0" tIns="0" rIns="0" bIns="0" rtlCol="0" anchor="t"/>
            <a:lstStyle/>
            <a:p>
              <a:pPr marL="0" indent="0">
                <a:lnSpc>
                  <a:spcPct val="100000"/>
                </a:lnSpc>
                <a:buNone/>
              </a:pPr>
              <a:r>
                <a:rPr lang="en-US" b="1" dirty="0">
                  <a:solidFill>
                    <a:srgbClr val="334155"/>
                  </a:solidFill>
                  <a:latin typeface="Georgia Pro Cond Light" panose="02040306050405020303" charset="0"/>
                  <a:ea typeface="SimSun" panose="02010600030101010101" pitchFamily="2" charset="-122"/>
                  <a:cs typeface="Georgia Pro Cond Light" panose="02040306050405020303" charset="0"/>
                </a:rPr>
                <a:t>5-fold stratified CV</a:t>
              </a:r>
              <a:r>
                <a:rPr lang="en-US" dirty="0">
                  <a:solidFill>
                    <a:srgbClr val="334155"/>
                  </a:solidFill>
                  <a:latin typeface="Georgia Pro Cond Light" panose="02040306050405020303" charset="0"/>
                  <a:ea typeface="SimSun" panose="02010600030101010101" pitchFamily="2" charset="-122"/>
                  <a:cs typeface="Georgia Pro Cond Light" panose="02040306050405020303" charset="0"/>
                </a:rPr>
                <a:t> — consistent performance across all folds (σ &lt; 0.02)</a:t>
              </a:r>
              <a:endParaRPr lang="en-US" dirty="0">
                <a:latin typeface="Georgia Pro Cond Light" panose="02040306050405020303" charset="0"/>
                <a:cs typeface="Georgia Pro Cond Light" panose="02040306050405020303" charset="0"/>
              </a:endParaRPr>
            </a:p>
          </p:txBody>
        </p:sp>
      </p:grpSp>
      <p:sp>
        <p:nvSpPr>
          <p:cNvPr id="76" name="Text Box 75"/>
          <p:cNvSpPr txBox="1"/>
          <p:nvPr/>
        </p:nvSpPr>
        <p:spPr>
          <a:xfrm>
            <a:off x="7240905" y="1696085"/>
            <a:ext cx="4064000" cy="360680"/>
          </a:xfrm>
          <a:prstGeom prst="rect">
            <a:avLst/>
          </a:prstGeom>
          <a:noFill/>
        </p:spPr>
        <p:txBody>
          <a:bodyPr wrap="square" rtlCol="0" anchor="ctr" anchorCtr="0">
            <a:noAutofit/>
          </a:bodyPr>
          <a:p>
            <a:pPr algn="ctr">
              <a:lnSpc>
                <a:spcPct val="100000"/>
              </a:lnSpc>
            </a:pPr>
            <a:r>
              <a:rPr lang="en-US" b="1" dirty="0">
                <a:solidFill>
                  <a:srgbClr val="C00000"/>
                </a:solidFill>
                <a:latin typeface="Georgia Pro Cond Light" panose="02040306050405020303" charset="0"/>
                <a:ea typeface="SimSun" panose="02010600030101010101" pitchFamily="2" charset="-122"/>
                <a:cs typeface="Georgia Pro Cond Light" panose="02040306050405020303" charset="0"/>
                <a:sym typeface="+mn-ea"/>
              </a:rPr>
              <a:t>Model Selection Rationale</a:t>
            </a:r>
            <a:endParaRPr lang="en-US"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a:p>
            <a:pPr algn="ctr"/>
            <a:endParaRPr lang="en-US" altLang="en-US"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77" name="Text Box 76"/>
          <p:cNvSpPr txBox="1"/>
          <p:nvPr/>
        </p:nvSpPr>
        <p:spPr>
          <a:xfrm>
            <a:off x="527050" y="1066800"/>
            <a:ext cx="10834370" cy="538480"/>
          </a:xfrm>
          <a:prstGeom prst="rect">
            <a:avLst/>
          </a:prstGeom>
          <a:noFill/>
        </p:spPr>
        <p:txBody>
          <a:bodyPr wrap="square" rtlCol="0">
            <a:noAutofit/>
          </a:bodyPr>
          <a:p>
            <a:r>
              <a:rPr lang="en-US" dirty="0">
                <a:solidFill>
                  <a:srgbClr val="64748B"/>
                </a:solidFill>
                <a:latin typeface="Georgia Pro Cond Light" panose="02040306050405020303" charset="0"/>
                <a:ea typeface="SimSun" panose="02010600030101010101" pitchFamily="2" charset="-122"/>
                <a:cs typeface="Georgia Pro Cond Light" panose="02040306050405020303" charset="0"/>
                <a:sym typeface="+mn-ea"/>
              </a:rPr>
              <a:t>Gradient Boosting Classifier trained on RFM features to predict segment &amp; risk tier in real-time.</a:t>
            </a:r>
            <a:endParaRPr lang="en-US" dirty="0">
              <a:latin typeface="Georgia Pro Cond Light" panose="02040306050405020303" charset="0"/>
              <a:cs typeface="Georgia Pro Cond Light" panose="02040306050405020303" charset="0"/>
            </a:endParaRPr>
          </a:p>
          <a:p>
            <a:endParaRPr lang="en-US" altLang="en-US" dirty="0">
              <a:latin typeface="Georgia Pro Cond Light" panose="02040306050405020303" charset="0"/>
              <a:cs typeface="Georgia Pro Cond Light" panose="02040306050405020303"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a:latin typeface="Georgia Pro Cond Light" panose="02040306050405020303" charset="0"/>
                <a:cs typeface="Georgia Pro Cond Light" panose="02040306050405020303" charset="0"/>
              </a:rPr>
              <a:t>Model Evaluation and Results</a:t>
            </a:r>
            <a:endParaRPr lang="en-US" altLang="en-GB">
              <a:latin typeface="Georgia Pro Cond Light" panose="02040306050405020303" charset="0"/>
              <a:cs typeface="Georgia Pro Cond Light" panose="02040306050405020303" charset="0"/>
            </a:endParaRPr>
          </a:p>
        </p:txBody>
      </p:sp>
      <p:sp>
        <p:nvSpPr>
          <p:cNvPr id="52" name="Text Box 51"/>
          <p:cNvSpPr txBox="1"/>
          <p:nvPr/>
        </p:nvSpPr>
        <p:spPr>
          <a:xfrm>
            <a:off x="1868805" y="1469390"/>
            <a:ext cx="4064000" cy="368300"/>
          </a:xfrm>
          <a:prstGeom prst="rect">
            <a:avLst/>
          </a:prstGeom>
          <a:noFill/>
        </p:spPr>
        <p:txBody>
          <a:bodyPr wrap="square" rtlCol="0">
            <a:spAutoFit/>
          </a:bodyPr>
          <a:p>
            <a:pPr algn="ctr"/>
            <a:r>
              <a:rPr lang="en-US" altLang="en-GB">
                <a:solidFill>
                  <a:srgbClr val="C00000"/>
                </a:solidFill>
                <a:latin typeface="Georgia Pro Cond" panose="02040506050405020303" charset="0"/>
                <a:cs typeface="Georgia Pro Cond" panose="02040506050405020303" charset="0"/>
              </a:rPr>
              <a:t>Performance Metrics</a:t>
            </a:r>
            <a:endParaRPr lang="en-US" altLang="en-GB">
              <a:solidFill>
                <a:srgbClr val="C00000"/>
              </a:solidFill>
              <a:latin typeface="Georgia Pro Cond" panose="02040506050405020303" charset="0"/>
              <a:cs typeface="Georgia Pro Cond" panose="02040506050405020303" charset="0"/>
            </a:endParaRPr>
          </a:p>
        </p:txBody>
      </p:sp>
      <p:sp>
        <p:nvSpPr>
          <p:cNvPr id="49" name="Flowchart: Sort 48"/>
          <p:cNvSpPr/>
          <p:nvPr>
            <p:custDataLst>
              <p:tags r:id="rId1"/>
            </p:custDataLst>
          </p:nvPr>
        </p:nvSpPr>
        <p:spPr>
          <a:xfrm>
            <a:off x="960755" y="3297555"/>
            <a:ext cx="196215" cy="274955"/>
          </a:xfrm>
          <a:prstGeom prst="flowChartSor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0" name="Flowchart: Sort 49"/>
          <p:cNvSpPr/>
          <p:nvPr>
            <p:custDataLst>
              <p:tags r:id="rId2"/>
            </p:custDataLst>
          </p:nvPr>
        </p:nvSpPr>
        <p:spPr>
          <a:xfrm>
            <a:off x="960755" y="4430395"/>
            <a:ext cx="196215" cy="274955"/>
          </a:xfrm>
          <a:prstGeom prst="flowChartSor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8" name="Text Box 7"/>
          <p:cNvSpPr txBox="1"/>
          <p:nvPr/>
        </p:nvSpPr>
        <p:spPr>
          <a:xfrm>
            <a:off x="8325485" y="1469390"/>
            <a:ext cx="3571240" cy="368300"/>
          </a:xfrm>
          <a:prstGeom prst="rect">
            <a:avLst/>
          </a:prstGeom>
          <a:solidFill>
            <a:schemeClr val="bg1"/>
          </a:solidFill>
        </p:spPr>
        <p:txBody>
          <a:bodyPr wrap="square" rtlCol="0">
            <a:spAutoFit/>
          </a:bodyPr>
          <a:p>
            <a:pPr algn="ctr"/>
            <a:r>
              <a:rPr lang="en-US" altLang="en-GB">
                <a:solidFill>
                  <a:srgbClr val="C00000"/>
                </a:solidFill>
                <a:latin typeface="Georgia Pro Cond" panose="02040506050405020303" charset="0"/>
                <a:cs typeface="Georgia Pro Cond" panose="02040506050405020303" charset="0"/>
              </a:rPr>
              <a:t>Confusion Matrix</a:t>
            </a:r>
            <a:endParaRPr lang="en-US" altLang="en-GB">
              <a:solidFill>
                <a:srgbClr val="C00000"/>
              </a:solidFill>
              <a:latin typeface="Georgia Pro Cond" panose="02040506050405020303" charset="0"/>
              <a:cs typeface="Georgia Pro Cond" panose="02040506050405020303" charset="0"/>
            </a:endParaRPr>
          </a:p>
        </p:txBody>
      </p:sp>
      <p:sp>
        <p:nvSpPr>
          <p:cNvPr id="9" name="Flowchart: Alternate Process 8"/>
          <p:cNvSpPr/>
          <p:nvPr/>
        </p:nvSpPr>
        <p:spPr>
          <a:xfrm>
            <a:off x="1251585" y="2447925"/>
            <a:ext cx="1388745" cy="454025"/>
          </a:xfrm>
          <a:prstGeom prst="flowChartAlternateProcess">
            <a:avLst/>
          </a:prstGeom>
          <a:solidFill>
            <a:schemeClr val="accent2"/>
          </a:solidFill>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Georgia Pro Cond Light" panose="02040306050405020303" charset="0"/>
                <a:cs typeface="Georgia Pro Cond Light" panose="02040306050405020303" charset="0"/>
              </a:rPr>
              <a:t>Accuracy</a:t>
            </a:r>
            <a:endParaRPr lang="en-US" altLang="en-GB">
              <a:latin typeface="Georgia Pro Cond Light" panose="02040306050405020303" charset="0"/>
              <a:cs typeface="Georgia Pro Cond Light" panose="02040306050405020303" charset="0"/>
            </a:endParaRPr>
          </a:p>
        </p:txBody>
      </p:sp>
      <p:sp>
        <p:nvSpPr>
          <p:cNvPr id="10" name="Flowchart: Alternate Process 9"/>
          <p:cNvSpPr/>
          <p:nvPr/>
        </p:nvSpPr>
        <p:spPr>
          <a:xfrm>
            <a:off x="3175000" y="2448560"/>
            <a:ext cx="1393190" cy="453390"/>
          </a:xfrm>
          <a:prstGeom prst="flowChartAlternateProcess">
            <a:avLst/>
          </a:prstGeom>
          <a:solidFill>
            <a:schemeClr val="accent2"/>
          </a:solidFill>
          <a:ln>
            <a:solidFill>
              <a:schemeClr val="accent1"/>
            </a:solid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Georgia Pro Cond Light" panose="02040306050405020303" charset="0"/>
                <a:cs typeface="Georgia Pro Cond Light" panose="02040306050405020303" charset="0"/>
              </a:rPr>
              <a:t>Precision</a:t>
            </a:r>
            <a:endParaRPr lang="en-US" altLang="en-GB">
              <a:latin typeface="Georgia Pro Cond Light" panose="02040306050405020303" charset="0"/>
              <a:cs typeface="Georgia Pro Cond Light" panose="02040306050405020303" charset="0"/>
            </a:endParaRPr>
          </a:p>
        </p:txBody>
      </p:sp>
      <p:sp>
        <p:nvSpPr>
          <p:cNvPr id="11" name="Flowchart: Alternate Process 10"/>
          <p:cNvSpPr/>
          <p:nvPr/>
        </p:nvSpPr>
        <p:spPr>
          <a:xfrm>
            <a:off x="5102860" y="2447925"/>
            <a:ext cx="1298575" cy="454025"/>
          </a:xfrm>
          <a:prstGeom prst="flowChartAlternateProcess">
            <a:avLst/>
          </a:prstGeom>
          <a:solidFill>
            <a:schemeClr val="accent2"/>
          </a:solidFill>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Georgia Pro Cond Light" panose="02040306050405020303" charset="0"/>
                <a:cs typeface="Georgia Pro Cond Light" panose="02040306050405020303" charset="0"/>
              </a:rPr>
              <a:t>Recall</a:t>
            </a:r>
            <a:endParaRPr lang="en-US" altLang="en-GB">
              <a:latin typeface="Georgia Pro Cond Light" panose="02040306050405020303" charset="0"/>
              <a:cs typeface="Georgia Pro Cond Light" panose="02040306050405020303" charset="0"/>
            </a:endParaRPr>
          </a:p>
        </p:txBody>
      </p:sp>
      <p:sp>
        <p:nvSpPr>
          <p:cNvPr id="12" name="Round Same Side Corner Rectangle 11"/>
          <p:cNvSpPr/>
          <p:nvPr/>
        </p:nvSpPr>
        <p:spPr>
          <a:xfrm>
            <a:off x="1394460" y="1945640"/>
            <a:ext cx="1150620" cy="502920"/>
          </a:xfrm>
          <a:prstGeom prst="round2SameRect">
            <a:avLst/>
          </a:prstGeom>
          <a:effectLst>
            <a:outerShdw blurRad="508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rPr>
              <a:t>89%</a:t>
            </a:r>
            <a:endPar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endParaRPr>
          </a:p>
        </p:txBody>
      </p:sp>
      <p:sp>
        <p:nvSpPr>
          <p:cNvPr id="13" name="Round Same Side Corner Rectangle 12"/>
          <p:cNvSpPr/>
          <p:nvPr/>
        </p:nvSpPr>
        <p:spPr>
          <a:xfrm>
            <a:off x="5182870" y="1945005"/>
            <a:ext cx="1150620" cy="502920"/>
          </a:xfrm>
          <a:prstGeom prst="round2SameRect">
            <a:avLst/>
          </a:prstGeom>
          <a:effectLst>
            <a:outerShdw blurRad="50800" dist="38100" dir="10800000" algn="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rPr>
              <a:t>77%</a:t>
            </a:r>
            <a:endPar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endParaRPr>
          </a:p>
        </p:txBody>
      </p:sp>
      <p:sp>
        <p:nvSpPr>
          <p:cNvPr id="14" name="Round Same Side Corner Rectangle 13"/>
          <p:cNvSpPr/>
          <p:nvPr/>
        </p:nvSpPr>
        <p:spPr>
          <a:xfrm>
            <a:off x="3296285" y="1945005"/>
            <a:ext cx="1150620" cy="502920"/>
          </a:xfrm>
          <a:prstGeom prst="round2SameRect">
            <a:avLst/>
          </a:prstGeom>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rPr>
              <a:t>84%</a:t>
            </a:r>
            <a:endParaRPr lang="en-US" altLang="en-GB">
              <a:effectLst>
                <a:outerShdw blurRad="38100" dist="38100" dir="2700000" algn="tl">
                  <a:srgbClr val="000000">
                    <a:alpha val="43137"/>
                  </a:srgbClr>
                </a:outerShdw>
              </a:effectLst>
              <a:latin typeface="Georgia Pro Cond" panose="02040506050405020303" charset="0"/>
              <a:cs typeface="Georgia Pro Cond" panose="02040506050405020303" charset="0"/>
            </a:endParaRPr>
          </a:p>
        </p:txBody>
      </p:sp>
      <p:pic>
        <p:nvPicPr>
          <p:cNvPr id="2" name="Picture 1"/>
          <p:cNvPicPr>
            <a:picLocks noChangeAspect="1"/>
          </p:cNvPicPr>
          <p:nvPr/>
        </p:nvPicPr>
        <p:blipFill>
          <a:blip r:embed="rId3"/>
          <a:stretch>
            <a:fillRect/>
          </a:stretch>
        </p:blipFill>
        <p:spPr>
          <a:xfrm>
            <a:off x="8298815" y="1972945"/>
            <a:ext cx="3604895" cy="3187065"/>
          </a:xfrm>
          <a:prstGeom prst="rect">
            <a:avLst/>
          </a:prstGeom>
        </p:spPr>
      </p:pic>
      <p:pic>
        <p:nvPicPr>
          <p:cNvPr id="3" name="Picture 2"/>
          <p:cNvPicPr/>
          <p:nvPr/>
        </p:nvPicPr>
        <p:blipFill>
          <a:blip r:embed="rId4"/>
          <a:stretch>
            <a:fillRect/>
          </a:stretch>
        </p:blipFill>
        <p:spPr>
          <a:xfrm>
            <a:off x="1868805" y="3176270"/>
            <a:ext cx="4241800" cy="27901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a:latin typeface="Georgia Pro Cond Light" panose="02040306050405020303" charset="0"/>
                <a:cs typeface="Georgia Pro Cond Light" panose="02040306050405020303" charset="0"/>
              </a:rPr>
              <a:t>Conclusion</a:t>
            </a:r>
            <a:endParaRPr lang="en-US" altLang="en-GB">
              <a:latin typeface="Georgia Pro Cond Light" panose="02040306050405020303" charset="0"/>
              <a:cs typeface="Georgia Pro Cond Light" panose="02040306050405020303" charset="0"/>
            </a:endParaRPr>
          </a:p>
        </p:txBody>
      </p:sp>
      <p:grpSp>
        <p:nvGrpSpPr>
          <p:cNvPr id="10" name="Group 9"/>
          <p:cNvGrpSpPr/>
          <p:nvPr/>
        </p:nvGrpSpPr>
        <p:grpSpPr>
          <a:xfrm>
            <a:off x="861060" y="1814195"/>
            <a:ext cx="3555365" cy="3743325"/>
            <a:chOff x="1500" y="2521"/>
            <a:chExt cx="5295" cy="2663"/>
          </a:xfrm>
        </p:grpSpPr>
        <p:sp>
          <p:nvSpPr>
            <p:cNvPr id="6" name="Text 12"/>
            <p:cNvSpPr/>
            <p:nvPr/>
          </p:nvSpPr>
          <p:spPr>
            <a:xfrm>
              <a:off x="1500" y="2521"/>
              <a:ext cx="5295" cy="576"/>
            </a:xfrm>
            <a:prstGeom prst="rect">
              <a:avLst/>
            </a:prstGeom>
            <a:solidFill>
              <a:schemeClr val="tx1">
                <a:lumMod val="25000"/>
                <a:lumOff val="75000"/>
                <a:alpha val="76000"/>
              </a:schemeClr>
            </a:solidFill>
            <a:effectLst/>
          </p:spPr>
          <p:txBody>
            <a:bodyPr wrap="square" lIns="107950" tIns="0" rIns="107950" bIns="0" rtlCol="0" anchor="ctr" anchorCtr="0"/>
            <a:lstStyle/>
            <a:p>
              <a:pPr marL="0" indent="0" algn="just">
                <a:lnSpc>
                  <a:spcPct val="110000"/>
                </a:lnSpc>
                <a:buNone/>
              </a:pPr>
              <a:r>
                <a:rPr lang="en-US" sz="1600" b="1" dirty="0">
                  <a:solidFill>
                    <a:srgbClr val="334155"/>
                  </a:solidFill>
                  <a:latin typeface="Georgia Pro Cond Light" panose="02040306050405020303" charset="0"/>
                  <a:ea typeface="SimSun" panose="02010600030101010101" pitchFamily="2" charset="-122"/>
                  <a:cs typeface="Georgia Pro Cond Light" panose="02040306050405020303" charset="0"/>
                </a:rPr>
                <a:t>4 distinct segments</a:t>
              </a:r>
              <a:r>
                <a:rPr lang="en-US" sz="1600" dirty="0">
                  <a:solidFill>
                    <a:srgbClr val="334155"/>
                  </a:solidFill>
                  <a:latin typeface="Georgia Pro Cond Light" panose="02040306050405020303" charset="0"/>
                  <a:ea typeface="SimSun" panose="02010600030101010101" pitchFamily="2" charset="-122"/>
                  <a:cs typeface="Georgia Pro Cond Light" panose="02040306050405020303" charset="0"/>
                </a:rPr>
                <a:t> identified via KMeans + GMM with 89% classification accuracy</a:t>
              </a:r>
              <a:endParaRPr lang="en-US" sz="1600" dirty="0">
                <a:latin typeface="Georgia Pro Cond Light" panose="02040306050405020303" charset="0"/>
                <a:cs typeface="Georgia Pro Cond Light" panose="02040306050405020303" charset="0"/>
              </a:endParaRPr>
            </a:p>
          </p:txBody>
        </p:sp>
        <p:sp>
          <p:nvSpPr>
            <p:cNvPr id="7" name="Text 14"/>
            <p:cNvSpPr/>
            <p:nvPr/>
          </p:nvSpPr>
          <p:spPr>
            <a:xfrm>
              <a:off x="1545" y="3217"/>
              <a:ext cx="5250" cy="576"/>
            </a:xfrm>
            <a:prstGeom prst="rect">
              <a:avLst/>
            </a:prstGeom>
            <a:solidFill>
              <a:schemeClr val="accent2">
                <a:lumMod val="40000"/>
                <a:lumOff val="60000"/>
                <a:alpha val="76000"/>
              </a:schemeClr>
            </a:solidFill>
          </p:spPr>
          <p:txBody>
            <a:bodyPr wrap="square" lIns="107950" tIns="0" rIns="107950" bIns="0" rtlCol="0" anchor="ctr" anchorCtr="0"/>
            <a:lstStyle/>
            <a:p>
              <a:pPr marL="0" indent="0" algn="just">
                <a:lnSpc>
                  <a:spcPct val="100000"/>
                </a:lnSpc>
                <a:buNone/>
              </a:pPr>
              <a:r>
                <a:rPr lang="en-US" sz="1600" b="1" dirty="0">
                  <a:solidFill>
                    <a:srgbClr val="334155"/>
                  </a:solidFill>
                  <a:latin typeface="Georgia Pro Cond Light" panose="02040306050405020303" charset="0"/>
                  <a:ea typeface="SimSun" panose="02010600030101010101" pitchFamily="2" charset="-122"/>
                  <a:cs typeface="Georgia Pro Cond Light" panose="02040306050405020303" charset="0"/>
                </a:rPr>
                <a:t>VIP customers (2%)</a:t>
              </a:r>
              <a:r>
                <a:rPr lang="en-US" sz="1600" dirty="0">
                  <a:solidFill>
                    <a:srgbClr val="334155"/>
                  </a:solidFill>
                  <a:latin typeface="Georgia Pro Cond Light" panose="02040306050405020303" charset="0"/>
                  <a:ea typeface="SimSun" panose="02010600030101010101" pitchFamily="2" charset="-122"/>
                  <a:cs typeface="Georgia Pro Cond Light" panose="02040306050405020303" charset="0"/>
                </a:rPr>
                <a:t> drive 88% of total revenue &gt;&gt; </a:t>
              </a:r>
              <a:r>
                <a:rPr lang="en-US" sz="1600" u="sng" dirty="0">
                  <a:solidFill>
                    <a:srgbClr val="334155"/>
                  </a:solidFill>
                  <a:latin typeface="Georgia Pro Cond Light" panose="02040306050405020303" charset="0"/>
                  <a:ea typeface="SimSun" panose="02010600030101010101" pitchFamily="2" charset="-122"/>
                  <a:cs typeface="Georgia Pro Cond Light" panose="02040306050405020303" charset="0"/>
                </a:rPr>
                <a:t>top retention priority</a:t>
              </a:r>
              <a:endParaRPr lang="en-US" sz="1600" u="sng" dirty="0">
                <a:latin typeface="Georgia Pro Cond Light" panose="02040306050405020303" charset="0"/>
                <a:cs typeface="Georgia Pro Cond Light" panose="02040306050405020303" charset="0"/>
              </a:endParaRPr>
            </a:p>
          </p:txBody>
        </p:sp>
        <p:sp>
          <p:nvSpPr>
            <p:cNvPr id="8" name="Text 16"/>
            <p:cNvSpPr/>
            <p:nvPr/>
          </p:nvSpPr>
          <p:spPr>
            <a:xfrm>
              <a:off x="1560" y="3913"/>
              <a:ext cx="5235" cy="576"/>
            </a:xfrm>
            <a:prstGeom prst="rect">
              <a:avLst/>
            </a:prstGeom>
            <a:solidFill>
              <a:schemeClr val="accent4">
                <a:lumMod val="40000"/>
                <a:lumOff val="60000"/>
                <a:alpha val="76000"/>
              </a:schemeClr>
            </a:solidFill>
          </p:spPr>
          <p:txBody>
            <a:bodyPr wrap="square" lIns="107950" tIns="0" rIns="107950" bIns="0" rtlCol="0" anchor="ctr" anchorCtr="0"/>
            <a:lstStyle/>
            <a:p>
              <a:pPr marL="0" indent="0" algn="just">
                <a:lnSpc>
                  <a:spcPct val="100000"/>
                </a:lnSpc>
                <a:buNone/>
              </a:pPr>
              <a:r>
                <a:rPr lang="en-US" sz="1600" b="1" dirty="0">
                  <a:solidFill>
                    <a:srgbClr val="334155"/>
                  </a:solidFill>
                  <a:latin typeface="Georgia Pro Cond Light" panose="02040306050405020303" charset="0"/>
                  <a:ea typeface="SimSun" panose="02010600030101010101" pitchFamily="2" charset="-122"/>
                  <a:cs typeface="Georgia Pro Cond Light" panose="02040306050405020303" charset="0"/>
                </a:rPr>
                <a:t>12% at-risk customers</a:t>
              </a:r>
              <a:r>
                <a:rPr lang="en-US" sz="1600" dirty="0">
                  <a:solidFill>
                    <a:srgbClr val="334155"/>
                  </a:solidFill>
                  <a:latin typeface="Georgia Pro Cond Light" panose="02040306050405020303" charset="0"/>
                  <a:ea typeface="SimSun" panose="02010600030101010101" pitchFamily="2" charset="-122"/>
                  <a:cs typeface="Georgia Pro Cond Light" panose="02040306050405020303" charset="0"/>
                </a:rPr>
                <a:t> with early churn signals &gt;&gt; </a:t>
              </a:r>
              <a:r>
                <a:rPr lang="en-US" sz="1600" u="sng" dirty="0">
                  <a:solidFill>
                    <a:srgbClr val="334155"/>
                  </a:solidFill>
                  <a:latin typeface="Georgia Pro Cond Light" panose="02040306050405020303" charset="0"/>
                  <a:ea typeface="SimSun" panose="02010600030101010101" pitchFamily="2" charset="-122"/>
                  <a:cs typeface="Georgia Pro Cond Light" panose="02040306050405020303" charset="0"/>
                </a:rPr>
                <a:t>winback window: 30 days</a:t>
              </a:r>
              <a:endParaRPr lang="en-US" sz="1600" u="sng" dirty="0">
                <a:solidFill>
                  <a:srgbClr val="334155"/>
                </a:solidFill>
                <a:latin typeface="Georgia Pro Cond Light" panose="02040306050405020303" charset="0"/>
                <a:ea typeface="SimSun" panose="02010600030101010101" pitchFamily="2" charset="-122"/>
                <a:cs typeface="Georgia Pro Cond Light" panose="02040306050405020303" charset="0"/>
              </a:endParaRPr>
            </a:p>
          </p:txBody>
        </p:sp>
        <p:sp>
          <p:nvSpPr>
            <p:cNvPr id="9" name="Text 18"/>
            <p:cNvSpPr/>
            <p:nvPr/>
          </p:nvSpPr>
          <p:spPr>
            <a:xfrm>
              <a:off x="1560" y="4608"/>
              <a:ext cx="5235" cy="576"/>
            </a:xfrm>
            <a:prstGeom prst="rect">
              <a:avLst/>
            </a:prstGeom>
            <a:solidFill>
              <a:schemeClr val="accent6">
                <a:lumMod val="40000"/>
                <a:lumOff val="60000"/>
                <a:alpha val="76000"/>
              </a:schemeClr>
            </a:solidFill>
          </p:spPr>
          <p:txBody>
            <a:bodyPr wrap="square" lIns="107950" tIns="0" rIns="107950" bIns="0" rtlCol="0" anchor="ctr" anchorCtr="0"/>
            <a:lstStyle/>
            <a:p>
              <a:pPr marL="0" indent="0" algn="just">
                <a:lnSpc>
                  <a:spcPct val="100000"/>
                </a:lnSpc>
                <a:buNone/>
              </a:pPr>
              <a:r>
                <a:rPr lang="en-US" sz="1600" b="1" dirty="0">
                  <a:solidFill>
                    <a:srgbClr val="334155"/>
                  </a:solidFill>
                  <a:latin typeface="Georgia Pro Cond Light" panose="02040306050405020303" charset="0"/>
                  <a:ea typeface="SimSun" panose="02010600030101010101" pitchFamily="2" charset="-122"/>
                  <a:cs typeface="Georgia Pro Cond Light" panose="02040306050405020303" charset="0"/>
                </a:rPr>
                <a:t>GMM log-likelihood</a:t>
              </a:r>
              <a:r>
                <a:rPr lang="en-US" sz="1600" dirty="0">
                  <a:solidFill>
                    <a:srgbClr val="334155"/>
                  </a:solidFill>
                  <a:latin typeface="Georgia Pro Cond Light" panose="02040306050405020303" charset="0"/>
                  <a:ea typeface="SimSun" panose="02010600030101010101" pitchFamily="2" charset="-122"/>
                  <a:cs typeface="Georgia Pro Cond Light" panose="02040306050405020303" charset="0"/>
                </a:rPr>
                <a:t> provides nuanced risk scores beyond binary cluster labels</a:t>
              </a:r>
              <a:endParaRPr lang="en-US" sz="1600" dirty="0">
                <a:latin typeface="Georgia Pro Cond Light" panose="02040306050405020303" charset="0"/>
                <a:cs typeface="Georgia Pro Cond Light" panose="02040306050405020303" charset="0"/>
              </a:endParaRPr>
            </a:p>
          </p:txBody>
        </p:sp>
      </p:grpSp>
      <p:grpSp>
        <p:nvGrpSpPr>
          <p:cNvPr id="27" name="Group 26"/>
          <p:cNvGrpSpPr/>
          <p:nvPr/>
        </p:nvGrpSpPr>
        <p:grpSpPr>
          <a:xfrm>
            <a:off x="4961255" y="2259965"/>
            <a:ext cx="6252210" cy="3378200"/>
            <a:chOff x="7605" y="3900"/>
            <a:chExt cx="5670" cy="3896"/>
          </a:xfrm>
        </p:grpSpPr>
        <p:sp>
          <p:nvSpPr>
            <p:cNvPr id="24" name="Text 5"/>
            <p:cNvSpPr/>
            <p:nvPr/>
          </p:nvSpPr>
          <p:spPr>
            <a:xfrm>
              <a:off x="7605" y="3900"/>
              <a:ext cx="5670" cy="1199"/>
            </a:xfrm>
            <a:prstGeom prst="roundRect">
              <a:avLst>
                <a:gd name="adj" fmla="val 120117"/>
              </a:avLst>
            </a:prstGeom>
            <a:solidFill>
              <a:srgbClr val="7C3AED">
                <a:alpha val="36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25" name="Text 6"/>
            <p:cNvSpPr/>
            <p:nvPr/>
          </p:nvSpPr>
          <p:spPr>
            <a:xfrm>
              <a:off x="7605" y="5249"/>
              <a:ext cx="5670" cy="1199"/>
            </a:xfrm>
            <a:prstGeom prst="roundRect">
              <a:avLst>
                <a:gd name="adj" fmla="val 120117"/>
              </a:avLst>
            </a:prstGeom>
            <a:solidFill>
              <a:srgbClr val="10B981">
                <a:alpha val="34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26" name="Text 7"/>
            <p:cNvSpPr/>
            <p:nvPr/>
          </p:nvSpPr>
          <p:spPr>
            <a:xfrm>
              <a:off x="7605" y="6598"/>
              <a:ext cx="5670" cy="1199"/>
            </a:xfrm>
            <a:prstGeom prst="roundRect">
              <a:avLst>
                <a:gd name="adj" fmla="val 120117"/>
              </a:avLst>
            </a:prstGeom>
            <a:solidFill>
              <a:srgbClr val="0891B2">
                <a:alpha val="28000"/>
              </a:srgbClr>
            </a:solidFill>
          </p:spPr>
          <p:txBody>
            <a:bodyPr wrap="none" lIns="0" tIns="0" rIns="0" bIns="0" rtlCol="0" anchor="ctr">
              <a:normAutofit/>
            </a:bodyPr>
            <a:lstStyle/>
            <a:p>
              <a:pPr marL="0" indent="0">
                <a:buNone/>
              </a:pPr>
              <a:endParaRPr lang="en-US" sz="1600" dirty="0">
                <a:latin typeface="Georgia Pro Cond Light" panose="02040306050405020303" charset="0"/>
                <a:cs typeface="Georgia Pro Cond Light" panose="02040306050405020303" charset="0"/>
              </a:endParaRPr>
            </a:p>
          </p:txBody>
        </p:sp>
        <p:sp>
          <p:nvSpPr>
            <p:cNvPr id="31" name="Text 28"/>
            <p:cNvSpPr/>
            <p:nvPr/>
          </p:nvSpPr>
          <p:spPr>
            <a:xfrm>
              <a:off x="8265" y="4080"/>
              <a:ext cx="4927" cy="306"/>
            </a:xfrm>
            <a:prstGeom prst="rect">
              <a:avLst/>
            </a:prstGeom>
            <a:noFill/>
          </p:spPr>
          <p:txBody>
            <a:bodyPr wrap="square" lIns="0" tIns="0" rIns="0" bIns="0" rtlCol="0" anchor="t"/>
            <a:lstStyle/>
            <a:p>
              <a:pPr marL="0" indent="0">
                <a:lnSpc>
                  <a:spcPts val="1530"/>
                </a:lnSpc>
                <a:buNone/>
              </a:pPr>
              <a:r>
                <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rPr>
                <a:t>Recommendation Engine Integration</a:t>
              </a:r>
              <a:endPar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32" name="Text 29"/>
            <p:cNvSpPr/>
            <p:nvPr/>
          </p:nvSpPr>
          <p:spPr>
            <a:xfrm>
              <a:off x="8265" y="4386"/>
              <a:ext cx="4830" cy="533"/>
            </a:xfrm>
            <a:prstGeom prst="rect">
              <a:avLst/>
            </a:prstGeom>
            <a:noFill/>
          </p:spPr>
          <p:txBody>
            <a:bodyPr wrap="square" lIns="0" tIns="0" rIns="0" bIns="0" rtlCol="0" anchor="t"/>
            <a:lstStyle/>
            <a:p>
              <a:pPr marL="0" indent="0">
                <a:lnSpc>
                  <a:spcPts val="1330"/>
                </a:lnSpc>
                <a:buNone/>
              </a:pPr>
              <a:r>
                <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rPr>
                <a:t>Feed segment labels into collaborative filtering for personalized product suggestions</a:t>
              </a:r>
              <a:endPar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34" name="Text 31"/>
            <p:cNvSpPr/>
            <p:nvPr/>
          </p:nvSpPr>
          <p:spPr>
            <a:xfrm>
              <a:off x="8265" y="5429"/>
              <a:ext cx="4927" cy="306"/>
            </a:xfrm>
            <a:prstGeom prst="rect">
              <a:avLst/>
            </a:prstGeom>
            <a:noFill/>
          </p:spPr>
          <p:txBody>
            <a:bodyPr wrap="square" lIns="0" tIns="0" rIns="0" bIns="0" rtlCol="0" anchor="t"/>
            <a:lstStyle/>
            <a:p>
              <a:pPr marL="0" indent="0">
                <a:lnSpc>
                  <a:spcPts val="1530"/>
                </a:lnSpc>
                <a:buNone/>
              </a:pPr>
              <a:r>
                <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rPr>
                <a:t>Personalized Campaign Automation</a:t>
              </a:r>
              <a:endPar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35" name="Text 32"/>
            <p:cNvSpPr/>
            <p:nvPr/>
          </p:nvSpPr>
          <p:spPr>
            <a:xfrm>
              <a:off x="8265" y="5735"/>
              <a:ext cx="4830" cy="533"/>
            </a:xfrm>
            <a:prstGeom prst="rect">
              <a:avLst/>
            </a:prstGeom>
            <a:noFill/>
          </p:spPr>
          <p:txBody>
            <a:bodyPr wrap="square" lIns="0" tIns="0" rIns="0" bIns="0" rtlCol="0" anchor="t"/>
            <a:lstStyle/>
            <a:p>
              <a:pPr marL="0" indent="0">
                <a:lnSpc>
                  <a:spcPts val="1330"/>
                </a:lnSpc>
                <a:buNone/>
              </a:pPr>
              <a:r>
                <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rPr>
                <a:t>CRM integration with Segment-aware email, push &amp; SMS triggers via segment API</a:t>
              </a:r>
              <a:endPar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sp>
          <p:nvSpPr>
            <p:cNvPr id="37" name="Text 34"/>
            <p:cNvSpPr/>
            <p:nvPr/>
          </p:nvSpPr>
          <p:spPr>
            <a:xfrm>
              <a:off x="8265" y="6778"/>
              <a:ext cx="4927" cy="306"/>
            </a:xfrm>
            <a:prstGeom prst="rect">
              <a:avLst/>
            </a:prstGeom>
            <a:noFill/>
          </p:spPr>
          <p:txBody>
            <a:bodyPr wrap="square" lIns="0" tIns="0" rIns="0" bIns="0" rtlCol="0" anchor="t"/>
            <a:lstStyle/>
            <a:p>
              <a:pPr marL="0" indent="0">
                <a:lnSpc>
                  <a:spcPts val="1530"/>
                </a:lnSpc>
                <a:buNone/>
              </a:pPr>
              <a:r>
                <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rPr>
                <a:t>Monthly Model Retraining Pipeline</a:t>
              </a:r>
              <a:endParaRPr lang="en-US" sz="1600" b="1" dirty="0">
                <a:solidFill>
                  <a:srgbClr val="C00000"/>
                </a:solidFill>
                <a:latin typeface="Georgia Pro Cond Light" panose="02040306050405020303" charset="0"/>
                <a:ea typeface="SimSun" panose="02010600030101010101" pitchFamily="2" charset="-122"/>
                <a:cs typeface="Georgia Pro Cond Light" panose="02040306050405020303" charset="0"/>
              </a:endParaRPr>
            </a:p>
          </p:txBody>
        </p:sp>
        <p:sp>
          <p:nvSpPr>
            <p:cNvPr id="38" name="Text 35"/>
            <p:cNvSpPr/>
            <p:nvPr/>
          </p:nvSpPr>
          <p:spPr>
            <a:xfrm>
              <a:off x="8265" y="7084"/>
              <a:ext cx="4830" cy="533"/>
            </a:xfrm>
            <a:prstGeom prst="rect">
              <a:avLst/>
            </a:prstGeom>
            <a:noFill/>
          </p:spPr>
          <p:txBody>
            <a:bodyPr wrap="square" lIns="0" tIns="0" rIns="0" bIns="0" rtlCol="0" anchor="t"/>
            <a:lstStyle/>
            <a:p>
              <a:pPr marL="0" indent="0">
                <a:lnSpc>
                  <a:spcPts val="1330"/>
                </a:lnSpc>
                <a:buNone/>
              </a:pPr>
              <a:r>
                <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rPr>
                <a:t>Automated drift detection + Airflow DAG for scheduled re-segmentation</a:t>
              </a:r>
              <a:endParaRPr lang="en-US" sz="1600" dirty="0">
                <a:solidFill>
                  <a:srgbClr val="64748B"/>
                </a:solidFill>
                <a:latin typeface="Georgia Pro Cond Light" panose="02040306050405020303" charset="0"/>
                <a:ea typeface="SimSun" panose="02010600030101010101" pitchFamily="2" charset="-122"/>
                <a:cs typeface="Georgia Pro Cond Light" panose="02040306050405020303" charset="0"/>
              </a:endParaRPr>
            </a:p>
          </p:txBody>
        </p:sp>
      </p:grpSp>
      <p:sp>
        <p:nvSpPr>
          <p:cNvPr id="28" name="Chevron 27"/>
          <p:cNvSpPr/>
          <p:nvPr/>
        </p:nvSpPr>
        <p:spPr>
          <a:xfrm>
            <a:off x="5277485" y="2663825"/>
            <a:ext cx="320675" cy="188595"/>
          </a:xfrm>
          <a:prstGeom prst="chevron">
            <a:avLst/>
          </a:prstGeom>
          <a:solidFill>
            <a:schemeClr val="bg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29" name="Chevron 28"/>
          <p:cNvSpPr/>
          <p:nvPr/>
        </p:nvSpPr>
        <p:spPr>
          <a:xfrm>
            <a:off x="5277485" y="3824605"/>
            <a:ext cx="320675" cy="203200"/>
          </a:xfrm>
          <a:prstGeom prst="chevron">
            <a:avLst/>
          </a:prstGeom>
          <a:solidFill>
            <a:schemeClr val="bg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0" name="Chevron 29"/>
          <p:cNvSpPr/>
          <p:nvPr/>
        </p:nvSpPr>
        <p:spPr>
          <a:xfrm>
            <a:off x="5277485" y="5002530"/>
            <a:ext cx="320675" cy="188595"/>
          </a:xfrm>
          <a:prstGeom prst="chevron">
            <a:avLst/>
          </a:prstGeom>
          <a:solidFill>
            <a:schemeClr val="bg1">
              <a:alpha val="50000"/>
            </a:schemeClr>
          </a:solidFill>
          <a:ln>
            <a:solidFill>
              <a:srgbClr val="BAE0EA"/>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3" name="Text Box 32"/>
          <p:cNvSpPr txBox="1"/>
          <p:nvPr/>
        </p:nvSpPr>
        <p:spPr>
          <a:xfrm>
            <a:off x="7742555" y="1761490"/>
            <a:ext cx="1325245" cy="368300"/>
          </a:xfrm>
          <a:prstGeom prst="rect">
            <a:avLst/>
          </a:prstGeom>
          <a:noFill/>
        </p:spPr>
        <p:txBody>
          <a:bodyPr wrap="square" rtlCol="0">
            <a:spAutoFit/>
          </a:bodyPr>
          <a:p>
            <a:r>
              <a:rPr lang="en-US" altLang="en-GB">
                <a:solidFill>
                  <a:srgbClr val="C00000"/>
                </a:solidFill>
                <a:latin typeface="Georgia Pro Cond" panose="02040506050405020303" charset="0"/>
                <a:cs typeface="Georgia Pro Cond" panose="02040506050405020303" charset="0"/>
              </a:rPr>
              <a:t>Next Steps</a:t>
            </a:r>
            <a:endParaRPr lang="en-US" altLang="en-GB">
              <a:solidFill>
                <a:srgbClr val="C00000"/>
              </a:solidFill>
              <a:latin typeface="Georgia Pro Cond" panose="02040506050405020303" charset="0"/>
              <a:cs typeface="Georgia Pro Cond" panose="02040506050405020303"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nchorCtr="0">
            <a:normAutofit/>
          </a:bodyPr>
          <a:lstStyle/>
          <a:p>
            <a:pPr algn="ctr"/>
            <a:r>
              <a:rPr lang="en-IN" dirty="0">
                <a:latin typeface="Georgia Pro Black" panose="02040A02050405020203" charset="0"/>
                <a:cs typeface="Georgia Pro Black" panose="02040A02050405020203" charset="0"/>
              </a:rPr>
              <a:t>Questions ?</a:t>
            </a:r>
            <a:endParaRPr lang="en-IN" dirty="0">
              <a:latin typeface="Georgia Pro Black" panose="02040A02050405020203" charset="0"/>
              <a:cs typeface="Georgia Pro Black" panose="02040A02050405020203"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Georgia Pro Black" panose="02040A02050405020203" charset="0"/>
                <a:cs typeface="Georgia Pro Black" panose="02040A02050405020203" charset="0"/>
              </a:rPr>
              <a:t>Thank You!</a:t>
            </a:r>
            <a:endParaRPr lang="en-IN" sz="6600" b="1" dirty="0">
              <a:latin typeface="Georgia Pro Black" panose="02040A02050405020203" charset="0"/>
              <a:cs typeface="Georgia Pro Black" panose="02040A02050405020203" charset="0"/>
            </a:endParaRPr>
          </a:p>
        </p:txBody>
      </p:sp>
    </p:spTree>
  </p:cSld>
  <p:clrMapOvr>
    <a:masterClrMapping/>
  </p:clrMapOvr>
</p:sld>
</file>

<file path=ppt/tags/tag1.xml><?xml version="1.0" encoding="utf-8"?>
<p:tagLst xmlns:p="http://schemas.openxmlformats.org/presentationml/2006/main">
  <p:tag name="KSO_WM_DIAGRAM_VIRTUALLY_FRAME" val="{&quot;height&quot;:277.35,&quot;left&quot;:352.15,&quot;top&quot;:29.65,&quot;width&quot;:536.35}"/>
</p:tagLst>
</file>

<file path=ppt/tags/tag2.xml><?xml version="1.0" encoding="utf-8"?>
<p:tagLst xmlns:p="http://schemas.openxmlformats.org/presentationml/2006/main">
  <p:tag name="KSO_WM_DIAGRAM_VIRTUALLY_FRAME" val="{&quot;height&quot;:277.35,&quot;left&quot;:352.15,&quot;top&quot;:29.65,&quot;width&quot;:536.35}"/>
</p:tagLst>
</file>

<file path=ppt/tags/tag3.xml><?xml version="1.0" encoding="utf-8"?>
<p:tagLst xmlns:p="http://schemas.openxmlformats.org/presentationml/2006/main">
  <p:tag name="KSO_WM_DIAGRAM_VIRTUALLY_FRAME" val="{&quot;height&quot;:277.35,&quot;left&quot;:352.15,&quot;top&quot;:29.65,&quot;width&quot;:536.35}"/>
</p:tagLst>
</file>

<file path=ppt/tags/tag4.xml><?xml version="1.0" encoding="utf-8"?>
<p:tagLst xmlns:p="http://schemas.openxmlformats.org/presentationml/2006/main">
  <p:tag name="KSO_WM_DIAGRAM_VIRTUALLY_FRAME" val="{&quot;height&quot;:277.35,&quot;left&quot;:352.15,&quot;top&quot;:29.65,&quot;width&quot;:536.35}"/>
</p:tagLst>
</file>

<file path=ppt/tags/tag5.xml><?xml version="1.0" encoding="utf-8"?>
<p:tagLst xmlns:p="http://schemas.openxmlformats.org/presentationml/2006/main">
  <p:tag name="KSO_WM_DIAGRAM_VIRTUALLY_FRAME" val="{&quot;height&quot;:277.35,&quot;left&quot;:352.15,&quot;top&quot;:29.65,&quot;width&quot;:536.35}"/>
</p:tagLst>
</file>

<file path=ppt/tags/tag6.xml><?xml version="1.0" encoding="utf-8"?>
<p:tagLst xmlns:p="http://schemas.openxmlformats.org/presentationml/2006/main">
  <p:tag name="KSO_WM_DIAGRAM_VIRTUALLY_FRAME" val="{&quot;height&quot;:277.35,&quot;left&quot;:352.15,&quot;top&quot;:29.65,&quot;width&quot;:536.35}"/>
</p:tagLst>
</file>

<file path=ppt/tags/tag7.xml><?xml version="1.0" encoding="utf-8"?>
<p:tagLst xmlns:p="http://schemas.openxmlformats.org/presentationml/2006/main">
  <p:tag name="KSO_WM_DIAGRAM_VIRTUALLY_FRAME" val="{&quot;height&quot;:277.35,&quot;left&quot;:352.15,&quot;top&quot;:29.65,&quot;width&quot;:536.35}"/>
</p:tagLst>
</file>

<file path=ppt/tags/tag8.xml><?xml version="1.0" encoding="utf-8"?>
<p:tagLst xmlns:p="http://schemas.openxmlformats.org/presentationml/2006/main">
  <p:tag name="KSO_WM_DIAGRAM_VIRTUALLY_FRAME" val="{&quot;height&quot;:277.35,&quot;left&quot;:352.15,&quot;top&quot;:29.65,&quot;width&quot;:536.35}"/>
</p:tagLst>
</file>

<file path=ppt/tags/tag9.xml><?xml version="1.0" encoding="utf-8"?>
<p:tagLst xmlns:p="http://schemas.openxmlformats.org/presentationml/2006/main">
  <p:tag name="KSO_WM_DIAGRAM_VIRTUALLY_FRAME" val="{&quot;height&quot;:277.35,&quot;left&quot;:352.15,&quot;top&quot;:29.65,&quot;width&quot;:536.35}"/>
</p:tagLst>
</file>

<file path=ppt/tags/tag10.xml><?xml version="1.0" encoding="utf-8"?>
<p:tagLst xmlns:p="http://schemas.openxmlformats.org/presentationml/2006/main">
  <p:tag name="KSO_WM_DIAGRAM_VIRTUALLY_FRAME" val="{&quot;height&quot;:277.35,&quot;left&quot;:352.15,&quot;top&quot;:29.65,&quot;width&quot;:536.35}"/>
</p:tagLst>
</file>

<file path=ppt/tags/tag11.xml><?xml version="1.0" encoding="utf-8"?>
<p:tagLst xmlns:p="http://schemas.openxmlformats.org/presentationml/2006/main">
  <p:tag name="KSO_WM_DIAGRAM_VIRTUALLY_FRAME" val="{&quot;height&quot;:277.35,&quot;left&quot;:352.15,&quot;top&quot;:29.65,&quot;width&quot;:536.35}"/>
</p:tagLst>
</file>

<file path=ppt/tags/tag12.xml><?xml version="1.0" encoding="utf-8"?>
<p:tagLst xmlns:p="http://schemas.openxmlformats.org/presentationml/2006/main">
  <p:tag name="KSO_WM_DIAGRAM_VIRTUALLY_FRAME" val="{&quot;height&quot;:277.35,&quot;left&quot;:352.15,&quot;top&quot;:29.65,&quot;width&quot;:536.35}"/>
</p:tagLst>
</file>

<file path=ppt/tags/tag13.xml><?xml version="1.0" encoding="utf-8"?>
<p:tagLst xmlns:p="http://schemas.openxmlformats.org/presentationml/2006/main">
  <p:tag name="KSO_WM_DIAGRAM_VIRTUALLY_FRAME" val="{&quot;height&quot;:277.35,&quot;left&quot;:352.15,&quot;top&quot;:29.65,&quot;width&quot;:536.35}"/>
</p:tagLst>
</file>

<file path=ppt/tags/tag14.xml><?xml version="1.0" encoding="utf-8"?>
<p:tagLst xmlns:p="http://schemas.openxmlformats.org/presentationml/2006/main">
  <p:tag name="KSO_WM_DIAGRAM_VIRTUALLY_FRAME" val="{&quot;height&quot;:277.35,&quot;left&quot;:352.15,&quot;top&quot;:29.65,&quot;width&quot;:536.35}"/>
</p:tagLst>
</file>

<file path=ppt/tags/tag15.xml><?xml version="1.0" encoding="utf-8"?>
<p:tagLst xmlns:p="http://schemas.openxmlformats.org/presentationml/2006/main">
  <p:tag name="KSO_WM_DIAGRAM_VIRTUALLY_FRAME" val="{&quot;height&quot;:277.35,&quot;left&quot;:352.15,&quot;top&quot;:29.65,&quot;width&quot;:536.35}"/>
</p:tagLst>
</file>

<file path=ppt/tags/tag16.xml><?xml version="1.0" encoding="utf-8"?>
<p:tagLst xmlns:p="http://schemas.openxmlformats.org/presentationml/2006/main">
  <p:tag name="KSO_WM_DIAGRAM_VIRTUALLY_FRAME" val="{&quot;height&quot;:277.35,&quot;left&quot;:352.15,&quot;top&quot;:29.65,&quot;width&quot;:536.35}"/>
</p:tagLst>
</file>

<file path=ppt/tags/tag17.xml><?xml version="1.0" encoding="utf-8"?>
<p:tagLst xmlns:p="http://schemas.openxmlformats.org/presentationml/2006/main">
  <p:tag name="KSO_WM_DIAGRAM_VIRTUALLY_FRAME" val="{&quot;height&quot;:277.35,&quot;left&quot;:352.15,&quot;top&quot;:29.65,&quot;width&quot;:536.35}"/>
</p:tagLst>
</file>

<file path=ppt/tags/tag18.xml><?xml version="1.0" encoding="utf-8"?>
<p:tagLst xmlns:p="http://schemas.openxmlformats.org/presentationml/2006/main">
  <p:tag name="KSO_WM_DIAGRAM_VIRTUALLY_FRAME" val="{&quot;height&quot;:277.35,&quot;left&quot;:352.15,&quot;top&quot;:29.65,&quot;width&quot;:536.35}"/>
</p:tagLst>
</file>

<file path=ppt/tags/tag19.xml><?xml version="1.0" encoding="utf-8"?>
<p:tagLst xmlns:p="http://schemas.openxmlformats.org/presentationml/2006/main">
  <p:tag name="KSO_WM_DIAGRAM_VIRTUALLY_FRAME" val="{&quot;height&quot;:280.7,&quot;left&quot;:336.55,&quot;top&quot;:74.7,&quot;width&quot;:568.1}"/>
</p:tagLst>
</file>

<file path=ppt/tags/tag20.xml><?xml version="1.0" encoding="utf-8"?>
<p:tagLst xmlns:p="http://schemas.openxmlformats.org/presentationml/2006/main">
  <p:tag name="KSO_WM_DIAGRAM_VIRTUALLY_FRAME" val="{&quot;height&quot;:280.7,&quot;left&quot;:336.55,&quot;top&quot;:74.7,&quot;width&quot;:568.1}"/>
</p:tagLst>
</file>

<file path=ppt/tags/tag21.xml><?xml version="1.0" encoding="utf-8"?>
<p:tagLst xmlns:p="http://schemas.openxmlformats.org/presentationml/2006/main">
  <p:tag name="KSO_WM_DIAGRAM_VIRTUALLY_FRAME" val="{&quot;height&quot;:280.7,&quot;left&quot;:336.55,&quot;top&quot;:74.7,&quot;width&quot;:568.1}"/>
</p:tagLst>
</file>

<file path=ppt/tags/tag22.xml><?xml version="1.0" encoding="utf-8"?>
<p:tagLst xmlns:p="http://schemas.openxmlformats.org/presentationml/2006/main">
  <p:tag name="KSO_WM_DIAGRAM_VIRTUALLY_FRAME" val="{&quot;height&quot;:280.7,&quot;left&quot;:336.55,&quot;top&quot;:74.7,&quot;width&quot;:568.1}"/>
</p:tagLst>
</file>

<file path=ppt/tags/tag23.xml><?xml version="1.0" encoding="utf-8"?>
<p:tagLst xmlns:p="http://schemas.openxmlformats.org/presentationml/2006/main">
  <p:tag name="KSO_WM_DIAGRAM_VIRTUALLY_FRAME" val="{&quot;height&quot;:280.7,&quot;left&quot;:336.55,&quot;top&quot;:74.7,&quot;width&quot;:568.1}"/>
</p:tagLst>
</file>

<file path=ppt/tags/tag24.xml><?xml version="1.0" encoding="utf-8"?>
<p:tagLst xmlns:p="http://schemas.openxmlformats.org/presentationml/2006/main">
  <p:tag name="KSO_WM_DIAGRAM_VIRTUALLY_FRAME" val="{&quot;height&quot;:280.7,&quot;left&quot;:336.55,&quot;top&quot;:74.7,&quot;width&quot;:568.1}"/>
</p:tagLst>
</file>

<file path=ppt/tags/tag25.xml><?xml version="1.0" encoding="utf-8"?>
<p:tagLst xmlns:p="http://schemas.openxmlformats.org/presentationml/2006/main">
  <p:tag name="KSO_WM_DIAGRAM_VIRTUALLY_FRAME" val="{&quot;height&quot;:280.7,&quot;left&quot;:336.55,&quot;top&quot;:74.7,&quot;width&quot;:568.1}"/>
</p:tagLst>
</file>

<file path=ppt/tags/tag26.xml><?xml version="1.0" encoding="utf-8"?>
<p:tagLst xmlns:p="http://schemas.openxmlformats.org/presentationml/2006/main">
  <p:tag name="KSO_WM_DIAGRAM_VIRTUALLY_FRAME" val="{&quot;height&quot;:280.7,&quot;left&quot;:336.55,&quot;top&quot;:74.7,&quot;width&quot;:568.1}"/>
</p:tagLst>
</file>

<file path=ppt/tags/tag27.xml><?xml version="1.0" encoding="utf-8"?>
<p:tagLst xmlns:p="http://schemas.openxmlformats.org/presentationml/2006/main">
  <p:tag name="KSO_WM_DIAGRAM_VIRTUALLY_FRAME" val="{&quot;height&quot;:280.7,&quot;left&quot;:336.55,&quot;top&quot;:74.7,&quot;width&quot;:568.1}"/>
</p:tagLst>
</file>

<file path=ppt/tags/tag28.xml><?xml version="1.0" encoding="utf-8"?>
<p:tagLst xmlns:p="http://schemas.openxmlformats.org/presentationml/2006/main">
  <p:tag name="KSO_WM_DIAGRAM_VIRTUALLY_FRAME" val="{&quot;height&quot;:280.7,&quot;left&quot;:336.55,&quot;top&quot;:74.7,&quot;width&quot;:568.1}"/>
</p:tagLst>
</file>

<file path=ppt/tags/tag29.xml><?xml version="1.0" encoding="utf-8"?>
<p:tagLst xmlns:p="http://schemas.openxmlformats.org/presentationml/2006/main">
  <p:tag name="KSO_WM_DIAGRAM_VIRTUALLY_FRAME" val="{&quot;height&quot;:280.7,&quot;left&quot;:336.55,&quot;top&quot;:74.7,&quot;width&quot;:568.1}"/>
</p:tagLst>
</file>

<file path=ppt/tags/tag30.xml><?xml version="1.0" encoding="utf-8"?>
<p:tagLst xmlns:p="http://schemas.openxmlformats.org/presentationml/2006/main">
  <p:tag name="KSO_WM_DIAGRAM_VIRTUALLY_FRAME" val="{&quot;height&quot;:280.7,&quot;left&quot;:336.55,&quot;top&quot;:74.7,&quot;width&quot;:568.1}"/>
</p:tagLst>
</file>

<file path=ppt/tags/tag31.xml><?xml version="1.0" encoding="utf-8"?>
<p:tagLst xmlns:p="http://schemas.openxmlformats.org/presentationml/2006/main">
  <p:tag name="KSO_WM_DIAGRAM_VIRTUALLY_FRAME" val="{&quot;height&quot;:280.7,&quot;left&quot;:336.55,&quot;top&quot;:74.7,&quot;width&quot;:568.1}"/>
</p:tagLst>
</file>

<file path=ppt/tags/tag32.xml><?xml version="1.0" encoding="utf-8"?>
<p:tagLst xmlns:p="http://schemas.openxmlformats.org/presentationml/2006/main">
  <p:tag name="KSO_WM_DIAGRAM_VIRTUALLY_FRAME" val="{&quot;height&quot;:249.3285489828646,&quot;left&quot;:56.25,&quot;top&quot;:146.09613608653606,&quot;width&quot;:340.92298715203424}"/>
</p:tagLst>
</file>

<file path=ppt/tags/tag33.xml><?xml version="1.0" encoding="utf-8"?>
<p:tagLst xmlns:p="http://schemas.openxmlformats.org/presentationml/2006/main">
  <p:tag name="KSO_WM_DIAGRAM_VIRTUALLY_FRAME" val="{&quot;height&quot;:249.3285489828646,&quot;left&quot;:56.25,&quot;top&quot;:146.09613608653606,&quot;width&quot;:340.92298715203424}"/>
</p:tagLst>
</file>

<file path=ppt/tags/tag34.xml><?xml version="1.0" encoding="utf-8"?>
<p:tagLst xmlns:p="http://schemas.openxmlformats.org/presentationml/2006/main">
  <p:tag name="KSO_WM_DIAGRAM_VIRTUALLY_FRAME" val="{&quot;height&quot;:249.3285489828646,&quot;left&quot;:56.25,&quot;top&quot;:146.09613608653606,&quot;width&quot;:340.92298715203424}"/>
</p:tagLst>
</file>

<file path=ppt/tags/tag35.xml><?xml version="1.0" encoding="utf-8"?>
<p:tagLst xmlns:p="http://schemas.openxmlformats.org/presentationml/2006/main">
  <p:tag name="KSO_WM_DIAGRAM_VIRTUALLY_FRAME" val="{&quot;height&quot;:249.3285489828646,&quot;left&quot;:56.25,&quot;top&quot;:146.09613608653606,&quot;width&quot;:340.92298715203424}"/>
</p:tagLst>
</file>

<file path=ppt/tags/tag36.xml><?xml version="1.0" encoding="utf-8"?>
<p:tagLst xmlns:p="http://schemas.openxmlformats.org/presentationml/2006/main">
  <p:tag name="KSO_WM_DIAGRAM_VIRTUALLY_FRAME" val="{&quot;height&quot;:249.3285489828646,&quot;left&quot;:56.25,&quot;top&quot;:146.09613608653606,&quot;width&quot;:340.92298715203424}"/>
</p:tagLst>
</file>

<file path=ppt/tags/tag37.xml><?xml version="1.0" encoding="utf-8"?>
<p:tagLst xmlns:p="http://schemas.openxmlformats.org/presentationml/2006/main">
  <p:tag name="KSO_WM_DIAGRAM_VIRTUALLY_FRAME" val="{&quot;height&quot;:249.3285489828646,&quot;left&quot;:56.25,&quot;top&quot;:146.09613608653606,&quot;width&quot;:340.92298715203424}"/>
</p:tagLst>
</file>

<file path=ppt/tags/tag38.xml><?xml version="1.0" encoding="utf-8"?>
<p:tagLst xmlns:p="http://schemas.openxmlformats.org/presentationml/2006/main">
  <p:tag name="KSO_WM_DIAGRAM_MAX_ITEMCNT" val="3"/>
  <p:tag name="KSO_WM_DIAGRAM_MIN_ITEMCNT" val="2"/>
  <p:tag name="KSO_WM_DIAGRAM_VIRTUALLY_FRAME" val="{&quot;height&quot;:244.57638244628907,&quot;left&quot;:51.3,&quot;top&quot;:116.75,&quot;width&quot;:849.39444580078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77_2*l_h_i*1_3_2"/>
  <p:tag name="KSO_WM_TEMPLATE_CATEGORY" val="diagram"/>
  <p:tag name="KSO_WM_TEMPLATE_INDEX" val="20238277"/>
  <p:tag name="KSO_WM_UNIT_LAYERLEVEL" val="1_1_1"/>
  <p:tag name="KSO_WM_TAG_VERSION" val="3.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39.xml><?xml version="1.0" encoding="utf-8"?>
<p:tagLst xmlns:p="http://schemas.openxmlformats.org/presentationml/2006/main">
  <p:tag name="KSO_WM_DIAGRAM_MAX_ITEMCNT" val="3"/>
  <p:tag name="KSO_WM_DIAGRAM_MIN_ITEMCNT" val="2"/>
  <p:tag name="KSO_WM_DIAGRAM_VIRTUALLY_FRAME" val="{&quot;height&quot;:246.7,&quot;left&quot;:51.3,&quot;top&quot;:116.75,&quot;width&quot;:849.39444580078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277_2*l_h_i*1_1_2"/>
  <p:tag name="KSO_WM_TEMPLATE_CATEGORY" val="diagram"/>
  <p:tag name="KSO_WM_TEMPLATE_INDEX" val="20238277"/>
  <p:tag name="KSO_WM_UNIT_LAYERLEVEL" val="1_1_1"/>
  <p:tag name="KSO_WM_TAG_VERSION" val="3.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40.xml><?xml version="1.0" encoding="utf-8"?>
<p:tagLst xmlns:p="http://schemas.openxmlformats.org/presentationml/2006/main">
  <p:tag name="KSO_WM_DIAGRAM_MAX_ITEMCNT" val="3"/>
  <p:tag name="KSO_WM_DIAGRAM_MIN_ITEMCNT" val="2"/>
  <p:tag name="KSO_WM_DIAGRAM_VIRTUALLY_FRAME" val="{&quot;height&quot;:246.7,&quot;left&quot;:51.3,&quot;top&quot;:116.75,&quot;width&quot;:849.39444580078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77_2*l_h_i*1_3_2"/>
  <p:tag name="KSO_WM_TEMPLATE_CATEGORY" val="diagram"/>
  <p:tag name="KSO_WM_TEMPLATE_INDEX" val="20238277"/>
  <p:tag name="KSO_WM_UNIT_LAYERLEVEL" val="1_1_1"/>
  <p:tag name="KSO_WM_TAG_VERSION" val="3.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41.xml><?xml version="1.0" encoding="utf-8"?>
<p:tagLst xmlns:p="http://schemas.openxmlformats.org/presentationml/2006/main">
  <p:tag name="KSO_WM_DIAGRAM_MAX_ITEMCNT" val="3"/>
  <p:tag name="KSO_WM_DIAGRAM_MIN_ITEMCNT" val="2"/>
  <p:tag name="KSO_WM_DIAGRAM_VIRTUALLY_FRAME" val="{&quot;height&quot;:244.57638244628907,&quot;left&quot;:51.3,&quot;top&quot;:116.75,&quot;width&quot;:849.39444580078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77_2*l_h_i*1_3_2"/>
  <p:tag name="KSO_WM_TEMPLATE_CATEGORY" val="diagram"/>
  <p:tag name="KSO_WM_TEMPLATE_INDEX" val="20238277"/>
  <p:tag name="KSO_WM_UNIT_LAYERLEVEL" val="1_1_1"/>
  <p:tag name="KSO_WM_TAG_VERSION" val="3.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42.xml><?xml version="1.0" encoding="utf-8"?>
<p:tagLst xmlns:p="http://schemas.openxmlformats.org/presentationml/2006/main">
  <p:tag name="KSO_WM_DIAGRAM_MIN_ITEMCNT" val="2"/>
  <p:tag name="KSO_WM_DIAGRAM_MAX_ITEMCNT" val="3"/>
  <p:tag name="KSO_WM_DIAGRAM_VIRTUALLY_FRAME" val="{&quot;height&quot;:244.57638244628907,&quot;left&quot;:51.3,&quot;top&quot;:116.75,&quot;width&quot;:849.394445800781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7_2*l_h_f*1_3_1"/>
  <p:tag name="KSO_WM_TEMPLATE_CATEGORY" val="diagram"/>
  <p:tag name="KSO_WM_TEMPLATE_INDEX" val="20238277"/>
  <p:tag name="KSO_WM_UNIT_LAYERLEVEL" val="1_1_1"/>
  <p:tag name="KSO_WM_TAG_VERSION" val="3.0"/>
  <p:tag name="KSO_WM_UNIT_PRESET_TEXT" val="Click here to add text"/>
  <p:tag name="KSO_WM_UNIT_LINE_FORE_SCHEMECOLOR_INDEX" val="5"/>
  <p:tag name="KSO_WM_DIAGRAM_USE_COLOR_VALUE" val="{&quot;color_scheme&quot;:1,&quot;color_type&quot;:1,&quot;theme_color_indexes&quot;:[]}"/>
</p:tagLst>
</file>

<file path=ppt/tags/tag43.xml><?xml version="1.0" encoding="utf-8"?>
<p:tagLst xmlns:p="http://schemas.openxmlformats.org/presentationml/2006/main">
  <p:tag name="KSO_WM_DIAGRAM_MAX_ITEMCNT" val="3"/>
  <p:tag name="KSO_WM_DIAGRAM_MIN_ITEMCNT" val="2"/>
  <p:tag name="KSO_WM_DIAGRAM_VIRTUALLY_FRAME" val="{&quot;height&quot;:244.57638244628907,&quot;left&quot;:51.3,&quot;top&quot;:116.75,&quot;width&quot;:849.394445800781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7_2*l_h_a*1_3_1"/>
  <p:tag name="KSO_WM_TEMPLATE_CATEGORY" val="diagram"/>
  <p:tag name="KSO_WM_TEMPLATE_INDEX" val="20238277"/>
  <p:tag name="KSO_WM_UNIT_LAYERLEVEL" val="1_1_1"/>
  <p:tag name="KSO_WM_TAG_VERSION" val="3.0"/>
  <p:tag name="KSO_WM_UNIT_PRESET_TEXT" val="Your title her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44.xml><?xml version="1.0" encoding="utf-8"?>
<p:tagLst xmlns:p="http://schemas.openxmlformats.org/presentationml/2006/main">
  <p:tag name="KSO_WM_DIAGRAM_MIN_ITEMCNT" val="2"/>
  <p:tag name="KSO_WM_DIAGRAM_MAX_ITEMCNT" val="3"/>
  <p:tag name="KSO_WM_DIAGRAM_VIRTUALLY_FRAME" val="{&quot;height&quot;:246.7,&quot;left&quot;:51.3,&quot;top&quot;:116.75,&quot;width&quot;:849.394445800781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7_2*l_h_f*1_3_1"/>
  <p:tag name="KSO_WM_TEMPLATE_CATEGORY" val="diagram"/>
  <p:tag name="KSO_WM_TEMPLATE_INDEX" val="20238277"/>
  <p:tag name="KSO_WM_UNIT_LAYERLEVEL" val="1_1_1"/>
  <p:tag name="KSO_WM_TAG_VERSION" val="3.0"/>
  <p:tag name="KSO_WM_BEAUTIFY_FLAG" val="#wm#"/>
  <p:tag name="KSO_WM_UNIT_PRESET_TEXT" val="Click here to add text"/>
  <p:tag name="KSO_WM_UNIT_LINE_FORE_SCHEMECOLOR_INDEX" val="5"/>
  <p:tag name="KSO_WM_DIAGRAM_USE_COLOR_VALUE" val="{&quot;color_scheme&quot;:1,&quot;color_type&quot;:1,&quot;theme_color_indexes&quot;:[]}"/>
</p:tagLst>
</file>

<file path=ppt/tags/tag45.xml><?xml version="1.0" encoding="utf-8"?>
<p:tagLst xmlns:p="http://schemas.openxmlformats.org/presentationml/2006/main">
  <p:tag name="KSO_WM_DIAGRAM_MIN_ITEMCNT" val="2"/>
  <p:tag name="KSO_WM_DIAGRAM_MAX_ITEMCNT" val="3"/>
  <p:tag name="KSO_WM_DIAGRAM_VIRTUALLY_FRAME" val="{&quot;height&quot;:244.57638244628907,&quot;left&quot;:51.3,&quot;top&quot;:116.75,&quot;width&quot;:849.3944458007812}"/>
  <p:tag name="KSO_WM_DIAGRAM_COLOR_MATCH_VALUE" val="{&quot;shape&quot;:{&quot;fill&quot;:{&quot;solid&quot;:{&quot;brightness&quot;:0,&quot;colorType&quot;:2,&quot;rgb&quot;:&quot;#ffffff&quot;,&quot;transparency&quot;:0},&quot;type&quot;:1},&quot;glow&quot;:{&quot;colorType&quot;:0},&quot;line&quot;:{&quot;solidLine&quot;:{&quot;brightness&quot;:0.800000011920929,&quot;colorType&quot;:1,&quot;foreColorIndex&quot;:5,&quot;transparency&quot;:0},&quot;type&quot;:1},&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8277_2*l_h_f*1_3_1"/>
  <p:tag name="KSO_WM_TEMPLATE_CATEGORY" val="diagram"/>
  <p:tag name="KSO_WM_TEMPLATE_INDEX" val="20238277"/>
  <p:tag name="KSO_WM_UNIT_LAYERLEVEL" val="1_1_1"/>
  <p:tag name="KSO_WM_TAG_VERSION" val="3.0"/>
  <p:tag name="KSO_WM_UNIT_PRESET_TEXT" val="Click here to add text"/>
  <p:tag name="KSO_WM_UNIT_LINE_FORE_SCHEMECOLOR_INDEX" val="5"/>
  <p:tag name="KSO_WM_DIAGRAM_USE_COLOR_VALUE" val="{&quot;color_scheme&quot;:1,&quot;color_type&quot;:1,&quot;theme_color_indexes&quot;:[]}"/>
</p:tagLst>
</file>

<file path=ppt/tags/tag46.xml><?xml version="1.0" encoding="utf-8"?>
<p:tagLst xmlns:p="http://schemas.openxmlformats.org/presentationml/2006/main">
  <p:tag name="KSO_WM_DIAGRAM_MAX_ITEMCNT" val="3"/>
  <p:tag name="KSO_WM_DIAGRAM_MIN_ITEMCNT" val="2"/>
  <p:tag name="KSO_WM_DIAGRAM_VIRTUALLY_FRAME" val="{&quot;height&quot;:244.57638244628907,&quot;left&quot;:51.3,&quot;top&quot;:116.75,&quot;width&quot;:849.394445800781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7_2*l_h_a*1_3_1"/>
  <p:tag name="KSO_WM_TEMPLATE_CATEGORY" val="diagram"/>
  <p:tag name="KSO_WM_TEMPLATE_INDEX" val="20238277"/>
  <p:tag name="KSO_WM_UNIT_LAYERLEVEL" val="1_1_1"/>
  <p:tag name="KSO_WM_TAG_VERSION" val="3.0"/>
  <p:tag name="KSO_WM_UNIT_PRESET_TEXT" val="Your title her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47.xml><?xml version="1.0" encoding="utf-8"?>
<p:tagLst xmlns:p="http://schemas.openxmlformats.org/presentationml/2006/main">
  <p:tag name="KSO_WM_DIAGRAM_MAX_ITEMCNT" val="3"/>
  <p:tag name="KSO_WM_DIAGRAM_MIN_ITEMCNT" val="2"/>
  <p:tag name="KSO_WM_DIAGRAM_VIRTUALLY_FRAME" val="{&quot;height&quot;:246.7,&quot;left&quot;:51.3,&quot;top&quot;:116.75,&quot;width&quot;:849.3944458007812}"/>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8277_2*l_h_a*1_3_1"/>
  <p:tag name="KSO_WM_TEMPLATE_CATEGORY" val="diagram"/>
  <p:tag name="KSO_WM_TEMPLATE_INDEX" val="20238277"/>
  <p:tag name="KSO_WM_UNIT_LAYERLEVEL" val="1_1_1"/>
  <p:tag name="KSO_WM_TAG_VERSION" val="3.0"/>
  <p:tag name="KSO_WM_BEAUTIFY_FLAG" val="#wm#"/>
  <p:tag name="KSO_WM_UNIT_PRESET_TEXT" val="Your title her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48.xml><?xml version="1.0" encoding="utf-8"?>
<p:tagLst xmlns:p="http://schemas.openxmlformats.org/presentationml/2006/main">
  <p:tag name="KSO_WM_DIAGRAM_VIRTUALLY_FRAME" val="{&quot;height&quot;:334.2,&quot;left&quot;:49.6,&quot;top&quot;:91.2,&quot;width&quot;:463.05}"/>
</p:tagLst>
</file>

<file path=ppt/tags/tag49.xml><?xml version="1.0" encoding="utf-8"?>
<p:tagLst xmlns:p="http://schemas.openxmlformats.org/presentationml/2006/main">
  <p:tag name="KSO_WM_DIAGRAM_VIRTUALLY_FRAME" val="{&quot;height&quot;:334.2,&quot;left&quot;:49.6,&quot;top&quot;:91.2,&quot;width&quot;:463.05}"/>
</p:tagLst>
</file>

<file path=ppt/tags/tag50.xml><?xml version="1.0" encoding="utf-8"?>
<p:tagLst xmlns:p="http://schemas.openxmlformats.org/presentationml/2006/main">
  <p:tag name="KSO_WM_DIAGRAM_VIRTUALLY_FRAME" val="{&quot;height&quot;:334.2,&quot;left&quot;:49.6,&quot;top&quot;:91.2,&quot;width&quot;:463.05}"/>
</p:tagLst>
</file>

<file path=ppt/tags/tag51.xml><?xml version="1.0" encoding="utf-8"?>
<p:tagLst xmlns:p="http://schemas.openxmlformats.org/presentationml/2006/main">
  <p:tag name="KSO_WM_DIAGRAM_VIRTUALLY_FRAME" val="{&quot;height&quot;:334.2,&quot;left&quot;:49.6,&quot;top&quot;:91.2,&quot;width&quot;:463.05}"/>
</p:tagLst>
</file>

<file path=ppt/tags/tag52.xml><?xml version="1.0" encoding="utf-8"?>
<p:tagLst xmlns:p="http://schemas.openxmlformats.org/presentationml/2006/main">
  <p:tag name="KSO_WM_DIAGRAM_VIRTUALLY_FRAME" val="{&quot;height&quot;:334.2,&quot;left&quot;:49.6,&quot;top&quot;:91.2,&quot;width&quot;:463.05}"/>
</p:tagLst>
</file>

<file path=ppt/tags/tag53.xml><?xml version="1.0" encoding="utf-8"?>
<p:tagLst xmlns:p="http://schemas.openxmlformats.org/presentationml/2006/main">
  <p:tag name="KSO_WM_DIAGRAM_VIRTUALLY_FRAME" val="{&quot;height&quot;:334.2,&quot;left&quot;:49.6,&quot;top&quot;:91.2,&quot;width&quot;:463.05}"/>
</p:tagLst>
</file>

<file path=ppt/tags/tag54.xml><?xml version="1.0" encoding="utf-8"?>
<p:tagLst xmlns:p="http://schemas.openxmlformats.org/presentationml/2006/main">
  <p:tag name="KSO_WM_DIAGRAM_VIRTUALLY_FRAME" val="{&quot;height&quot;:334.2,&quot;left&quot;:49.6,&quot;top&quot;:91.2,&quot;width&quot;:463.05}"/>
</p:tagLst>
</file>

<file path=ppt/tags/tag55.xml><?xml version="1.0" encoding="utf-8"?>
<p:tagLst xmlns:p="http://schemas.openxmlformats.org/presentationml/2006/main">
  <p:tag name="KSO_WM_DIAGRAM_VIRTUALLY_FRAME" val="{&quot;height&quot;:334.2,&quot;left&quot;:49.6,&quot;top&quot;:91.2,&quot;width&quot;:463.05}"/>
</p:tagLst>
</file>

<file path=ppt/tags/tag56.xml><?xml version="1.0" encoding="utf-8"?>
<p:tagLst xmlns:p="http://schemas.openxmlformats.org/presentationml/2006/main">
  <p:tag name="KSO_WM_DIAGRAM_VIRTUALLY_FRAME" val="{&quot;height&quot;:334.2,&quot;left&quot;:49.6,&quot;top&quot;:91.2,&quot;width&quot;:463.05}"/>
</p:tagLst>
</file>

<file path=ppt/tags/tag57.xml><?xml version="1.0" encoding="utf-8"?>
<p:tagLst xmlns:p="http://schemas.openxmlformats.org/presentationml/2006/main">
  <p:tag name="KSO_WM_DIAGRAM_VIRTUALLY_FRAME" val="{&quot;height&quot;:334.2,&quot;left&quot;:49.6,&quot;top&quot;:91.2,&quot;width&quot;:463.05}"/>
</p:tagLst>
</file>

<file path=ppt/tags/tag58.xml><?xml version="1.0" encoding="utf-8"?>
<p:tagLst xmlns:p="http://schemas.openxmlformats.org/presentationml/2006/main">
  <p:tag name="KSO_WM_DIAGRAM_VIRTUALLY_FRAME" val="{&quot;height&quot;:334.2,&quot;left&quot;:49.6,&quot;top&quot;:91.2,&quot;width&quot;:463.05}"/>
</p:tagLst>
</file>

<file path=ppt/tags/tag59.xml><?xml version="1.0" encoding="utf-8"?>
<p:tagLst xmlns:p="http://schemas.openxmlformats.org/presentationml/2006/main">
  <p:tag name="KSO_WM_DIAGRAM_VIRTUALLY_FRAME" val="{&quot;height&quot;:334.2,&quot;left&quot;:49.6,&quot;top&quot;:91.2,&quot;width&quot;:463.05}"/>
</p:tagLst>
</file>

<file path=ppt/tags/tag60.xml><?xml version="1.0" encoding="utf-8"?>
<p:tagLst xmlns:p="http://schemas.openxmlformats.org/presentationml/2006/main">
  <p:tag name="KSO_WM_DIAGRAM_VIRTUALLY_FRAME" val="{&quot;height&quot;:334.2,&quot;left&quot;:49.6,&quot;top&quot;:91.2,&quot;width&quot;:463.05}"/>
</p:tagLst>
</file>

<file path=ppt/tags/tag61.xml><?xml version="1.0" encoding="utf-8"?>
<p:tagLst xmlns:p="http://schemas.openxmlformats.org/presentationml/2006/main">
  <p:tag name="KSO_WM_DIAGRAM_VIRTUALLY_FRAME" val="{&quot;height&quot;:334.2,&quot;left&quot;:49.6,&quot;top&quot;:91.2,&quot;width&quot;:463.05}"/>
</p:tagLst>
</file>

<file path=ppt/tags/tag62.xml><?xml version="1.0" encoding="utf-8"?>
<p:tagLst xmlns:p="http://schemas.openxmlformats.org/presentationml/2006/main">
  <p:tag name="KSO_WM_DIAGRAM_VIRTUALLY_FRAME" val="{&quot;height&quot;:334.2,&quot;left&quot;:49.6,&quot;top&quot;:91.2,&quot;width&quot;:463.05}"/>
</p:tagLst>
</file>

<file path=ppt/tags/tag63.xml><?xml version="1.0" encoding="utf-8"?>
<p:tagLst xmlns:p="http://schemas.openxmlformats.org/presentationml/2006/main">
  <p:tag name="KSO_WM_DIAGRAM_VIRTUALLY_FRAME" val="{&quot;height&quot;:334.2,&quot;left&quot;:49.6,&quot;top&quot;:91.2,&quot;width&quot;:463.05}"/>
</p:tagLst>
</file>

<file path=ppt/tags/tag64.xml><?xml version="1.0" encoding="utf-8"?>
<p:tagLst xmlns:p="http://schemas.openxmlformats.org/presentationml/2006/main">
  <p:tag name="KSO_WM_DIAGRAM_VIRTUALLY_FRAME" val="{&quot;height&quot;:334.2,&quot;left&quot;:49.6,&quot;top&quot;:91.2,&quot;width&quot;:463.05}"/>
</p:tagLst>
</file>

<file path=ppt/tags/tag65.xml><?xml version="1.0" encoding="utf-8"?>
<p:tagLst xmlns:p="http://schemas.openxmlformats.org/presentationml/2006/main">
  <p:tag name="KSO_WM_DIAGRAM_VIRTUALLY_FRAME" val="{&quot;height&quot;:334.2,&quot;left&quot;:49.6,&quot;top&quot;:91.2,&quot;width&quot;:463.05}"/>
</p:tagLst>
</file>

<file path=ppt/tags/tag66.xml><?xml version="1.0" encoding="utf-8"?>
<p:tagLst xmlns:p="http://schemas.openxmlformats.org/presentationml/2006/main">
  <p:tag name="resource_record_key" val="{&quot;70&quot;:[3321460,3320295]}"/>
</p:tagLst>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en-GB" altLang="en-US"/>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4511</Words>
  <Application>WPS Presentation</Application>
  <PresentationFormat>Widescreen</PresentationFormat>
  <Paragraphs>309</Paragraphs>
  <Slides>11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Calibri</vt:lpstr>
      <vt:lpstr>Nunito</vt:lpstr>
      <vt:lpstr>Segoe Print</vt:lpstr>
      <vt:lpstr>Georgia Pro Black</vt:lpstr>
      <vt:lpstr>Georgia Pro Cond Light</vt:lpstr>
      <vt:lpstr>Georgia Pro Cond</vt:lpstr>
      <vt:lpstr>Cascadia Code</vt:lpstr>
      <vt:lpstr>Microsoft YaHei</vt:lpstr>
      <vt:lpstr>Arial Unicode MS</vt:lpstr>
      <vt:lpstr>Calibri Light</vt:lpstr>
      <vt:lpstr>BIA Template</vt:lpstr>
      <vt:lpstr>PowerPoint 演示文稿</vt:lpstr>
      <vt:lpstr>Introduction &amp; Objectives</vt:lpstr>
      <vt:lpstr>PowerPoint 演示文稿</vt:lpstr>
      <vt:lpstr> Feature Engineering &amp; Preprocessing</vt:lpstr>
      <vt:lpstr> Customer Segmentation Methodology</vt:lpstr>
      <vt:lpstr>Segmentation Insights &amp; Risk Modeling</vt:lpstr>
      <vt:lpstr> Predictive Modelling Overview</vt:lpstr>
      <vt:lpstr>Model Evaluation and Results</vt:lpstr>
      <vt:lpstr>Conclusion</vt:lpstr>
      <vt:lpstr>Questions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Tushar Nalawade</cp:lastModifiedBy>
  <cp:revision>2258</cp:revision>
  <dcterms:created xsi:type="dcterms:W3CDTF">2020-12-23T13:36:00Z</dcterms:created>
  <dcterms:modified xsi:type="dcterms:W3CDTF">2026-04-12T22:26:09Z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2057-12.2.0.23201</vt:lpwstr>
  </property>
</Properties>
</file>
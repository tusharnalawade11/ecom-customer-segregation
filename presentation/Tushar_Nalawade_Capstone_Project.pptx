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bookmarkIdSeed="2">
  <p:sldMasterIdLst>
    <p:sldMasterId id="2147483648" r:id="rId1"/>
  </p:sldMasterIdLst>
  <p:notesMasterIdLst>
    <p:notesMasterId r:id="rId10"/>
  </p:notesMasterIdLst>
  <p:handoutMasterIdLst>
    <p:handoutMasterId r:id="rId15"/>
  </p:handoutMasterIdLst>
  <p:sldIdLst>
    <p:sldId id="256" r:id="rId3"/>
    <p:sldId id="714" r:id="rId4"/>
    <p:sldId id="715" r:id="rId5"/>
    <p:sldId id="716" r:id="rId6"/>
    <p:sldId id="717" r:id="rId7"/>
    <p:sldId id="713" r:id="rId8"/>
    <p:sldId id="676" r:id="rId9"/>
    <p:sldId id="719" r:id="rId11"/>
    <p:sldId id="720" r:id="rId12"/>
    <p:sldId id="711" r:id="rId13"/>
    <p:sldId id="303" r:id="rId14"/>
  </p:sldIdLst>
  <p:sldSz cx="12192000" cy="6858000"/>
  <p:notesSz cx="6858000" cy="9144000"/>
  <p:custDataLst>
    <p:tags r:id="rId19"/>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AE0EA"/>
    <a:srgbClr val="161A3E"/>
    <a:srgbClr val="8FAADC"/>
    <a:srgbClr val="626CC7"/>
    <a:srgbClr val="333F50"/>
    <a:srgbClr val="8497B0"/>
    <a:srgbClr val="2F5597"/>
    <a:srgbClr val="323B8D"/>
    <a:srgbClr val="21275D"/>
    <a:srgbClr val="20386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71" autoAdjust="0"/>
    <p:restoredTop sz="93447" autoAdjust="0"/>
  </p:normalViewPr>
  <p:slideViewPr>
    <p:cSldViewPr snapToGrid="0">
      <p:cViewPr varScale="1">
        <p:scale>
          <a:sx n="104" d="100"/>
          <a:sy n="104" d="100"/>
        </p:scale>
        <p:origin x="192" y="51"/>
      </p:cViewPr>
      <p:guideLst/>
    </p:cSldViewPr>
  </p:slideViewPr>
  <p:notesTextViewPr>
    <p:cViewPr>
      <p:scale>
        <a:sx n="75" d="100"/>
        <a:sy n="75"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9" Type="http://schemas.openxmlformats.org/officeDocument/2006/relationships/tags" Target="tags/tag66.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handoutMaster" Target="handoutMasters/handoutMaster1.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notesMaster" Target="notesMasters/notesMaster1.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0077D8-B575-4753-B8FD-F5736649C91E}" type="datetimeFigureOut">
              <a:rPr lang="en-IN" smtClean="0"/>
            </a:fld>
            <a:endParaRPr lang="en-IN"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FFB008-8E38-46F5-BCB9-8CFEF233CF3A}" type="slidenum">
              <a:rPr lang="en-IN" smtClean="0"/>
            </a:fld>
            <a:endParaRPr lang="en-IN"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47FFB008-8E38-46F5-BCB9-8CFEF233CF3A}" type="slidenum">
              <a:rPr lang="en-IN" smtClean="0"/>
            </a:fld>
            <a:endParaRPr lang="en-IN" dirty="0"/>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grpSp>
        <p:nvGrpSpPr>
          <p:cNvPr id="21" name="Group 20"/>
          <p:cNvGrpSpPr/>
          <p:nvPr userDrawn="1"/>
        </p:nvGrpSpPr>
        <p:grpSpPr>
          <a:xfrm>
            <a:off x="-21770" y="0"/>
            <a:ext cx="12213771" cy="6858000"/>
            <a:chOff x="-21770" y="0"/>
            <a:chExt cx="12213771" cy="6858000"/>
          </a:xfrm>
        </p:grpSpPr>
        <p:pic>
          <p:nvPicPr>
            <p:cNvPr id="6" name="Picture 5" descr="Tech Background&quot; Images – Browse 8,227 Stock Photos, Vectors, and Video |  Adobe Stock"/>
            <p:cNvPicPr>
              <a:picLocks noChangeAspect="1" noChangeArrowheads="1"/>
            </p:cNvPicPr>
            <p:nvPr userDrawn="1"/>
          </p:nvPicPr>
          <p:blipFill>
            <a:blip r:embed="rId2">
              <a:extLst>
                <a:ext uri="{28A0092B-C50C-407E-A947-70E740481C1C}">
                  <a14:useLocalDpi xmlns:a14="http://schemas.microsoft.com/office/drawing/2010/main" val="0"/>
                </a:ext>
              </a:extLst>
            </a:blip>
            <a:srcRect l="2352" t="2332" r="1954" b="1250"/>
            <a:stretch>
              <a:fillRect/>
            </a:stretch>
          </p:blipFill>
          <p:spPr bwMode="auto">
            <a:xfrm>
              <a:off x="-21770" y="0"/>
              <a:ext cx="12213771" cy="6858000"/>
            </a:xfrm>
            <a:custGeom>
              <a:avLst/>
              <a:gdLst>
                <a:gd name="connsiteX0" fmla="*/ 0 w 12213771"/>
                <a:gd name="connsiteY0" fmla="*/ 0 h 6858000"/>
                <a:gd name="connsiteX1" fmla="*/ 12213771 w 12213771"/>
                <a:gd name="connsiteY1" fmla="*/ 0 h 6858000"/>
                <a:gd name="connsiteX2" fmla="*/ 12213771 w 12213771"/>
                <a:gd name="connsiteY2" fmla="*/ 6858000 h 6858000"/>
                <a:gd name="connsiteX3" fmla="*/ 0 w 1221377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213771" h="6858000">
                  <a:moveTo>
                    <a:pt x="0" y="0"/>
                  </a:moveTo>
                  <a:lnTo>
                    <a:pt x="12213771" y="0"/>
                  </a:lnTo>
                  <a:lnTo>
                    <a:pt x="12213771"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017794" y="913775"/>
              <a:ext cx="5159490" cy="1423752"/>
            </a:xfrm>
            <a:prstGeom prst="rect">
              <a:avLst/>
            </a:prstGeom>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dirty="0"/>
              <a:t>Click to edit Master title style</a:t>
            </a:r>
            <a:endParaRPr lang="en-US" dirty="0"/>
          </a:p>
        </p:txBody>
      </p:sp>
      <p:sp>
        <p:nvSpPr>
          <p:cNvPr id="3" name="Content Placeholder 2"/>
          <p:cNvSpPr>
            <a:spLocks noGrp="1"/>
          </p:cNvSpPr>
          <p:nvPr>
            <p:ph idx="1"/>
          </p:nvPr>
        </p:nvSpPr>
        <p:spPr>
          <a:xfrm>
            <a:off x="678884" y="1675075"/>
            <a:ext cx="10834234"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 Third">
    <p:spTree>
      <p:nvGrpSpPr>
        <p:cNvPr id="1" name=""/>
        <p:cNvGrpSpPr/>
        <p:nvPr/>
      </p:nvGrpSpPr>
      <p:grpSpPr>
        <a:xfrm>
          <a:off x="0" y="0"/>
          <a:ext cx="0" cy="0"/>
          <a:chOff x="0" y="0"/>
          <a:chExt cx="0" cy="0"/>
        </a:xfrm>
      </p:grpSpPr>
      <p:sp>
        <p:nvSpPr>
          <p:cNvPr id="3" name="Content Placeholder 2"/>
          <p:cNvSpPr>
            <a:spLocks noGrp="1"/>
          </p:cNvSpPr>
          <p:nvPr>
            <p:ph idx="1"/>
          </p:nvPr>
        </p:nvSpPr>
        <p:spPr>
          <a:xfrm>
            <a:off x="4455269" y="603666"/>
            <a:ext cx="7057847" cy="5454235"/>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6" name="Rectangle 5"/>
          <p:cNvSpPr/>
          <p:nvPr userDrawn="1"/>
        </p:nvSpPr>
        <p:spPr>
          <a:xfrm>
            <a:off x="1" y="0"/>
            <a:ext cx="41148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sp>
        <p:nvSpPr>
          <p:cNvPr id="2" name="Title 1"/>
          <p:cNvSpPr>
            <a:spLocks noGrp="1"/>
          </p:cNvSpPr>
          <p:nvPr>
            <p:ph type="title"/>
          </p:nvPr>
        </p:nvSpPr>
        <p:spPr>
          <a:xfrm>
            <a:off x="838202" y="2049670"/>
            <a:ext cx="2743200" cy="2562226"/>
          </a:xfrm>
        </p:spPr>
        <p:txBody>
          <a:bodyPr/>
          <a:lstStyle>
            <a:lvl1pPr>
              <a:defRPr>
                <a:solidFill>
                  <a:schemeClr val="bg1"/>
                </a:solidFill>
              </a:defRPr>
            </a:lvl1pPr>
          </a:lstStyle>
          <a:p>
            <a:r>
              <a:rPr lang="en-US" dirty="0"/>
              <a:t>Click to edit Master title style</a:t>
            </a:r>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One Third">
    <p:spTree>
      <p:nvGrpSpPr>
        <p:cNvPr id="1" name=""/>
        <p:cNvGrpSpPr/>
        <p:nvPr/>
      </p:nvGrpSpPr>
      <p:grpSpPr>
        <a:xfrm>
          <a:off x="0" y="0"/>
          <a:ext cx="0" cy="0"/>
          <a:chOff x="0" y="0"/>
          <a:chExt cx="0" cy="0"/>
        </a:xfrm>
      </p:grpSpPr>
      <p:sp>
        <p:nvSpPr>
          <p:cNvPr id="2" name="Title 1"/>
          <p:cNvSpPr>
            <a:spLocks noGrp="1"/>
          </p:cNvSpPr>
          <p:nvPr>
            <p:ph type="title"/>
          </p:nvPr>
        </p:nvSpPr>
        <p:spPr>
          <a:xfrm>
            <a:off x="678882" y="603666"/>
            <a:ext cx="7055274" cy="612775"/>
          </a:xfrm>
        </p:spPr>
        <p:txBody>
          <a:bodyPr/>
          <a:lstStyle/>
          <a:p>
            <a:r>
              <a:rPr lang="en-US" dirty="0"/>
              <a:t>Click to edit Master title style</a:t>
            </a:r>
            <a:endParaRPr lang="en-US" dirty="0"/>
          </a:p>
        </p:txBody>
      </p:sp>
      <p:sp>
        <p:nvSpPr>
          <p:cNvPr id="3" name="Content Placeholder 2"/>
          <p:cNvSpPr>
            <a:spLocks noGrp="1"/>
          </p:cNvSpPr>
          <p:nvPr>
            <p:ph idx="1"/>
          </p:nvPr>
        </p:nvSpPr>
        <p:spPr>
          <a:xfrm>
            <a:off x="678882" y="1659835"/>
            <a:ext cx="7055274"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6" name="Rectangle 5"/>
          <p:cNvSpPr/>
          <p:nvPr userDrawn="1"/>
        </p:nvSpPr>
        <p:spPr>
          <a:xfrm>
            <a:off x="8077201" y="0"/>
            <a:ext cx="41148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Half &amp; Half">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5"/>
            <a:ext cx="5107239" cy="612775"/>
          </a:xfrm>
        </p:spPr>
        <p:txBody>
          <a:bodyPr/>
          <a:lstStyle/>
          <a:p>
            <a:r>
              <a:rPr lang="en-US" dirty="0"/>
              <a:t>Click to edit Master title style</a:t>
            </a:r>
            <a:endParaRPr lang="en-US" dirty="0"/>
          </a:p>
        </p:txBody>
      </p:sp>
      <p:sp>
        <p:nvSpPr>
          <p:cNvPr id="3" name="Content Placeholder 2"/>
          <p:cNvSpPr>
            <a:spLocks noGrp="1"/>
          </p:cNvSpPr>
          <p:nvPr>
            <p:ph idx="1"/>
          </p:nvPr>
        </p:nvSpPr>
        <p:spPr>
          <a:xfrm>
            <a:off x="678881" y="1659836"/>
            <a:ext cx="5107239"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6" name="Rectangle 5"/>
          <p:cNvSpPr/>
          <p:nvPr userDrawn="1"/>
        </p:nvSpPr>
        <p:spPr>
          <a:xfrm>
            <a:off x="6096000" y="0"/>
            <a:ext cx="60960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One Third Flow Errow">
    <p:spTree>
      <p:nvGrpSpPr>
        <p:cNvPr id="1" name=""/>
        <p:cNvGrpSpPr/>
        <p:nvPr/>
      </p:nvGrpSpPr>
      <p:grpSpPr>
        <a:xfrm>
          <a:off x="0" y="0"/>
          <a:ext cx="0" cy="0"/>
          <a:chOff x="0" y="0"/>
          <a:chExt cx="0" cy="0"/>
        </a:xfrm>
      </p:grpSpPr>
      <p:sp>
        <p:nvSpPr>
          <p:cNvPr id="2" name="Title 1"/>
          <p:cNvSpPr>
            <a:spLocks noGrp="1"/>
          </p:cNvSpPr>
          <p:nvPr>
            <p:ph type="title"/>
          </p:nvPr>
        </p:nvSpPr>
        <p:spPr>
          <a:xfrm>
            <a:off x="4455269" y="603666"/>
            <a:ext cx="7057847" cy="612775"/>
          </a:xfrm>
        </p:spPr>
        <p:txBody>
          <a:bodyPr/>
          <a:lstStyle/>
          <a:p>
            <a:r>
              <a:rPr lang="en-US" dirty="0"/>
              <a:t>Click to edit Master title style</a:t>
            </a:r>
            <a:endParaRPr lang="en-US" dirty="0"/>
          </a:p>
        </p:txBody>
      </p:sp>
      <p:sp>
        <p:nvSpPr>
          <p:cNvPr id="3" name="Content Placeholder 2"/>
          <p:cNvSpPr>
            <a:spLocks noGrp="1"/>
          </p:cNvSpPr>
          <p:nvPr>
            <p:ph idx="1"/>
          </p:nvPr>
        </p:nvSpPr>
        <p:spPr>
          <a:xfrm>
            <a:off x="4455269" y="1659835"/>
            <a:ext cx="7057847"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6" name="Arrow: Pentagon 5"/>
          <p:cNvSpPr/>
          <p:nvPr userDrawn="1"/>
        </p:nvSpPr>
        <p:spPr>
          <a:xfrm>
            <a:off x="1" y="0"/>
            <a:ext cx="4114800" cy="6858000"/>
          </a:xfrm>
          <a:prstGeom prst="homePlate">
            <a:avLst>
              <a:gd name="adj" fmla="val 16049"/>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sp>
        <p:nvSpPr>
          <p:cNvPr id="8" name="Title 1"/>
          <p:cNvSpPr txBox="1"/>
          <p:nvPr userDrawn="1"/>
        </p:nvSpPr>
        <p:spPr>
          <a:xfrm>
            <a:off x="678882" y="3122614"/>
            <a:ext cx="2978720"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chemeClr val="bg1"/>
                </a:solidFill>
                <a:latin typeface="Calibri" panose="020F0502020204030204" pitchFamily="34" charset="0"/>
              </a:rPr>
              <a:t>Click to edit Master title style</a:t>
            </a:r>
            <a:endParaRPr lang="en-US" sz="3400" dirty="0">
              <a:solidFill>
                <a:schemeClr val="bg1"/>
              </a:solidFill>
              <a:latin typeface="Calibri" panose="020F0502020204030204" pitchFamily="34" charset="0"/>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One Third">
    <p:spTree>
      <p:nvGrpSpPr>
        <p:cNvPr id="1" name=""/>
        <p:cNvGrpSpPr/>
        <p:nvPr/>
      </p:nvGrpSpPr>
      <p:grpSpPr>
        <a:xfrm>
          <a:off x="0" y="0"/>
          <a:ext cx="0" cy="0"/>
          <a:chOff x="0" y="0"/>
          <a:chExt cx="0" cy="0"/>
        </a:xfrm>
      </p:grpSpPr>
      <p:sp>
        <p:nvSpPr>
          <p:cNvPr id="8" name="Title 1"/>
          <p:cNvSpPr txBox="1"/>
          <p:nvPr userDrawn="1"/>
        </p:nvSpPr>
        <p:spPr>
          <a:xfrm>
            <a:off x="838200" y="3122614"/>
            <a:ext cx="2819401"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rgbClr val="1D1B58"/>
                </a:solidFill>
                <a:latin typeface="Calibri" panose="020F0502020204030204" pitchFamily="34" charset="0"/>
              </a:rPr>
              <a:t>Click to edit Master title style</a:t>
            </a:r>
            <a:endParaRPr lang="en-US" sz="3400" dirty="0">
              <a:solidFill>
                <a:srgbClr val="1D1B58"/>
              </a:solidFill>
              <a:latin typeface="Calibri" panose="020F0502020204030204" pitchFamily="34" charset="0"/>
            </a:endParaRPr>
          </a:p>
        </p:txBody>
      </p:sp>
      <p:sp>
        <p:nvSpPr>
          <p:cNvPr id="13" name="Freeform: Shape 12"/>
          <p:cNvSpPr/>
          <p:nvPr userDrawn="1"/>
        </p:nvSpPr>
        <p:spPr>
          <a:xfrm>
            <a:off x="3454417" y="0"/>
            <a:ext cx="8737584" cy="6858000"/>
          </a:xfrm>
          <a:custGeom>
            <a:avLst/>
            <a:gdLst>
              <a:gd name="connsiteX0" fmla="*/ 0 w 9601184"/>
              <a:gd name="connsiteY0" fmla="*/ 0 h 6858000"/>
              <a:gd name="connsiteX1" fmla="*/ 9601184 w 9601184"/>
              <a:gd name="connsiteY1" fmla="*/ 0 h 6858000"/>
              <a:gd name="connsiteX2" fmla="*/ 9601184 w 9601184"/>
              <a:gd name="connsiteY2" fmla="*/ 6858000 h 6858000"/>
              <a:gd name="connsiteX3" fmla="*/ 0 w 9601184"/>
              <a:gd name="connsiteY3" fmla="*/ 6858000 h 6858000"/>
              <a:gd name="connsiteX4" fmla="*/ 660384 w 9601184"/>
              <a:gd name="connsiteY4" fmla="*/ 3429000 h 6858000"/>
              <a:gd name="connsiteX5" fmla="*/ 0 w 9601184"/>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601184" h="6858000">
                <a:moveTo>
                  <a:pt x="0" y="0"/>
                </a:moveTo>
                <a:lnTo>
                  <a:pt x="9601184" y="0"/>
                </a:lnTo>
                <a:lnTo>
                  <a:pt x="9601184" y="6858000"/>
                </a:lnTo>
                <a:lnTo>
                  <a:pt x="0" y="6858000"/>
                </a:lnTo>
                <a:lnTo>
                  <a:pt x="660384" y="3429000"/>
                </a:lnTo>
                <a:lnTo>
                  <a:pt x="0" y="0"/>
                </a:lnTo>
                <a:close/>
              </a:path>
            </a:pathLst>
          </a:custGeom>
          <a:solidFill>
            <a:srgbClr val="1D1B5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800" dirty="0"/>
          </a:p>
        </p:txBody>
      </p:sp>
      <p:sp>
        <p:nvSpPr>
          <p:cNvPr id="2" name="Title 1"/>
          <p:cNvSpPr>
            <a:spLocks noGrp="1"/>
          </p:cNvSpPr>
          <p:nvPr>
            <p:ph type="title"/>
          </p:nvPr>
        </p:nvSpPr>
        <p:spPr>
          <a:xfrm>
            <a:off x="4455269" y="603666"/>
            <a:ext cx="7057847" cy="612775"/>
          </a:xfrm>
        </p:spPr>
        <p:txBody>
          <a:bodyPr/>
          <a:lstStyle>
            <a:lvl1pPr>
              <a:defRPr>
                <a:solidFill>
                  <a:schemeClr val="bg1"/>
                </a:solidFill>
              </a:defRPr>
            </a:lvl1pPr>
          </a:lstStyle>
          <a:p>
            <a:r>
              <a:rPr lang="en-US" dirty="0"/>
              <a:t>Click to edit Master title style</a:t>
            </a:r>
            <a:endParaRPr lang="en-US" dirty="0"/>
          </a:p>
        </p:txBody>
      </p:sp>
      <p:sp>
        <p:nvSpPr>
          <p:cNvPr id="3" name="Content Placeholder 2"/>
          <p:cNvSpPr>
            <a:spLocks noGrp="1"/>
          </p:cNvSpPr>
          <p:nvPr>
            <p:ph idx="1"/>
          </p:nvPr>
        </p:nvSpPr>
        <p:spPr>
          <a:xfrm>
            <a:off x="4455269" y="1659835"/>
            <a:ext cx="7057847" cy="4398066"/>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One Third">
    <p:spTree>
      <p:nvGrpSpPr>
        <p:cNvPr id="1" name=""/>
        <p:cNvGrpSpPr/>
        <p:nvPr/>
      </p:nvGrpSpPr>
      <p:grpSpPr>
        <a:xfrm>
          <a:off x="0" y="0"/>
          <a:ext cx="0" cy="0"/>
          <a:chOff x="0" y="0"/>
          <a:chExt cx="0" cy="0"/>
        </a:xfrm>
      </p:grpSpPr>
      <p:sp>
        <p:nvSpPr>
          <p:cNvPr id="2" name="Title 1"/>
          <p:cNvSpPr>
            <a:spLocks noGrp="1"/>
          </p:cNvSpPr>
          <p:nvPr>
            <p:ph type="title"/>
          </p:nvPr>
        </p:nvSpPr>
        <p:spPr>
          <a:xfrm>
            <a:off x="678882" y="603666"/>
            <a:ext cx="6687118" cy="612775"/>
          </a:xfrm>
        </p:spPr>
        <p:txBody>
          <a:bodyPr/>
          <a:lstStyle/>
          <a:p>
            <a:r>
              <a:rPr lang="en-US" dirty="0"/>
              <a:t>Click to edit Master title style</a:t>
            </a:r>
            <a:endParaRPr lang="en-US" dirty="0"/>
          </a:p>
        </p:txBody>
      </p:sp>
      <p:sp>
        <p:nvSpPr>
          <p:cNvPr id="3" name="Content Placeholder 2"/>
          <p:cNvSpPr>
            <a:spLocks noGrp="1"/>
          </p:cNvSpPr>
          <p:nvPr>
            <p:ph idx="1"/>
          </p:nvPr>
        </p:nvSpPr>
        <p:spPr>
          <a:xfrm>
            <a:off x="678882" y="1659835"/>
            <a:ext cx="6687118"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8" name="Title 1"/>
          <p:cNvSpPr txBox="1"/>
          <p:nvPr userDrawn="1"/>
        </p:nvSpPr>
        <p:spPr>
          <a:xfrm>
            <a:off x="8567565" y="3064248"/>
            <a:ext cx="3314556"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chemeClr val="bg1"/>
                </a:solidFill>
                <a:latin typeface="Calibri" panose="020F0502020204030204" pitchFamily="34" charset="0"/>
              </a:rPr>
              <a:t>Click to edit Master title style</a:t>
            </a:r>
            <a:endParaRPr lang="en-US" sz="3400" dirty="0">
              <a:solidFill>
                <a:schemeClr val="bg1"/>
              </a:solidFill>
              <a:latin typeface="Calibri" panose="020F0502020204030204" pitchFamily="34" charset="0"/>
            </a:endParaRPr>
          </a:p>
        </p:txBody>
      </p:sp>
      <p:sp>
        <p:nvSpPr>
          <p:cNvPr id="13" name="Freeform: Shape 12"/>
          <p:cNvSpPr/>
          <p:nvPr userDrawn="1"/>
        </p:nvSpPr>
        <p:spPr>
          <a:xfrm>
            <a:off x="7543800" y="0"/>
            <a:ext cx="4648201" cy="6858000"/>
          </a:xfrm>
          <a:custGeom>
            <a:avLst/>
            <a:gdLst>
              <a:gd name="connsiteX0" fmla="*/ 0 w 3818882"/>
              <a:gd name="connsiteY0" fmla="*/ 0 h 6858000"/>
              <a:gd name="connsiteX1" fmla="*/ 3818882 w 3818882"/>
              <a:gd name="connsiteY1" fmla="*/ 0 h 6858000"/>
              <a:gd name="connsiteX2" fmla="*/ 3818882 w 3818882"/>
              <a:gd name="connsiteY2" fmla="*/ 6858000 h 6858000"/>
              <a:gd name="connsiteX3" fmla="*/ 0 w 3818882"/>
              <a:gd name="connsiteY3" fmla="*/ 6858000 h 6858000"/>
              <a:gd name="connsiteX4" fmla="*/ 796282 w 3818882"/>
              <a:gd name="connsiteY4" fmla="*/ 3429000 h 6858000"/>
              <a:gd name="connsiteX5" fmla="*/ 0 w 3818882"/>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818882" h="6858000">
                <a:moveTo>
                  <a:pt x="0" y="0"/>
                </a:moveTo>
                <a:lnTo>
                  <a:pt x="3818882" y="0"/>
                </a:lnTo>
                <a:lnTo>
                  <a:pt x="3818882" y="6858000"/>
                </a:lnTo>
                <a:lnTo>
                  <a:pt x="0" y="6858000"/>
                </a:lnTo>
                <a:lnTo>
                  <a:pt x="796282" y="3429000"/>
                </a:lnTo>
                <a:lnTo>
                  <a:pt x="0" y="0"/>
                </a:lnTo>
                <a:close/>
              </a:path>
            </a:pathLst>
          </a:custGeom>
          <a:solidFill>
            <a:srgbClr val="1D1B5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800" dirty="0"/>
          </a:p>
        </p:txBody>
      </p:sp>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8883" y="1709738"/>
            <a:ext cx="10834234" cy="2852737"/>
          </a:xfrm>
        </p:spPr>
        <p:txBody>
          <a:bodyPr anchor="b"/>
          <a:lstStyle>
            <a:lvl1pPr>
              <a:defRPr sz="6000"/>
            </a:lvl1pPr>
          </a:lstStyle>
          <a:p>
            <a:r>
              <a:rPr lang="en-US" dirty="0"/>
              <a:t>Click to edit Master title style</a:t>
            </a:r>
            <a:endParaRPr lang="en-US" dirty="0"/>
          </a:p>
        </p:txBody>
      </p:sp>
      <p:sp>
        <p:nvSpPr>
          <p:cNvPr id="3" name="Text Placeholder 2"/>
          <p:cNvSpPr>
            <a:spLocks noGrp="1"/>
          </p:cNvSpPr>
          <p:nvPr>
            <p:ph type="body" idx="1"/>
          </p:nvPr>
        </p:nvSpPr>
        <p:spPr>
          <a:xfrm>
            <a:off x="678883" y="4589464"/>
            <a:ext cx="10834234"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6"/>
            <a:ext cx="10834233" cy="612775"/>
          </a:xfrm>
        </p:spPr>
        <p:txBody>
          <a:bodyPr/>
          <a:lstStyle/>
          <a:p>
            <a:r>
              <a:rPr lang="en-US" dirty="0"/>
              <a:t>Click to edit Master title style</a:t>
            </a:r>
            <a:endParaRPr lang="en-US" dirty="0"/>
          </a:p>
        </p:txBody>
      </p:sp>
      <p:sp>
        <p:nvSpPr>
          <p:cNvPr id="3" name="Content Placeholder 2"/>
          <p:cNvSpPr>
            <a:spLocks noGrp="1"/>
          </p:cNvSpPr>
          <p:nvPr>
            <p:ph sz="half" idx="1"/>
          </p:nvPr>
        </p:nvSpPr>
        <p:spPr>
          <a:xfrm>
            <a:off x="678881" y="1659835"/>
            <a:ext cx="5340919" cy="4399442"/>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Content Placeholder 3"/>
          <p:cNvSpPr>
            <a:spLocks noGrp="1"/>
          </p:cNvSpPr>
          <p:nvPr>
            <p:ph sz="half" idx="2"/>
          </p:nvPr>
        </p:nvSpPr>
        <p:spPr>
          <a:xfrm>
            <a:off x="6172199" y="1659835"/>
            <a:ext cx="5340917" cy="4399442"/>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5"/>
            <a:ext cx="10834234" cy="612775"/>
          </a:xfrm>
        </p:spPr>
        <p:txBody>
          <a:bodyPr/>
          <a:lstStyle/>
          <a:p>
            <a:r>
              <a:rPr lang="en-US" dirty="0"/>
              <a:t>Click to edit Master title style</a:t>
            </a:r>
            <a:endParaRPr lang="en-US" dirty="0"/>
          </a:p>
        </p:txBody>
      </p:sp>
      <p:sp>
        <p:nvSpPr>
          <p:cNvPr id="3" name="Text Placeholder 2"/>
          <p:cNvSpPr>
            <a:spLocks noGrp="1"/>
          </p:cNvSpPr>
          <p:nvPr>
            <p:ph type="body" idx="1"/>
          </p:nvPr>
        </p:nvSpPr>
        <p:spPr>
          <a:xfrm>
            <a:off x="678881" y="1659834"/>
            <a:ext cx="5318693" cy="655349"/>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endParaRPr lang="en-US" dirty="0"/>
          </a:p>
        </p:txBody>
      </p:sp>
      <p:sp>
        <p:nvSpPr>
          <p:cNvPr id="4" name="Content Placeholder 3"/>
          <p:cNvSpPr>
            <a:spLocks noGrp="1"/>
          </p:cNvSpPr>
          <p:nvPr>
            <p:ph sz="half" idx="2"/>
          </p:nvPr>
        </p:nvSpPr>
        <p:spPr>
          <a:xfrm>
            <a:off x="678881" y="2505075"/>
            <a:ext cx="5318693" cy="355282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5" name="Text Placeholder 4"/>
          <p:cNvSpPr>
            <a:spLocks noGrp="1"/>
          </p:cNvSpPr>
          <p:nvPr>
            <p:ph type="body" sz="quarter" idx="3"/>
          </p:nvPr>
        </p:nvSpPr>
        <p:spPr>
          <a:xfrm>
            <a:off x="6172202" y="1659834"/>
            <a:ext cx="5340914" cy="655349"/>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endParaRPr lang="en-US" dirty="0"/>
          </a:p>
        </p:txBody>
      </p:sp>
      <p:sp>
        <p:nvSpPr>
          <p:cNvPr id="6" name="Content Placeholder 5"/>
          <p:cNvSpPr>
            <a:spLocks noGrp="1"/>
          </p:cNvSpPr>
          <p:nvPr>
            <p:ph sz="quarter" idx="4"/>
          </p:nvPr>
        </p:nvSpPr>
        <p:spPr>
          <a:xfrm>
            <a:off x="6172202" y="2505075"/>
            <a:ext cx="5340914" cy="355282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a:t>Click to edit Master title style</a:t>
            </a: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6"/>
            <a:ext cx="4093145" cy="1453734"/>
          </a:xfrm>
        </p:spPr>
        <p:txBody>
          <a:bodyPr anchor="b"/>
          <a:lstStyle>
            <a:lvl1pPr>
              <a:defRPr sz="3200"/>
            </a:lvl1pPr>
          </a:lstStyle>
          <a:p>
            <a:r>
              <a:rPr lang="en-US" dirty="0"/>
              <a:t>Click to edit Master title style</a:t>
            </a:r>
            <a:endParaRPr lang="en-US" dirty="0"/>
          </a:p>
        </p:txBody>
      </p:sp>
      <p:sp>
        <p:nvSpPr>
          <p:cNvPr id="3" name="Content Placeholder 2"/>
          <p:cNvSpPr>
            <a:spLocks noGrp="1"/>
          </p:cNvSpPr>
          <p:nvPr>
            <p:ph idx="1"/>
          </p:nvPr>
        </p:nvSpPr>
        <p:spPr>
          <a:xfrm>
            <a:off x="5183189" y="1659835"/>
            <a:ext cx="6329928" cy="4201215"/>
          </a:xfrm>
          <a:prstGeom prst="rect">
            <a:avLst/>
          </a:prstGeom>
        </p:spPr>
        <p:txBody>
          <a:bodyPr/>
          <a:lstStyle>
            <a:lvl1pPr>
              <a:defRPr sz="3200">
                <a:solidFill>
                  <a:schemeClr val="bg2">
                    <a:lumMod val="10000"/>
                  </a:schemeClr>
                </a:solidFill>
              </a:defRPr>
            </a:lvl1pPr>
            <a:lvl2pPr>
              <a:defRPr sz="2800">
                <a:solidFill>
                  <a:schemeClr val="bg2">
                    <a:lumMod val="10000"/>
                  </a:schemeClr>
                </a:solidFill>
              </a:defRPr>
            </a:lvl2pPr>
            <a:lvl3pPr>
              <a:defRPr sz="2400">
                <a:solidFill>
                  <a:schemeClr val="bg2">
                    <a:lumMod val="10000"/>
                  </a:schemeClr>
                </a:solidFill>
              </a:defRPr>
            </a:lvl3pPr>
            <a:lvl4pPr>
              <a:defRPr sz="2000">
                <a:solidFill>
                  <a:schemeClr val="bg2">
                    <a:lumMod val="10000"/>
                  </a:schemeClr>
                </a:solidFill>
              </a:defRPr>
            </a:lvl4pPr>
            <a:lvl5pPr>
              <a:defRPr sz="2000">
                <a:solidFill>
                  <a:schemeClr val="bg2">
                    <a:lumMod val="10000"/>
                  </a:schemeClr>
                </a:solidFill>
              </a:defRPr>
            </a:lvl5pPr>
            <a:lvl6pPr>
              <a:defRPr sz="2000"/>
            </a:lvl6pPr>
            <a:lvl7pPr>
              <a:defRPr sz="2000"/>
            </a:lvl7pPr>
            <a:lvl8pPr>
              <a:defRPr sz="2000"/>
            </a:lvl8pPr>
            <a:lvl9pPr>
              <a:defRPr sz="2000"/>
            </a:lvl9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Text Placeholder 3"/>
          <p:cNvSpPr>
            <a:spLocks noGrp="1"/>
          </p:cNvSpPr>
          <p:nvPr>
            <p:ph type="body" sz="half" idx="2"/>
          </p:nvPr>
        </p:nvSpPr>
        <p:spPr>
          <a:xfrm>
            <a:off x="678881" y="2315183"/>
            <a:ext cx="4093145" cy="3553805"/>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dirty="0"/>
              <a:t>Click to edit Master title style</a:t>
            </a:r>
            <a:endParaRPr lang="en-US" dirty="0"/>
          </a:p>
        </p:txBody>
      </p:sp>
      <p:sp>
        <p:nvSpPr>
          <p:cNvPr id="3" name="Vertical Text Placeholder 2"/>
          <p:cNvSpPr>
            <a:spLocks noGrp="1"/>
          </p:cNvSpPr>
          <p:nvPr>
            <p:ph type="body" orient="vert" idx="1"/>
          </p:nvPr>
        </p:nvSpPr>
        <p:spPr>
          <a:xfrm>
            <a:off x="678884" y="1659834"/>
            <a:ext cx="10834234" cy="4166933"/>
          </a:xfrm>
          <a:prstGeom prst="rect">
            <a:avLst/>
          </a:prstGeom>
        </p:spPr>
        <p:txBody>
          <a:bodyPr vert="eaVert"/>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pic>
        <p:nvPicPr>
          <p:cNvPr id="4" name="Picture 3" descr="Tech Background&quot; Images – Browse 8,227 Stock Photos, Vectors, and Video |  Adobe Stock"/>
          <p:cNvPicPr>
            <a:picLocks noChangeAspect="1" noChangeArrowheads="1"/>
          </p:cNvPicPr>
          <p:nvPr userDrawn="1"/>
        </p:nvPicPr>
        <p:blipFill>
          <a:blip r:embed="rId2">
            <a:extLst>
              <a:ext uri="{28A0092B-C50C-407E-A947-70E740481C1C}">
                <a14:useLocalDpi xmlns:a14="http://schemas.microsoft.com/office/drawing/2010/main" val="0"/>
              </a:ext>
            </a:extLst>
          </a:blip>
          <a:srcRect l="2352" t="2332" r="1954" b="1250"/>
          <a:stretch>
            <a:fillRect/>
          </a:stretch>
        </p:blipFill>
        <p:spPr bwMode="auto">
          <a:xfrm>
            <a:off x="-21770" y="0"/>
            <a:ext cx="12213771" cy="6858000"/>
          </a:xfrm>
          <a:custGeom>
            <a:avLst/>
            <a:gdLst>
              <a:gd name="connsiteX0" fmla="*/ 0 w 12213771"/>
              <a:gd name="connsiteY0" fmla="*/ 0 h 6858000"/>
              <a:gd name="connsiteX1" fmla="*/ 12213771 w 12213771"/>
              <a:gd name="connsiteY1" fmla="*/ 0 h 6858000"/>
              <a:gd name="connsiteX2" fmla="*/ 12213771 w 12213771"/>
              <a:gd name="connsiteY2" fmla="*/ 6858000 h 6858000"/>
              <a:gd name="connsiteX3" fmla="*/ 0 w 1221377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213771" h="6858000">
                <a:moveTo>
                  <a:pt x="0" y="0"/>
                </a:moveTo>
                <a:lnTo>
                  <a:pt x="12213771" y="0"/>
                </a:lnTo>
                <a:lnTo>
                  <a:pt x="12213771"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sp>
        <p:nvSpPr>
          <p:cNvPr id="2" name="Vertical Title 1"/>
          <p:cNvSpPr>
            <a:spLocks noGrp="1"/>
          </p:cNvSpPr>
          <p:nvPr>
            <p:ph type="title" orient="vert" hasCustomPrompt="1"/>
          </p:nvPr>
        </p:nvSpPr>
        <p:spPr>
          <a:xfrm rot="16200000">
            <a:off x="4770665" y="-2959994"/>
            <a:ext cx="2628900" cy="12213771"/>
          </a:xfrm>
        </p:spPr>
        <p:txBody>
          <a:bodyPr vert="eaVert">
            <a:normAutofit/>
          </a:bodyPr>
          <a:lstStyle>
            <a:lvl1pPr algn="ctr">
              <a:defRPr sz="8000">
                <a:solidFill>
                  <a:schemeClr val="bg1"/>
                </a:solidFill>
              </a:defRPr>
            </a:lvl1pPr>
          </a:lstStyle>
          <a:p>
            <a:r>
              <a:rPr lang="en-US" dirty="0"/>
              <a:t>Thank You</a:t>
            </a:r>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a:xfrm>
            <a:off x="838200" y="6356350"/>
            <a:ext cx="2743200" cy="365125"/>
          </a:xfrm>
        </p:spPr>
        <p:txBody>
          <a:bodyPr/>
          <a:lstStyle/>
          <a:p>
            <a:fld id="{FDE934FF-F4E1-47C5-9CA5-30A81DDE2BE4}" type="datetimeFigureOut">
              <a:rPr lang="en-US" smtClean="0"/>
            </a:fld>
            <a:endParaRPr lang="en-US"/>
          </a:p>
        </p:txBody>
      </p:sp>
      <p:sp>
        <p:nvSpPr>
          <p:cNvPr id="5" name="Footer Placeholder 4"/>
          <p:cNvSpPr>
            <a:spLocks noGrp="1"/>
          </p:cNvSpPr>
          <p:nvPr>
            <p:ph type="ftr" sz="quarter" idx="11"/>
          </p:nvPr>
        </p:nvSpPr>
        <p:spPr>
          <a:xfrm>
            <a:off x="4038600" y="6356350"/>
            <a:ext cx="4114800" cy="365125"/>
          </a:xfrm>
        </p:spPr>
        <p:txBody>
          <a:bodyPr/>
          <a:lstStyle/>
          <a:p>
            <a:endParaRPr lang="en-US"/>
          </a:p>
        </p:txBody>
      </p:sp>
      <p:sp>
        <p:nvSpPr>
          <p:cNvPr id="6" name="Slide Number Placeholder 5"/>
          <p:cNvSpPr>
            <a:spLocks noGrp="1"/>
          </p:cNvSpPr>
          <p:nvPr>
            <p:ph type="sldNum" sz="quarter" idx="12"/>
          </p:nvPr>
        </p:nvSpPr>
        <p:spPr>
          <a:xfrm>
            <a:off x="8610600" y="6356350"/>
            <a:ext cx="2743200" cy="365125"/>
          </a:xfrm>
        </p:spPr>
        <p:txBody>
          <a:bodyPr/>
          <a:lstStyle/>
          <a:p>
            <a:fld id="{B3561BA9-CDCF-4958-B8AB-66F3BF063E13}"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9" Type="http://schemas.openxmlformats.org/officeDocument/2006/relationships/theme" Target="../theme/theme1.xml"/><Relationship Id="rId18" Type="http://schemas.openxmlformats.org/officeDocument/2006/relationships/image" Target="../media/image4.png"/><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78884" y="603666"/>
            <a:ext cx="10834232" cy="612775"/>
          </a:xfrm>
          <a:prstGeom prst="rect">
            <a:avLst/>
          </a:prstGeom>
        </p:spPr>
        <p:txBody>
          <a:bodyPr vert="horz" lIns="0" tIns="0" rIns="0" bIns="0" rtlCol="0" anchor="ctr">
            <a:normAutofit/>
          </a:bodyPr>
          <a:lstStyle/>
          <a:p>
            <a:r>
              <a:rPr lang="en-US" dirty="0"/>
              <a:t>Click to edit Master title style</a:t>
            </a:r>
            <a:endParaRPr lang="en-US" dirty="0"/>
          </a:p>
        </p:txBody>
      </p:sp>
      <p:sp>
        <p:nvSpPr>
          <p:cNvPr id="3" name="Text Placeholder 2"/>
          <p:cNvSpPr>
            <a:spLocks noGrp="1"/>
          </p:cNvSpPr>
          <p:nvPr>
            <p:ph type="body" idx="1"/>
          </p:nvPr>
        </p:nvSpPr>
        <p:spPr>
          <a:xfrm>
            <a:off x="678884" y="1659835"/>
            <a:ext cx="10834234" cy="4398065"/>
          </a:xfrm>
          <a:prstGeom prst="rect">
            <a:avLst/>
          </a:prstGeom>
        </p:spPr>
        <p:txBody>
          <a:bodyPr vert="horz" lIns="91440" tIns="45720" rIns="91440" bIns="45720" rtlCol="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pic>
        <p:nvPicPr>
          <p:cNvPr id="2052" name="Picture 4" descr="Top Ranked Data Science Institute, Classroom Plus Online Training | Boston  Institute of Analytics"/>
          <p:cNvPicPr>
            <a:picLocks noChangeAspect="1" noChangeArrowheads="1"/>
          </p:cNvPicPr>
          <p:nvPr userDrawn="1"/>
        </p:nvPicPr>
        <p:blipFill rotWithShape="1">
          <a:blip r:embed="rId18" cstate="print">
            <a:extLst>
              <a:ext uri="{28A0092B-C50C-407E-A947-70E740481C1C}">
                <a14:useLocalDpi xmlns:a14="http://schemas.microsoft.com/office/drawing/2010/main" val="0"/>
              </a:ext>
            </a:extLst>
          </a:blip>
          <a:srcRect l="4000" r="3112"/>
          <a:stretch>
            <a:fillRect/>
          </a:stretch>
        </p:blipFill>
        <p:spPr bwMode="auto">
          <a:xfrm>
            <a:off x="9493777" y="6115409"/>
            <a:ext cx="2019339" cy="548917"/>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userDrawn="1"/>
        </p:nvSpPr>
        <p:spPr>
          <a:xfrm>
            <a:off x="678883" y="6207305"/>
            <a:ext cx="7474517" cy="3651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en-US" sz="1100" b="1" dirty="0">
                <a:solidFill>
                  <a:schemeClr val="bg2">
                    <a:lumMod val="75000"/>
                  </a:schemeClr>
                </a:solidFill>
              </a:rPr>
              <a:t>CONFIDENTIAL</a:t>
            </a:r>
            <a:r>
              <a:rPr lang="en-US" sz="1100" dirty="0">
                <a:solidFill>
                  <a:schemeClr val="bg2">
                    <a:lumMod val="75000"/>
                  </a:schemeClr>
                </a:solidFill>
              </a:rPr>
              <a:t>: The information in this document belongs to Boston Institute of Analytics LLC. Any unauthorized sharing of this material is prohibited and subject to legal action under breach of IP and confidentiality clauses. </a:t>
            </a:r>
            <a:endParaRPr lang="en-US" sz="1100" dirty="0">
              <a:solidFill>
                <a:schemeClr val="bg2">
                  <a:lumMod val="75000"/>
                </a:schemeClr>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xStyles>
    <p:titleStyle>
      <a:lvl1pPr algn="l" defTabSz="914400" rtl="0" eaLnBrk="1" latinLnBrk="0" hangingPunct="1">
        <a:lnSpc>
          <a:spcPct val="90000"/>
        </a:lnSpc>
        <a:spcBef>
          <a:spcPct val="0"/>
        </a:spcBef>
        <a:buNone/>
        <a:defRPr sz="3400" b="1" kern="1200">
          <a:solidFill>
            <a:schemeClr val="tx1"/>
          </a:solidFill>
          <a:latin typeface="Calibri" panose="020F050202020403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Calibri" panose="020F050202020403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Calibri" panose="020F050202020403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Calibri" panose="020F0502020204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Calibri" panose="020F0502020204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Calibri" panose="020F0502020204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2" Type="http://schemas.openxmlformats.org/officeDocument/2006/relationships/slideLayout" Target="../slideLayouts/slideLayout3.xml"/><Relationship Id="rId31" Type="http://schemas.openxmlformats.org/officeDocument/2006/relationships/tags" Target="../tags/tag31.xml"/><Relationship Id="rId30" Type="http://schemas.openxmlformats.org/officeDocument/2006/relationships/tags" Target="../tags/tag30.xml"/><Relationship Id="rId3" Type="http://schemas.openxmlformats.org/officeDocument/2006/relationships/tags" Target="../tags/tag3.xml"/><Relationship Id="rId29" Type="http://schemas.openxmlformats.org/officeDocument/2006/relationships/tags" Target="../tags/tag29.xml"/><Relationship Id="rId28" Type="http://schemas.openxmlformats.org/officeDocument/2006/relationships/tags" Target="../tags/tag28.xml"/><Relationship Id="rId27" Type="http://schemas.openxmlformats.org/officeDocument/2006/relationships/tags" Target="../tags/tag27.xml"/><Relationship Id="rId26" Type="http://schemas.openxmlformats.org/officeDocument/2006/relationships/tags" Target="../tags/tag26.xml"/><Relationship Id="rId25" Type="http://schemas.openxmlformats.org/officeDocument/2006/relationships/tags" Target="../tags/tag25.xml"/><Relationship Id="rId24" Type="http://schemas.openxmlformats.org/officeDocument/2006/relationships/tags" Target="../tags/tag24.xml"/><Relationship Id="rId23" Type="http://schemas.openxmlformats.org/officeDocument/2006/relationships/tags" Target="../tags/tag23.xml"/><Relationship Id="rId22" Type="http://schemas.openxmlformats.org/officeDocument/2006/relationships/tags" Target="../tags/tag22.xml"/><Relationship Id="rId21" Type="http://schemas.openxmlformats.org/officeDocument/2006/relationships/tags" Target="../tags/tag21.xml"/><Relationship Id="rId20" Type="http://schemas.openxmlformats.org/officeDocument/2006/relationships/tags" Target="../tags/tag20.xml"/><Relationship Id="rId2" Type="http://schemas.openxmlformats.org/officeDocument/2006/relationships/tags" Target="../tags/tag2.xml"/><Relationship Id="rId19" Type="http://schemas.openxmlformats.org/officeDocument/2006/relationships/tags" Target="../tags/tag19.xml"/><Relationship Id="rId18" Type="http://schemas.openxmlformats.org/officeDocument/2006/relationships/tags" Target="../tags/tag18.xml"/><Relationship Id="rId17" Type="http://schemas.openxmlformats.org/officeDocument/2006/relationships/tags" Target="../tags/tag17.xml"/><Relationship Id="rId16" Type="http://schemas.openxmlformats.org/officeDocument/2006/relationships/tags" Target="../tags/tag16.xml"/><Relationship Id="rId15" Type="http://schemas.openxmlformats.org/officeDocument/2006/relationships/tags" Target="../tags/tag15.xml"/><Relationship Id="rId14" Type="http://schemas.openxmlformats.org/officeDocument/2006/relationships/tags" Target="../tags/tag14.xml"/><Relationship Id="rId13" Type="http://schemas.openxmlformats.org/officeDocument/2006/relationships/tags" Target="../tags/tag13.xml"/><Relationship Id="rId12" Type="http://schemas.openxmlformats.org/officeDocument/2006/relationships/tags" Target="../tags/tag12.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tags" Target="../tags/tag37.xml"/><Relationship Id="rId5" Type="http://schemas.openxmlformats.org/officeDocument/2006/relationships/tags" Target="../tags/tag36.xml"/><Relationship Id="rId4" Type="http://schemas.openxmlformats.org/officeDocument/2006/relationships/tags" Target="../tags/tag35.xml"/><Relationship Id="rId3" Type="http://schemas.openxmlformats.org/officeDocument/2006/relationships/tags" Target="../tags/tag34.xml"/><Relationship Id="rId2" Type="http://schemas.openxmlformats.org/officeDocument/2006/relationships/tags" Target="../tags/tag33.xml"/><Relationship Id="rId1" Type="http://schemas.openxmlformats.org/officeDocument/2006/relationships/tags" Target="../tags/tag32.xml"/></Relationships>
</file>

<file path=ppt/slides/_rels/slide5.xml.rels><?xml version="1.0" encoding="UTF-8" standalone="yes"?>
<Relationships xmlns="http://schemas.openxmlformats.org/package/2006/relationships"><Relationship Id="rId9" Type="http://schemas.openxmlformats.org/officeDocument/2006/relationships/tags" Target="../tags/tag46.xml"/><Relationship Id="rId8" Type="http://schemas.openxmlformats.org/officeDocument/2006/relationships/tags" Target="../tags/tag45.xml"/><Relationship Id="rId7" Type="http://schemas.openxmlformats.org/officeDocument/2006/relationships/tags" Target="../tags/tag44.xml"/><Relationship Id="rId6" Type="http://schemas.openxmlformats.org/officeDocument/2006/relationships/tags" Target="../tags/tag43.xml"/><Relationship Id="rId5" Type="http://schemas.openxmlformats.org/officeDocument/2006/relationships/tags" Target="../tags/tag42.xml"/><Relationship Id="rId4" Type="http://schemas.openxmlformats.org/officeDocument/2006/relationships/tags" Target="../tags/tag41.xml"/><Relationship Id="rId3" Type="http://schemas.openxmlformats.org/officeDocument/2006/relationships/tags" Target="../tags/tag40.xml"/><Relationship Id="rId2" Type="http://schemas.openxmlformats.org/officeDocument/2006/relationships/tags" Target="../tags/tag39.xml"/><Relationship Id="rId11" Type="http://schemas.openxmlformats.org/officeDocument/2006/relationships/slideLayout" Target="../slideLayouts/slideLayout2.xml"/><Relationship Id="rId10" Type="http://schemas.openxmlformats.org/officeDocument/2006/relationships/tags" Target="../tags/tag47.xml"/><Relationship Id="rId1" Type="http://schemas.openxmlformats.org/officeDocument/2006/relationships/tags" Target="../tags/tag38.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6.png"/></Relationships>
</file>

<file path=ppt/slides/_rels/slide7.xml.rels><?xml version="1.0" encoding="UTF-8" standalone="yes"?>
<Relationships xmlns="http://schemas.openxmlformats.org/package/2006/relationships"><Relationship Id="rId9" Type="http://schemas.openxmlformats.org/officeDocument/2006/relationships/tags" Target="../tags/tag55.xml"/><Relationship Id="rId8" Type="http://schemas.openxmlformats.org/officeDocument/2006/relationships/tags" Target="../tags/tag54.xml"/><Relationship Id="rId7" Type="http://schemas.openxmlformats.org/officeDocument/2006/relationships/tags" Target="../tags/tag53.xml"/><Relationship Id="rId6" Type="http://schemas.openxmlformats.org/officeDocument/2006/relationships/tags" Target="../tags/tag52.xml"/><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image" Target="../media/image7.png"/><Relationship Id="rId19" Type="http://schemas.openxmlformats.org/officeDocument/2006/relationships/notesSlide" Target="../notesSlides/notesSlide1.xml"/><Relationship Id="rId18" Type="http://schemas.openxmlformats.org/officeDocument/2006/relationships/slideLayout" Target="../slideLayouts/slideLayout2.xml"/><Relationship Id="rId17" Type="http://schemas.openxmlformats.org/officeDocument/2006/relationships/tags" Target="../tags/tag63.xml"/><Relationship Id="rId16" Type="http://schemas.openxmlformats.org/officeDocument/2006/relationships/tags" Target="../tags/tag62.xml"/><Relationship Id="rId15" Type="http://schemas.openxmlformats.org/officeDocument/2006/relationships/tags" Target="../tags/tag61.xml"/><Relationship Id="rId14" Type="http://schemas.openxmlformats.org/officeDocument/2006/relationships/tags" Target="../tags/tag60.xml"/><Relationship Id="rId13" Type="http://schemas.openxmlformats.org/officeDocument/2006/relationships/tags" Target="../tags/tag59.xml"/><Relationship Id="rId12" Type="http://schemas.openxmlformats.org/officeDocument/2006/relationships/tags" Target="../tags/tag58.xml"/><Relationship Id="rId11" Type="http://schemas.openxmlformats.org/officeDocument/2006/relationships/tags" Target="../tags/tag57.xml"/><Relationship Id="rId10" Type="http://schemas.openxmlformats.org/officeDocument/2006/relationships/tags" Target="../tags/tag56.xml"/><Relationship Id="rId1" Type="http://schemas.openxmlformats.org/officeDocument/2006/relationships/tags" Target="../tags/tag48.xml"/></Relationships>
</file>

<file path=ppt/slides/_rels/slide8.xml.rels><?xml version="1.0" encoding="UTF-8" standalone="yes"?>
<Relationships xmlns="http://schemas.openxmlformats.org/package/2006/relationships"><Relationship Id="rId5" Type="http://schemas.openxmlformats.org/officeDocument/2006/relationships/slideLayout" Target="../slideLayouts/slideLayout4.xml"/><Relationship Id="rId4" Type="http://schemas.openxmlformats.org/officeDocument/2006/relationships/image" Target="../media/image9.png"/><Relationship Id="rId3" Type="http://schemas.openxmlformats.org/officeDocument/2006/relationships/image" Target="../media/image8.png"/><Relationship Id="rId2" Type="http://schemas.openxmlformats.org/officeDocument/2006/relationships/tags" Target="../tags/tag65.xml"/><Relationship Id="rId1" Type="http://schemas.openxmlformats.org/officeDocument/2006/relationships/tags" Target="../tags/tag6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849245" y="2753360"/>
            <a:ext cx="6493510" cy="1574165"/>
          </a:xfrm>
          <a:prstGeom prst="rect">
            <a:avLst/>
          </a:prstGeom>
          <a:solidFill>
            <a:schemeClr val="bg2">
              <a:alpha val="80000"/>
            </a:schemeClr>
          </a:solidFill>
          <a:ln>
            <a:noFill/>
          </a:ln>
          <a:effectLst>
            <a:softEdge rad="127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indent="0" algn="ctr">
              <a:lnSpc>
                <a:spcPct val="100000"/>
              </a:lnSpc>
              <a:buNone/>
            </a:pPr>
            <a:r>
              <a:rPr lang="en-US" sz="3600" b="1" dirty="0">
                <a:ln/>
                <a:solidFill>
                  <a:schemeClr val="tx1"/>
                </a:solidFill>
                <a:effectLst>
                  <a:outerShdw blurRad="38100" dist="19050" dir="2700000" algn="tl" rotWithShape="0">
                    <a:schemeClr val="dk1">
                      <a:alpha val="40000"/>
                    </a:schemeClr>
                  </a:outerShdw>
                </a:effectLst>
                <a:latin typeface="Georgia Pro Black" panose="02040A02050405020203" charset="0"/>
                <a:ea typeface="SimSun" panose="02010600030101010101" pitchFamily="2" charset="-122"/>
                <a:cs typeface="Georgia Pro Black" panose="02040A02050405020203" charset="0"/>
                <a:sym typeface="+mn-ea"/>
              </a:rPr>
              <a:t>Customer Segmentation</a:t>
            </a:r>
            <a:endParaRPr lang="en-US" sz="3600" dirty="0">
              <a:ln/>
              <a:solidFill>
                <a:schemeClr val="tx1"/>
              </a:solidFill>
              <a:effectLst>
                <a:outerShdw blurRad="38100" dist="19050" dir="2700000" algn="tl" rotWithShape="0">
                  <a:schemeClr val="dk1">
                    <a:alpha val="40000"/>
                  </a:schemeClr>
                </a:outerShdw>
              </a:effectLst>
              <a:latin typeface="Georgia Pro Black" panose="02040A02050405020203" charset="0"/>
              <a:cs typeface="Georgia Pro Black" panose="02040A02050405020203" charset="0"/>
            </a:endParaRPr>
          </a:p>
          <a:p>
            <a:pPr marL="0" indent="0" algn="ctr">
              <a:lnSpc>
                <a:spcPct val="100000"/>
              </a:lnSpc>
              <a:buNone/>
            </a:pPr>
            <a:r>
              <a:rPr lang="en-US" sz="3600" b="1" dirty="0">
                <a:ln/>
                <a:solidFill>
                  <a:schemeClr val="tx1"/>
                </a:solidFill>
                <a:effectLst>
                  <a:outerShdw blurRad="38100" dist="19050" dir="2700000" algn="tl" rotWithShape="0">
                    <a:schemeClr val="dk1">
                      <a:alpha val="40000"/>
                    </a:schemeClr>
                  </a:outerShdw>
                </a:effectLst>
                <a:latin typeface="Georgia Pro Black" panose="02040A02050405020203" charset="0"/>
                <a:ea typeface="SimSun" panose="02010600030101010101" pitchFamily="2" charset="-122"/>
                <a:cs typeface="Georgia Pro Black" panose="02040A02050405020203" charset="0"/>
                <a:sym typeface="+mn-ea"/>
              </a:rPr>
              <a:t>&amp; Predictive Modelling</a:t>
            </a:r>
            <a:endParaRPr lang="en-US" sz="3600" b="1" dirty="0">
              <a:ln/>
              <a:solidFill>
                <a:schemeClr val="tx1"/>
              </a:solidFill>
              <a:effectLst>
                <a:outerShdw blurRad="38100" dist="19050" dir="2700000" algn="tl" rotWithShape="0">
                  <a:schemeClr val="dk1">
                    <a:alpha val="40000"/>
                  </a:schemeClr>
                </a:outerShdw>
              </a:effectLst>
              <a:latin typeface="Georgia Pro Black" panose="02040A02050405020203" charset="0"/>
              <a:ea typeface="SimSun" panose="02010600030101010101" pitchFamily="2" charset="-122"/>
              <a:cs typeface="Georgia Pro Black" panose="02040A02050405020203" charset="0"/>
              <a:sym typeface="+mn-ea"/>
            </a:endParaRPr>
          </a:p>
        </p:txBody>
      </p:sp>
      <p:sp>
        <p:nvSpPr>
          <p:cNvPr id="3" name="Text Box 2"/>
          <p:cNvSpPr txBox="1"/>
          <p:nvPr/>
        </p:nvSpPr>
        <p:spPr>
          <a:xfrm>
            <a:off x="1778000" y="5078095"/>
            <a:ext cx="8950960" cy="558800"/>
          </a:xfrm>
          <a:prstGeom prst="rect">
            <a:avLst/>
          </a:prstGeom>
          <a:solidFill>
            <a:schemeClr val="accent2">
              <a:lumMod val="50000"/>
            </a:schemeClr>
          </a:solidFill>
        </p:spPr>
        <p:txBody>
          <a:bodyPr wrap="square" rtlCol="0">
            <a:noAutofit/>
          </a:bodyPr>
          <a:p>
            <a:pPr indent="0" algn="ctr">
              <a:lnSpc>
                <a:spcPct val="120000"/>
              </a:lnSpc>
              <a:buNone/>
            </a:pPr>
            <a:r>
              <a:rPr lang="en-US" sz="2400" dirty="0">
                <a:solidFill>
                  <a:schemeClr val="accent4"/>
                </a:solidFill>
                <a:latin typeface="Georgia Pro Cond Light" panose="02040306050405020303" charset="0"/>
                <a:ea typeface="SimSun" panose="02010600030101010101" pitchFamily="2" charset="-122"/>
                <a:cs typeface="Georgia Pro Cond Light" panose="02040306050405020303" charset="0"/>
                <a:sym typeface="+mn-ea"/>
              </a:rPr>
              <a:t>RFM Analysis · Clustering · Risk Modeling · Predictive Classifier </a:t>
            </a:r>
            <a:endParaRPr lang="en-US" sz="2400" dirty="0">
              <a:solidFill>
                <a:schemeClr val="accent4"/>
              </a:solidFill>
              <a:latin typeface="Georgia Pro Cond Light" panose="02040306050405020303" charset="0"/>
              <a:cs typeface="Georgia Pro Cond Light" panose="02040306050405020303" charset="0"/>
            </a:endParaRPr>
          </a:p>
          <a:p>
            <a:pPr indent="0" algn="ctr">
              <a:buNone/>
            </a:pPr>
            <a:endParaRPr lang="en-US" altLang="en-US" sz="2400" dirty="0">
              <a:solidFill>
                <a:schemeClr val="accent4"/>
              </a:solidFill>
              <a:latin typeface="Georgia Pro Cond Light" panose="02040306050405020303" charset="0"/>
              <a:cs typeface="Georgia Pro Cond Light" panose="02040306050405020303"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ounded Rectangle 13"/>
          <p:cNvSpPr/>
          <p:nvPr/>
        </p:nvSpPr>
        <p:spPr>
          <a:xfrm>
            <a:off x="7094855" y="3708400"/>
            <a:ext cx="3952875" cy="2214880"/>
          </a:xfrm>
          <a:prstGeom prst="roundRect">
            <a:avLst/>
          </a:prstGeom>
          <a:solidFill>
            <a:schemeClr val="accent2">
              <a:lumMod val="20000"/>
              <a:lumOff val="80000"/>
            </a:schemeClr>
          </a:solidFill>
          <a:ln>
            <a:solidFill>
              <a:schemeClr val="accent2"/>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2" name="Title 1"/>
          <p:cNvSpPr>
            <a:spLocks noGrp="1"/>
          </p:cNvSpPr>
          <p:nvPr>
            <p:ph type="title"/>
          </p:nvPr>
        </p:nvSpPr>
        <p:spPr>
          <a:xfrm>
            <a:off x="774134" y="603666"/>
            <a:ext cx="10834234" cy="612775"/>
          </a:xfrm>
        </p:spPr>
        <p:txBody>
          <a:bodyPr>
            <a:noAutofit/>
          </a:bodyPr>
          <a:lstStyle/>
          <a:p>
            <a:r>
              <a:rPr lang="en-US" sz="4400" dirty="0">
                <a:solidFill>
                  <a:srgbClr val="0F172A"/>
                </a:solidFill>
                <a:latin typeface="Georgia Pro Cond Light" panose="02040306050405020303" charset="0"/>
                <a:ea typeface="SimSun" panose="02010600030101010101" pitchFamily="2" charset="-122"/>
                <a:cs typeface="Georgia Pro Cond Light" panose="02040306050405020303" charset="0"/>
                <a:sym typeface="+mn-ea"/>
              </a:rPr>
              <a:t>Introduction &amp; Objectives</a:t>
            </a:r>
            <a:endParaRPr lang="en-US" sz="4400" dirty="0">
              <a:solidFill>
                <a:srgbClr val="0F172A"/>
              </a:solidFill>
              <a:latin typeface="Georgia Pro Cond Light" panose="02040306050405020303" charset="0"/>
              <a:ea typeface="SimSun" panose="02010600030101010101" pitchFamily="2" charset="-122"/>
              <a:cs typeface="Georgia Pro Cond Light" panose="02040306050405020303" charset="0"/>
              <a:sym typeface="+mn-ea"/>
            </a:endParaRPr>
          </a:p>
        </p:txBody>
      </p:sp>
      <p:sp>
        <p:nvSpPr>
          <p:cNvPr id="3" name="Content Placeholder 2"/>
          <p:cNvSpPr>
            <a:spLocks noGrp="1"/>
          </p:cNvSpPr>
          <p:nvPr>
            <p:ph idx="1"/>
          </p:nvPr>
        </p:nvSpPr>
        <p:spPr>
          <a:xfrm>
            <a:off x="1552575" y="1675130"/>
            <a:ext cx="4159250" cy="4398010"/>
          </a:xfrm>
        </p:spPr>
        <p:txBody>
          <a:bodyPr/>
          <a:lstStyle/>
          <a:p>
            <a:pPr marL="0" indent="0" algn="ctr">
              <a:buNone/>
            </a:pPr>
            <a:r>
              <a:rPr lang="en-US" sz="1800" b="1" dirty="0">
                <a:solidFill>
                  <a:srgbClr val="C00000"/>
                </a:solidFill>
                <a:latin typeface="Georgia Pro Cond Light" panose="02040306050405020303" charset="0"/>
                <a:ea typeface="SimSun" panose="02010600030101010101" pitchFamily="2" charset="-122"/>
                <a:cs typeface="Georgia Pro Cond Light" panose="02040306050405020303" charset="0"/>
                <a:sym typeface="+mn-ea"/>
              </a:rPr>
              <a:t>Main Objective</a:t>
            </a:r>
            <a:endParaRPr lang="en-US" sz="1800" b="1" dirty="0">
              <a:solidFill>
                <a:srgbClr val="C00000"/>
              </a:solidFill>
              <a:latin typeface="Georgia Pro Cond Light" panose="02040306050405020303" charset="0"/>
              <a:ea typeface="SimSun" panose="02010600030101010101" pitchFamily="2" charset="-122"/>
              <a:cs typeface="Georgia Pro Cond Light" panose="02040306050405020303" charset="0"/>
              <a:sym typeface="+mn-ea"/>
            </a:endParaRPr>
          </a:p>
          <a:p>
            <a:pPr marL="0" indent="0" algn="l">
              <a:buNone/>
            </a:pPr>
            <a:r>
              <a:rPr lang="en-US" dirty="0">
                <a:solidFill>
                  <a:srgbClr val="0F172A"/>
                </a:solidFill>
                <a:latin typeface="Georgia Pro Cond Light" panose="02040306050405020303" charset="0"/>
                <a:ea typeface="SimSun" panose="02010600030101010101" pitchFamily="2" charset="-122"/>
                <a:cs typeface="Georgia Pro Cond Light" panose="02040306050405020303" charset="0"/>
                <a:sym typeface="+mn-ea"/>
              </a:rPr>
              <a:t>Segment customers for targeted marketing &amp; retention</a:t>
            </a:r>
            <a:endParaRPr lang="en-US" dirty="0">
              <a:latin typeface="Georgia Pro Cond Light" panose="02040306050405020303" charset="0"/>
              <a:cs typeface="Georgia Pro Cond Light" panose="02040306050405020303" charset="0"/>
            </a:endParaRPr>
          </a:p>
          <a:p>
            <a:endParaRPr lang="en-IN">
              <a:latin typeface="Georgia Pro Cond Light" panose="02040306050405020303" charset="0"/>
              <a:cs typeface="Georgia Pro Cond Light" panose="02040306050405020303" charset="0"/>
            </a:endParaRPr>
          </a:p>
        </p:txBody>
      </p:sp>
      <p:sp>
        <p:nvSpPr>
          <p:cNvPr id="4" name="Text Box 3"/>
          <p:cNvSpPr txBox="1"/>
          <p:nvPr/>
        </p:nvSpPr>
        <p:spPr>
          <a:xfrm>
            <a:off x="1647825" y="3507740"/>
            <a:ext cx="4064000" cy="2214880"/>
          </a:xfrm>
          <a:prstGeom prst="rect">
            <a:avLst/>
          </a:prstGeom>
          <a:noFill/>
        </p:spPr>
        <p:txBody>
          <a:bodyPr wrap="square" rtlCol="0">
            <a:spAutoFit/>
          </a:bodyPr>
          <a:p>
            <a:pPr marL="0" indent="0" algn="just">
              <a:lnSpc>
                <a:spcPts val="1800"/>
              </a:lnSpc>
              <a:buSzPct val="100000"/>
              <a:buNone/>
            </a:pPr>
            <a:r>
              <a:rPr lang="en-US" dirty="0">
                <a:solidFill>
                  <a:srgbClr val="2563EB"/>
                </a:solidFill>
                <a:latin typeface="Georgia Pro Cond Light" panose="02040306050405020303" charset="0"/>
                <a:ea typeface="SimSun" panose="02010600030101010101" pitchFamily="2" charset="-122"/>
                <a:cs typeface="Georgia Pro Cond Light" panose="02040306050405020303" charset="0"/>
                <a:sym typeface="+mn-ea"/>
              </a:rPr>
              <a:t>→</a:t>
            </a:r>
            <a:r>
              <a:rPr lang="en-US" dirty="0">
                <a:solidFill>
                  <a:srgbClr val="0F172A"/>
                </a:solidFill>
                <a:latin typeface="Georgia Pro Cond Light" panose="02040306050405020303" charset="0"/>
                <a:ea typeface="SimSun" panose="02010600030101010101" pitchFamily="2" charset="-122"/>
                <a:cs typeface="Georgia Pro Cond Light" panose="02040306050405020303" charset="0"/>
                <a:sym typeface="+mn-ea"/>
              </a:rPr>
              <a:t> Identify high-value VIP customers for upselling</a:t>
            </a:r>
            <a:endParaRPr lang="en-US" dirty="0">
              <a:latin typeface="Georgia Pro Cond Light" panose="02040306050405020303" charset="0"/>
              <a:cs typeface="Georgia Pro Cond Light" panose="02040306050405020303" charset="0"/>
            </a:endParaRPr>
          </a:p>
          <a:p>
            <a:pPr marL="0" indent="0" algn="just">
              <a:lnSpc>
                <a:spcPts val="1800"/>
              </a:lnSpc>
              <a:buSzPct val="100000"/>
              <a:buNone/>
            </a:pPr>
            <a:r>
              <a:rPr lang="en-US" dirty="0">
                <a:solidFill>
                  <a:srgbClr val="7C3AED"/>
                </a:solidFill>
                <a:latin typeface="Georgia Pro Cond Light" panose="02040306050405020303" charset="0"/>
                <a:ea typeface="SimSun" panose="02010600030101010101" pitchFamily="2" charset="-122"/>
                <a:cs typeface="Georgia Pro Cond Light" panose="02040306050405020303" charset="0"/>
                <a:sym typeface="+mn-ea"/>
              </a:rPr>
              <a:t>→</a:t>
            </a:r>
            <a:r>
              <a:rPr lang="en-US" dirty="0">
                <a:solidFill>
                  <a:srgbClr val="0F172A"/>
                </a:solidFill>
                <a:latin typeface="Georgia Pro Cond Light" panose="02040306050405020303" charset="0"/>
                <a:ea typeface="SimSun" panose="02010600030101010101" pitchFamily="2" charset="-122"/>
                <a:cs typeface="Georgia Pro Cond Light" panose="02040306050405020303" charset="0"/>
                <a:sym typeface="+mn-ea"/>
              </a:rPr>
              <a:t> Flag at-risk customers before churn occurs</a:t>
            </a:r>
            <a:endParaRPr lang="en-US" dirty="0">
              <a:latin typeface="Georgia Pro Cond Light" panose="02040306050405020303" charset="0"/>
              <a:cs typeface="Georgia Pro Cond Light" panose="02040306050405020303" charset="0"/>
            </a:endParaRPr>
          </a:p>
          <a:p>
            <a:pPr marL="0" indent="0" algn="just">
              <a:lnSpc>
                <a:spcPts val="1800"/>
              </a:lnSpc>
              <a:buSzPct val="100000"/>
              <a:buNone/>
            </a:pPr>
            <a:r>
              <a:rPr lang="en-US" dirty="0">
                <a:solidFill>
                  <a:srgbClr val="0891B2"/>
                </a:solidFill>
                <a:latin typeface="Georgia Pro Cond Light" panose="02040306050405020303" charset="0"/>
                <a:ea typeface="SimSun" panose="02010600030101010101" pitchFamily="2" charset="-122"/>
                <a:cs typeface="Georgia Pro Cond Light" panose="02040306050405020303" charset="0"/>
                <a:sym typeface="+mn-ea"/>
              </a:rPr>
              <a:t>→</a:t>
            </a:r>
            <a:r>
              <a:rPr lang="en-US" dirty="0">
                <a:solidFill>
                  <a:srgbClr val="0F172A"/>
                </a:solidFill>
                <a:latin typeface="Georgia Pro Cond Light" panose="02040306050405020303" charset="0"/>
                <a:ea typeface="SimSun" panose="02010600030101010101" pitchFamily="2" charset="-122"/>
                <a:cs typeface="Georgia Pro Cond Light" panose="02040306050405020303" charset="0"/>
                <a:sym typeface="+mn-ea"/>
              </a:rPr>
              <a:t> Discover growth opportunities in Potential segment</a:t>
            </a:r>
            <a:endParaRPr lang="en-US" dirty="0">
              <a:latin typeface="Georgia Pro Cond Light" panose="02040306050405020303" charset="0"/>
              <a:cs typeface="Georgia Pro Cond Light" panose="02040306050405020303" charset="0"/>
            </a:endParaRPr>
          </a:p>
          <a:p>
            <a:pPr marL="0" indent="0" algn="just">
              <a:lnSpc>
                <a:spcPts val="1800"/>
              </a:lnSpc>
              <a:buSzPct val="100000"/>
              <a:buNone/>
            </a:pPr>
            <a:r>
              <a:rPr lang="en-US" dirty="0">
                <a:solidFill>
                  <a:srgbClr val="10B981"/>
                </a:solidFill>
                <a:latin typeface="Georgia Pro Cond Light" panose="02040306050405020303" charset="0"/>
                <a:ea typeface="SimSun" panose="02010600030101010101" pitchFamily="2" charset="-122"/>
                <a:cs typeface="Georgia Pro Cond Light" panose="02040306050405020303" charset="0"/>
                <a:sym typeface="+mn-ea"/>
              </a:rPr>
              <a:t>→</a:t>
            </a:r>
            <a:r>
              <a:rPr lang="en-US" dirty="0">
                <a:solidFill>
                  <a:srgbClr val="0F172A"/>
                </a:solidFill>
                <a:latin typeface="Georgia Pro Cond Light" panose="02040306050405020303" charset="0"/>
                <a:ea typeface="SimSun" panose="02010600030101010101" pitchFamily="2" charset="-122"/>
                <a:cs typeface="Georgia Pro Cond Light" panose="02040306050405020303" charset="0"/>
                <a:sym typeface="+mn-ea"/>
              </a:rPr>
              <a:t> Enable personalized campaign targeting at scale</a:t>
            </a:r>
            <a:endParaRPr lang="en-US" dirty="0">
              <a:latin typeface="Georgia Pro Cond Light" panose="02040306050405020303" charset="0"/>
              <a:cs typeface="Georgia Pro Cond Light" panose="02040306050405020303" charset="0"/>
            </a:endParaRPr>
          </a:p>
          <a:p>
            <a:pPr algn="just"/>
            <a:endParaRPr lang="en-GB" altLang="en-US">
              <a:latin typeface="Georgia Pro Cond Light" panose="02040306050405020303" charset="0"/>
              <a:cs typeface="Georgia Pro Cond Light" panose="02040306050405020303" charset="0"/>
            </a:endParaRPr>
          </a:p>
        </p:txBody>
      </p:sp>
      <p:sp>
        <p:nvSpPr>
          <p:cNvPr id="6" name="Text 2"/>
          <p:cNvSpPr/>
          <p:nvPr/>
        </p:nvSpPr>
        <p:spPr>
          <a:xfrm>
            <a:off x="6861175" y="1732915"/>
            <a:ext cx="3952875" cy="1508760"/>
          </a:xfrm>
          <a:prstGeom prst="roundRect">
            <a:avLst>
              <a:gd name="adj" fmla="val 84845"/>
            </a:avLst>
          </a:prstGeom>
          <a:solidFill>
            <a:schemeClr val="accent4">
              <a:lumMod val="20000"/>
              <a:lumOff val="80000"/>
            </a:schemeClr>
          </a:solidFill>
          <a:ln w="9525">
            <a:solidFill>
              <a:srgbClr val="000000"/>
            </a:solidFill>
          </a:ln>
          <a:effectLst>
            <a:outerShdw blurRad="190500" dist="38100" dir="5400000" algn="bl" rotWithShape="0">
              <a:srgbClr val="2563EB">
                <a:alpha val="6000"/>
              </a:srgbClr>
            </a:outerShdw>
          </a:effectLst>
        </p:spPr>
        <p:txBody>
          <a:bodyPr wrap="none" lIns="0" tIns="0" rIns="0" bIns="0" rtlCol="0" anchor="ctr">
            <a:normAutofit/>
          </a:bodyPr>
          <a:lstStyle/>
          <a:p>
            <a:pPr marL="0" indent="0" algn="ctr">
              <a:buNone/>
            </a:pPr>
            <a:endParaRPr lang="en-US" sz="1600" dirty="0">
              <a:latin typeface="Georgia Pro Cond Light" panose="02040306050405020303" charset="0"/>
              <a:cs typeface="Georgia Pro Cond Light" panose="02040306050405020303" charset="0"/>
            </a:endParaRPr>
          </a:p>
          <a:p>
            <a:pPr marL="0" indent="0" algn="ctr">
              <a:buNone/>
            </a:pPr>
            <a:endParaRPr lang="en-US" sz="1600" dirty="0">
              <a:latin typeface="Georgia Pro Cond Light" panose="02040306050405020303" charset="0"/>
              <a:cs typeface="Georgia Pro Cond Light" panose="02040306050405020303" charset="0"/>
            </a:endParaRPr>
          </a:p>
          <a:p>
            <a:pPr marL="0" indent="0" algn="ctr">
              <a:buNone/>
            </a:pPr>
            <a:r>
              <a:rPr lang="en-US" sz="1600" dirty="0">
                <a:latin typeface="Georgia Pro Cond Light" panose="02040306050405020303" charset="0"/>
                <a:cs typeface="Georgia Pro Cond Light" panose="02040306050405020303" charset="0"/>
              </a:rPr>
              <a:t>RFM Analysis -&gt; Clustering -&gt;</a:t>
            </a:r>
            <a:endParaRPr lang="en-US" sz="1600" dirty="0">
              <a:latin typeface="Georgia Pro Cond Light" panose="02040306050405020303" charset="0"/>
              <a:cs typeface="Georgia Pro Cond Light" panose="02040306050405020303" charset="0"/>
            </a:endParaRPr>
          </a:p>
          <a:p>
            <a:pPr marL="0" indent="0" algn="ctr">
              <a:buNone/>
            </a:pPr>
            <a:r>
              <a:rPr lang="en-US" sz="1600" dirty="0">
                <a:latin typeface="Georgia Pro Cond Light" panose="02040306050405020303" charset="0"/>
                <a:cs typeface="Georgia Pro Cond Light" panose="02040306050405020303" charset="0"/>
              </a:rPr>
              <a:t>Risk Scoring -&gt; Predictions</a:t>
            </a:r>
            <a:endParaRPr lang="en-US" sz="1600" dirty="0">
              <a:latin typeface="Georgia Pro Cond Light" panose="02040306050405020303" charset="0"/>
              <a:cs typeface="Georgia Pro Cond Light" panose="02040306050405020303" charset="0"/>
            </a:endParaRPr>
          </a:p>
        </p:txBody>
      </p:sp>
      <p:sp>
        <p:nvSpPr>
          <p:cNvPr id="7" name="Text Box 6"/>
          <p:cNvSpPr txBox="1"/>
          <p:nvPr/>
        </p:nvSpPr>
        <p:spPr>
          <a:xfrm>
            <a:off x="7988935" y="1910080"/>
            <a:ext cx="1878965" cy="368300"/>
          </a:xfrm>
          <a:prstGeom prst="rect">
            <a:avLst/>
          </a:prstGeom>
          <a:solidFill>
            <a:schemeClr val="accent4">
              <a:lumMod val="20000"/>
              <a:lumOff val="80000"/>
            </a:schemeClr>
          </a:solidFill>
        </p:spPr>
        <p:txBody>
          <a:bodyPr wrap="square" rtlCol="0">
            <a:spAutoFit/>
          </a:bodyPr>
          <a:p>
            <a:r>
              <a:rPr lang="en-US" b="1" dirty="0">
                <a:solidFill>
                  <a:srgbClr val="C00000"/>
                </a:solidFill>
                <a:latin typeface="Georgia Pro Cond Light" panose="02040306050405020303" charset="0"/>
                <a:ea typeface="SimSun" panose="02010600030101010101" pitchFamily="2" charset="-122"/>
                <a:cs typeface="Georgia Pro Cond Light" panose="02040306050405020303" charset="0"/>
                <a:sym typeface="+mn-ea"/>
              </a:rPr>
              <a:t>Approach Pipeline</a:t>
            </a:r>
            <a:endParaRPr lang="en-US" altLang="en-US" b="1" dirty="0">
              <a:solidFill>
                <a:srgbClr val="C00000"/>
              </a:solidFill>
              <a:latin typeface="Georgia Pro Cond Light" panose="02040306050405020303" charset="0"/>
              <a:ea typeface="SimSun" panose="02010600030101010101" pitchFamily="2" charset="-122"/>
              <a:cs typeface="Georgia Pro Cond Light" panose="02040306050405020303" charset="0"/>
              <a:sym typeface="+mn-ea"/>
            </a:endParaRPr>
          </a:p>
        </p:txBody>
      </p:sp>
      <p:sp>
        <p:nvSpPr>
          <p:cNvPr id="11" name="Text 9"/>
          <p:cNvSpPr/>
          <p:nvPr/>
        </p:nvSpPr>
        <p:spPr>
          <a:xfrm>
            <a:off x="9168765" y="4345940"/>
            <a:ext cx="1645285" cy="1196975"/>
          </a:xfrm>
          <a:prstGeom prst="roundRect">
            <a:avLst>
              <a:gd name="adj" fmla="val 96226"/>
            </a:avLst>
          </a:prstGeom>
          <a:blipFill rotWithShape="1">
            <a:blip r:embed="rId1"/>
            <a:tile tx="0" ty="0" sx="100000" sy="100000" flip="none" algn="tl"/>
          </a:blipFill>
        </p:spPr>
        <p:txBody>
          <a:bodyPr wrap="none" lIns="0" tIns="0" rIns="0" bIns="0" rtlCol="0" anchor="ctr">
            <a:normAutofit/>
          </a:bodyPr>
          <a:lstStyle/>
          <a:p>
            <a:pPr marL="0" indent="0">
              <a:buNone/>
            </a:pPr>
            <a:endParaRPr lang="en-US" dirty="0"/>
          </a:p>
        </p:txBody>
      </p:sp>
      <p:sp>
        <p:nvSpPr>
          <p:cNvPr id="8" name="Text Box 7"/>
          <p:cNvSpPr txBox="1"/>
          <p:nvPr/>
        </p:nvSpPr>
        <p:spPr>
          <a:xfrm>
            <a:off x="9239250" y="4406900"/>
            <a:ext cx="1504315" cy="1014730"/>
          </a:xfrm>
          <a:prstGeom prst="rect">
            <a:avLst/>
          </a:prstGeom>
          <a:noFill/>
        </p:spPr>
        <p:txBody>
          <a:bodyPr wrap="square" rtlCol="0">
            <a:spAutoFit/>
          </a:bodyPr>
          <a:p>
            <a:pPr algn="ctr"/>
            <a:r>
              <a:rPr lang="en-US" altLang="en-GB" sz="3200">
                <a:solidFill>
                  <a:schemeClr val="accent2">
                    <a:lumMod val="20000"/>
                    <a:lumOff val="80000"/>
                  </a:schemeClr>
                </a:solidFill>
                <a:latin typeface="Georgia Pro Cond" panose="02040506050405020303" charset="0"/>
                <a:cs typeface="Georgia Pro Cond" panose="02040506050405020303" charset="0"/>
              </a:rPr>
              <a:t>20%</a:t>
            </a:r>
            <a:endParaRPr lang="en-US" altLang="en-GB" sz="3200">
              <a:solidFill>
                <a:schemeClr val="accent2">
                  <a:lumMod val="20000"/>
                  <a:lumOff val="80000"/>
                </a:schemeClr>
              </a:solidFill>
              <a:latin typeface="Georgia Pro Cond" panose="02040506050405020303" charset="0"/>
              <a:cs typeface="Georgia Pro Cond" panose="02040506050405020303" charset="0"/>
            </a:endParaRPr>
          </a:p>
          <a:p>
            <a:pPr algn="ctr"/>
            <a:r>
              <a:rPr lang="en-US" altLang="en-GB" sz="1400">
                <a:solidFill>
                  <a:schemeClr val="bg2"/>
                </a:solidFill>
                <a:latin typeface="Georgia Pro Cond" panose="02040506050405020303" charset="0"/>
                <a:cs typeface="Georgia Pro Cond" panose="02040506050405020303" charset="0"/>
              </a:rPr>
              <a:t>Churn Reduction</a:t>
            </a:r>
            <a:endParaRPr lang="en-US" altLang="en-GB" sz="1400">
              <a:solidFill>
                <a:schemeClr val="bg2"/>
              </a:solidFill>
              <a:latin typeface="Georgia Pro Cond" panose="02040506050405020303" charset="0"/>
              <a:cs typeface="Georgia Pro Cond" panose="02040506050405020303" charset="0"/>
            </a:endParaRPr>
          </a:p>
          <a:p>
            <a:pPr algn="ctr"/>
            <a:r>
              <a:rPr lang="en-US" altLang="en-GB" sz="1400">
                <a:solidFill>
                  <a:schemeClr val="bg2"/>
                </a:solidFill>
                <a:latin typeface="Georgia Pro Cond" panose="02040506050405020303" charset="0"/>
                <a:cs typeface="Georgia Pro Cond" panose="02040506050405020303" charset="0"/>
              </a:rPr>
              <a:t> Potential</a:t>
            </a:r>
            <a:endParaRPr lang="en-US" altLang="en-GB" sz="1400">
              <a:solidFill>
                <a:schemeClr val="bg2"/>
              </a:solidFill>
              <a:latin typeface="Georgia Pro Cond" panose="02040506050405020303" charset="0"/>
              <a:cs typeface="Georgia Pro Cond" panose="02040506050405020303" charset="0"/>
            </a:endParaRPr>
          </a:p>
        </p:txBody>
      </p:sp>
      <p:sp>
        <p:nvSpPr>
          <p:cNvPr id="13" name="Text 9"/>
          <p:cNvSpPr/>
          <p:nvPr/>
        </p:nvSpPr>
        <p:spPr>
          <a:xfrm>
            <a:off x="7266940" y="4345940"/>
            <a:ext cx="1717040" cy="1196975"/>
          </a:xfrm>
          <a:prstGeom prst="roundRect">
            <a:avLst>
              <a:gd name="adj" fmla="val 96226"/>
            </a:avLst>
          </a:prstGeom>
          <a:blipFill rotWithShape="1">
            <a:blip r:embed="rId1"/>
            <a:tile tx="0" ty="0" sx="100000" sy="100000" flip="none" algn="tl"/>
          </a:blipFill>
        </p:spPr>
        <p:txBody>
          <a:bodyPr wrap="none" lIns="0" tIns="0" rIns="0" bIns="0" rtlCol="0" anchor="ctr">
            <a:normAutofit/>
          </a:bodyPr>
          <a:lstStyle/>
          <a:p>
            <a:pPr marL="0" indent="0">
              <a:buNone/>
            </a:pPr>
            <a:endParaRPr lang="en-US" dirty="0"/>
          </a:p>
        </p:txBody>
      </p:sp>
      <p:sp>
        <p:nvSpPr>
          <p:cNvPr id="15" name="Text Box 14"/>
          <p:cNvSpPr txBox="1"/>
          <p:nvPr/>
        </p:nvSpPr>
        <p:spPr>
          <a:xfrm>
            <a:off x="7266940" y="4406900"/>
            <a:ext cx="1808480" cy="1014730"/>
          </a:xfrm>
          <a:prstGeom prst="rect">
            <a:avLst/>
          </a:prstGeom>
          <a:noFill/>
        </p:spPr>
        <p:txBody>
          <a:bodyPr wrap="square" rtlCol="0">
            <a:noAutofit/>
          </a:bodyPr>
          <a:p>
            <a:pPr algn="ctr"/>
            <a:r>
              <a:rPr lang="en-US" altLang="en-GB" sz="3200">
                <a:solidFill>
                  <a:schemeClr val="accent2">
                    <a:lumMod val="20000"/>
                    <a:lumOff val="80000"/>
                  </a:schemeClr>
                </a:solidFill>
                <a:latin typeface="Georgia Pro Cond" panose="02040506050405020303" charset="0"/>
                <a:cs typeface="Georgia Pro Cond" panose="02040506050405020303" charset="0"/>
              </a:rPr>
              <a:t>5-15%</a:t>
            </a:r>
            <a:endParaRPr lang="en-US" altLang="en-GB" sz="3200">
              <a:solidFill>
                <a:schemeClr val="accent2">
                  <a:lumMod val="20000"/>
                  <a:lumOff val="80000"/>
                </a:schemeClr>
              </a:solidFill>
              <a:latin typeface="Georgia Pro Cond" panose="02040506050405020303" charset="0"/>
              <a:cs typeface="Georgia Pro Cond" panose="02040506050405020303" charset="0"/>
            </a:endParaRPr>
          </a:p>
          <a:p>
            <a:pPr algn="ctr"/>
            <a:r>
              <a:rPr lang="en-US" altLang="en-GB" sz="1400">
                <a:solidFill>
                  <a:schemeClr val="bg2"/>
                </a:solidFill>
                <a:latin typeface="Georgia Pro Cond" panose="02040506050405020303" charset="0"/>
                <a:cs typeface="Georgia Pro Cond" panose="02040506050405020303" charset="0"/>
              </a:rPr>
              <a:t>Customer Retention</a:t>
            </a:r>
            <a:endParaRPr lang="en-US" altLang="en-GB" sz="1400">
              <a:solidFill>
                <a:schemeClr val="bg2"/>
              </a:solidFill>
              <a:latin typeface="Georgia Pro Cond" panose="02040506050405020303" charset="0"/>
              <a:cs typeface="Georgia Pro Cond" panose="02040506050405020303" charset="0"/>
            </a:endParaRPr>
          </a:p>
          <a:p>
            <a:pPr algn="ctr"/>
            <a:r>
              <a:rPr lang="en-US" altLang="en-GB" sz="1400">
                <a:solidFill>
                  <a:schemeClr val="bg2"/>
                </a:solidFill>
                <a:latin typeface="Georgia Pro Cond" panose="02040506050405020303" charset="0"/>
                <a:cs typeface="Georgia Pro Cond" panose="02040506050405020303" charset="0"/>
              </a:rPr>
              <a:t>Opportunity</a:t>
            </a:r>
            <a:endParaRPr lang="en-US" altLang="en-GB" sz="1400">
              <a:solidFill>
                <a:schemeClr val="bg2"/>
              </a:solidFill>
              <a:latin typeface="Georgia Pro Cond" panose="02040506050405020303" charset="0"/>
              <a:cs typeface="Georgia Pro Cond" panose="02040506050405020303" charset="0"/>
            </a:endParaRPr>
          </a:p>
          <a:p>
            <a:pPr algn="ctr"/>
            <a:endParaRPr lang="en-US" altLang="en-GB" sz="1400">
              <a:solidFill>
                <a:schemeClr val="bg2"/>
              </a:solidFill>
              <a:latin typeface="Georgia Pro Cond" panose="02040506050405020303" charset="0"/>
              <a:cs typeface="Georgia Pro Cond" panose="02040506050405020303" charset="0"/>
            </a:endParaRPr>
          </a:p>
        </p:txBody>
      </p:sp>
      <p:sp>
        <p:nvSpPr>
          <p:cNvPr id="16" name="Text Box 15"/>
          <p:cNvSpPr txBox="1"/>
          <p:nvPr/>
        </p:nvSpPr>
        <p:spPr>
          <a:xfrm>
            <a:off x="7216775" y="3825875"/>
            <a:ext cx="3708400" cy="368300"/>
          </a:xfrm>
          <a:prstGeom prst="rect">
            <a:avLst/>
          </a:prstGeom>
          <a:noFill/>
        </p:spPr>
        <p:txBody>
          <a:bodyPr wrap="square" rtlCol="0" anchor="t">
            <a:spAutoFit/>
          </a:bodyPr>
          <a:p>
            <a:pPr algn="ctr"/>
            <a:r>
              <a:rPr lang="en-US" altLang="en-US" b="1" dirty="0">
                <a:solidFill>
                  <a:srgbClr val="C00000"/>
                </a:solidFill>
                <a:latin typeface="Georgia Pro Cond Light" panose="02040306050405020303" charset="0"/>
                <a:ea typeface="SimSun" panose="02010600030101010101" pitchFamily="2" charset="-122"/>
                <a:cs typeface="Georgia Pro Cond Light" panose="02040306050405020303" charset="0"/>
                <a:sym typeface="+mn-ea"/>
              </a:rPr>
              <a:t>Business Impact</a:t>
            </a:r>
            <a:endParaRPr lang="en-US" altLang="en-US" b="1" dirty="0">
              <a:solidFill>
                <a:srgbClr val="C00000"/>
              </a:solidFill>
              <a:latin typeface="Georgia Pro Cond Light" panose="02040306050405020303" charset="0"/>
              <a:ea typeface="SimSun" panose="02010600030101010101" pitchFamily="2" charset="-122"/>
              <a:cs typeface="Georgia Pro Cond Light" panose="02040306050405020303" charset="0"/>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5" name="Group 14"/>
          <p:cNvGrpSpPr/>
          <p:nvPr/>
        </p:nvGrpSpPr>
        <p:grpSpPr>
          <a:xfrm>
            <a:off x="322580" y="967105"/>
            <a:ext cx="3290570" cy="5368290"/>
            <a:chOff x="7043" y="1181"/>
            <a:chExt cx="5182" cy="7495"/>
          </a:xfrm>
        </p:grpSpPr>
        <p:sp>
          <p:nvSpPr>
            <p:cNvPr id="6" name="Text 2"/>
            <p:cNvSpPr/>
            <p:nvPr>
              <p:custDataLst>
                <p:tags r:id="rId1"/>
              </p:custDataLst>
            </p:nvPr>
          </p:nvSpPr>
          <p:spPr>
            <a:xfrm>
              <a:off x="7043" y="1181"/>
              <a:ext cx="5182" cy="1141"/>
            </a:xfrm>
            <a:prstGeom prst="roundRect">
              <a:avLst>
                <a:gd name="adj" fmla="val 147692"/>
              </a:avLst>
            </a:prstGeom>
            <a:solidFill>
              <a:srgbClr val="2563EB">
                <a:alpha val="6000"/>
              </a:srgbClr>
            </a:solidFill>
          </p:spPr>
          <p:txBody>
            <a:bodyPr wrap="none" lIns="0" tIns="0" rIns="0" bIns="0" rtlCol="0" anchor="ctr">
              <a:normAutofit/>
            </a:bodyPr>
            <a:lstStyle/>
            <a:p>
              <a:pPr marL="0" indent="0">
                <a:buNone/>
              </a:pPr>
              <a:endParaRPr lang="en-US" sz="1600" dirty="0">
                <a:latin typeface="Georgia Pro Cond Light" panose="02040306050405020303" charset="0"/>
                <a:cs typeface="Georgia Pro Cond Light" panose="02040306050405020303" charset="0"/>
              </a:endParaRPr>
            </a:p>
          </p:txBody>
        </p:sp>
        <p:sp>
          <p:nvSpPr>
            <p:cNvPr id="22" name="Text 20"/>
            <p:cNvSpPr/>
            <p:nvPr>
              <p:custDataLst>
                <p:tags r:id="rId2"/>
              </p:custDataLst>
            </p:nvPr>
          </p:nvSpPr>
          <p:spPr>
            <a:xfrm>
              <a:off x="7297" y="1379"/>
              <a:ext cx="1474" cy="351"/>
            </a:xfrm>
            <a:prstGeom prst="rect">
              <a:avLst/>
            </a:prstGeom>
            <a:noFill/>
          </p:spPr>
          <p:txBody>
            <a:bodyPr wrap="square" lIns="0" tIns="0" rIns="0" bIns="0" rtlCol="0" anchor="t"/>
            <a:lstStyle/>
            <a:p>
              <a:pPr marL="0" indent="0">
                <a:lnSpc>
                  <a:spcPts val="1350"/>
                </a:lnSpc>
                <a:buNone/>
              </a:pPr>
              <a:r>
                <a:rPr lang="en-US" sz="1600" b="1" dirty="0">
                  <a:solidFill>
                    <a:schemeClr val="accent2">
                      <a:lumMod val="60000"/>
                      <a:lumOff val="40000"/>
                    </a:schemeClr>
                  </a:solidFill>
                  <a:latin typeface="Georgia Pro Cond Light" panose="02040306050405020303" charset="0"/>
                  <a:ea typeface="SimSun" panose="02010600030101010101" pitchFamily="2" charset="-122"/>
                  <a:cs typeface="Georgia Pro Cond Light" panose="02040306050405020303" charset="0"/>
                </a:rPr>
                <a:t>InvoiceNo</a:t>
              </a:r>
              <a:endParaRPr lang="en-US" sz="1600" b="1" dirty="0">
                <a:solidFill>
                  <a:schemeClr val="accent2">
                    <a:lumMod val="60000"/>
                    <a:lumOff val="40000"/>
                  </a:schemeClr>
                </a:solidFill>
                <a:latin typeface="Georgia Pro Cond Light" panose="02040306050405020303" charset="0"/>
                <a:ea typeface="SimSun" panose="02010600030101010101" pitchFamily="2" charset="-122"/>
                <a:cs typeface="Georgia Pro Cond Light" panose="02040306050405020303" charset="0"/>
              </a:endParaRPr>
            </a:p>
          </p:txBody>
        </p:sp>
        <p:sp>
          <p:nvSpPr>
            <p:cNvPr id="23" name="Text 21"/>
            <p:cNvSpPr/>
            <p:nvPr>
              <p:custDataLst>
                <p:tags r:id="rId3"/>
              </p:custDataLst>
            </p:nvPr>
          </p:nvSpPr>
          <p:spPr>
            <a:xfrm>
              <a:off x="7297" y="1773"/>
              <a:ext cx="2069" cy="351"/>
            </a:xfrm>
            <a:prstGeom prst="rect">
              <a:avLst/>
            </a:prstGeom>
            <a:noFill/>
          </p:spPr>
          <p:txBody>
            <a:bodyPr wrap="square" lIns="0" tIns="0" rIns="0" bIns="0" rtlCol="0" anchor="t"/>
            <a:lstStyle/>
            <a:p>
              <a:pPr marL="0" indent="0">
                <a:lnSpc>
                  <a:spcPts val="1350"/>
                </a:lnSpc>
                <a:buNone/>
              </a:pPr>
              <a:r>
                <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rPr>
                <a:t>Transaction ID</a:t>
              </a:r>
              <a:endPar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endParaRPr>
            </a:p>
          </p:txBody>
        </p:sp>
        <p:sp>
          <p:nvSpPr>
            <p:cNvPr id="7" name="Text 3"/>
            <p:cNvSpPr/>
            <p:nvPr>
              <p:custDataLst>
                <p:tags r:id="rId4"/>
              </p:custDataLst>
            </p:nvPr>
          </p:nvSpPr>
          <p:spPr>
            <a:xfrm>
              <a:off x="7043" y="2454"/>
              <a:ext cx="5182" cy="1141"/>
            </a:xfrm>
            <a:prstGeom prst="roundRect">
              <a:avLst>
                <a:gd name="adj" fmla="val 147692"/>
              </a:avLst>
            </a:prstGeom>
            <a:solidFill>
              <a:srgbClr val="2563EB">
                <a:alpha val="6000"/>
              </a:srgbClr>
            </a:solidFill>
          </p:spPr>
          <p:txBody>
            <a:bodyPr wrap="none" lIns="0" tIns="0" rIns="0" bIns="0" rtlCol="0" anchor="ctr">
              <a:normAutofit/>
            </a:bodyPr>
            <a:lstStyle/>
            <a:p>
              <a:pPr marL="0" indent="0">
                <a:buNone/>
              </a:pPr>
              <a:endParaRPr lang="en-US" sz="1600" dirty="0">
                <a:latin typeface="Georgia Pro Cond Light" panose="02040306050405020303" charset="0"/>
                <a:cs typeface="Georgia Pro Cond Light" panose="02040306050405020303" charset="0"/>
              </a:endParaRPr>
            </a:p>
          </p:txBody>
        </p:sp>
        <p:sp>
          <p:nvSpPr>
            <p:cNvPr id="9" name="Text 5"/>
            <p:cNvSpPr/>
            <p:nvPr>
              <p:custDataLst>
                <p:tags r:id="rId5"/>
              </p:custDataLst>
            </p:nvPr>
          </p:nvSpPr>
          <p:spPr>
            <a:xfrm>
              <a:off x="7043" y="3711"/>
              <a:ext cx="5182" cy="1141"/>
            </a:xfrm>
            <a:prstGeom prst="roundRect">
              <a:avLst>
                <a:gd name="adj" fmla="val 147692"/>
              </a:avLst>
            </a:prstGeom>
            <a:solidFill>
              <a:srgbClr val="7C3AED">
                <a:alpha val="6000"/>
              </a:srgbClr>
            </a:solidFill>
          </p:spPr>
          <p:txBody>
            <a:bodyPr wrap="none" lIns="0" tIns="0" rIns="0" bIns="0" rtlCol="0" anchor="ctr">
              <a:normAutofit/>
            </a:bodyPr>
            <a:lstStyle/>
            <a:p>
              <a:pPr marL="0" indent="0">
                <a:buNone/>
              </a:pPr>
              <a:endParaRPr lang="en-US" sz="1600" dirty="0">
                <a:latin typeface="Georgia Pro Cond Light" panose="02040306050405020303" charset="0"/>
                <a:cs typeface="Georgia Pro Cond Light" panose="02040306050405020303" charset="0"/>
              </a:endParaRPr>
            </a:p>
          </p:txBody>
        </p:sp>
        <p:sp>
          <p:nvSpPr>
            <p:cNvPr id="24" name="Text 22"/>
            <p:cNvSpPr/>
            <p:nvPr>
              <p:custDataLst>
                <p:tags r:id="rId6"/>
              </p:custDataLst>
            </p:nvPr>
          </p:nvSpPr>
          <p:spPr>
            <a:xfrm>
              <a:off x="7297" y="2636"/>
              <a:ext cx="1655" cy="351"/>
            </a:xfrm>
            <a:prstGeom prst="rect">
              <a:avLst/>
            </a:prstGeom>
            <a:noFill/>
          </p:spPr>
          <p:txBody>
            <a:bodyPr wrap="square" lIns="0" tIns="0" rIns="0" bIns="0" rtlCol="0" anchor="t"/>
            <a:lstStyle/>
            <a:p>
              <a:pPr marL="0" indent="0">
                <a:lnSpc>
                  <a:spcPts val="1350"/>
                </a:lnSpc>
                <a:buNone/>
              </a:pPr>
              <a:r>
                <a:rPr lang="en-US" sz="1600" b="1" dirty="0">
                  <a:solidFill>
                    <a:schemeClr val="accent2">
                      <a:lumMod val="60000"/>
                      <a:lumOff val="40000"/>
                    </a:schemeClr>
                  </a:solidFill>
                  <a:latin typeface="Georgia Pro Cond Light" panose="02040306050405020303" charset="0"/>
                  <a:ea typeface="SimSun" panose="02010600030101010101" pitchFamily="2" charset="-122"/>
                  <a:cs typeface="Georgia Pro Cond Light" panose="02040306050405020303" charset="0"/>
                </a:rPr>
                <a:t>StockCode</a:t>
              </a:r>
              <a:endParaRPr lang="en-US" sz="1600" b="1" dirty="0">
                <a:solidFill>
                  <a:schemeClr val="accent2">
                    <a:lumMod val="60000"/>
                    <a:lumOff val="40000"/>
                  </a:schemeClr>
                </a:solidFill>
                <a:latin typeface="Georgia Pro Cond Light" panose="02040306050405020303" charset="0"/>
                <a:ea typeface="SimSun" panose="02010600030101010101" pitchFamily="2" charset="-122"/>
                <a:cs typeface="Georgia Pro Cond Light" panose="02040306050405020303" charset="0"/>
              </a:endParaRPr>
            </a:p>
          </p:txBody>
        </p:sp>
        <p:sp>
          <p:nvSpPr>
            <p:cNvPr id="25" name="Text 23"/>
            <p:cNvSpPr/>
            <p:nvPr>
              <p:custDataLst>
                <p:tags r:id="rId7"/>
              </p:custDataLst>
            </p:nvPr>
          </p:nvSpPr>
          <p:spPr>
            <a:xfrm>
              <a:off x="7297" y="3030"/>
              <a:ext cx="1992" cy="351"/>
            </a:xfrm>
            <a:prstGeom prst="rect">
              <a:avLst/>
            </a:prstGeom>
            <a:noFill/>
          </p:spPr>
          <p:txBody>
            <a:bodyPr wrap="square" lIns="0" tIns="0" rIns="0" bIns="0" rtlCol="0" anchor="t"/>
            <a:lstStyle/>
            <a:p>
              <a:pPr marL="0" indent="0">
                <a:lnSpc>
                  <a:spcPts val="1350"/>
                </a:lnSpc>
                <a:buNone/>
              </a:pPr>
              <a:r>
                <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rPr>
                <a:t>Product code</a:t>
              </a:r>
              <a:endPar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endParaRPr>
            </a:p>
          </p:txBody>
        </p:sp>
        <p:sp>
          <p:nvSpPr>
            <p:cNvPr id="28" name="Text 26"/>
            <p:cNvSpPr/>
            <p:nvPr>
              <p:custDataLst>
                <p:tags r:id="rId8"/>
              </p:custDataLst>
            </p:nvPr>
          </p:nvSpPr>
          <p:spPr>
            <a:xfrm>
              <a:off x="7297" y="3908"/>
              <a:ext cx="1758" cy="351"/>
            </a:xfrm>
            <a:prstGeom prst="rect">
              <a:avLst/>
            </a:prstGeom>
            <a:noFill/>
          </p:spPr>
          <p:txBody>
            <a:bodyPr wrap="square" lIns="0" tIns="0" rIns="0" bIns="0" rtlCol="0" anchor="t"/>
            <a:lstStyle/>
            <a:p>
              <a:pPr marL="0" indent="0">
                <a:lnSpc>
                  <a:spcPts val="1350"/>
                </a:lnSpc>
                <a:buNone/>
              </a:pPr>
              <a:r>
                <a:rPr lang="en-US" sz="1600" b="1" dirty="0">
                  <a:solidFill>
                    <a:schemeClr val="accent2">
                      <a:lumMod val="60000"/>
                      <a:lumOff val="40000"/>
                    </a:schemeClr>
                  </a:solidFill>
                  <a:latin typeface="Georgia Pro Cond Light" panose="02040306050405020303" charset="0"/>
                  <a:ea typeface="SimSun" panose="02010600030101010101" pitchFamily="2" charset="-122"/>
                  <a:cs typeface="Georgia Pro Cond Light" panose="02040306050405020303" charset="0"/>
                </a:rPr>
                <a:t>InvoiceDate</a:t>
              </a:r>
              <a:endParaRPr lang="en-US" sz="1600" b="1" dirty="0">
                <a:solidFill>
                  <a:schemeClr val="accent2">
                    <a:lumMod val="60000"/>
                    <a:lumOff val="40000"/>
                  </a:schemeClr>
                </a:solidFill>
                <a:latin typeface="Georgia Pro Cond Light" panose="02040306050405020303" charset="0"/>
                <a:ea typeface="SimSun" panose="02010600030101010101" pitchFamily="2" charset="-122"/>
                <a:cs typeface="Georgia Pro Cond Light" panose="02040306050405020303" charset="0"/>
              </a:endParaRPr>
            </a:p>
          </p:txBody>
        </p:sp>
        <p:sp>
          <p:nvSpPr>
            <p:cNvPr id="29" name="Text 27"/>
            <p:cNvSpPr/>
            <p:nvPr>
              <p:custDataLst>
                <p:tags r:id="rId9"/>
              </p:custDataLst>
            </p:nvPr>
          </p:nvSpPr>
          <p:spPr>
            <a:xfrm>
              <a:off x="7297" y="4303"/>
              <a:ext cx="1680" cy="351"/>
            </a:xfrm>
            <a:prstGeom prst="rect">
              <a:avLst/>
            </a:prstGeom>
            <a:noFill/>
          </p:spPr>
          <p:txBody>
            <a:bodyPr wrap="square" lIns="0" tIns="0" rIns="0" bIns="0" rtlCol="0" anchor="t"/>
            <a:lstStyle/>
            <a:p>
              <a:pPr marL="0" indent="0">
                <a:lnSpc>
                  <a:spcPts val="1350"/>
                </a:lnSpc>
                <a:buNone/>
              </a:pPr>
              <a:r>
                <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rPr>
                <a:t>Timestamp</a:t>
              </a:r>
              <a:endPar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endParaRPr>
            </a:p>
          </p:txBody>
        </p:sp>
        <p:sp>
          <p:nvSpPr>
            <p:cNvPr id="11" name="Text 7"/>
            <p:cNvSpPr/>
            <p:nvPr>
              <p:custDataLst>
                <p:tags r:id="rId10"/>
              </p:custDataLst>
            </p:nvPr>
          </p:nvSpPr>
          <p:spPr>
            <a:xfrm>
              <a:off x="7043" y="7536"/>
              <a:ext cx="5182" cy="1141"/>
            </a:xfrm>
            <a:prstGeom prst="roundRect">
              <a:avLst>
                <a:gd name="adj" fmla="val 147692"/>
              </a:avLst>
            </a:prstGeom>
            <a:solidFill>
              <a:srgbClr val="0891B2">
                <a:alpha val="6000"/>
              </a:srgbClr>
            </a:solidFill>
          </p:spPr>
          <p:txBody>
            <a:bodyPr wrap="none" lIns="0" tIns="0" rIns="0" bIns="0" rtlCol="0" anchor="ctr">
              <a:normAutofit/>
            </a:bodyPr>
            <a:lstStyle/>
            <a:p>
              <a:pPr marL="0" indent="0">
                <a:buNone/>
              </a:pPr>
              <a:endParaRPr lang="en-US" sz="1600" dirty="0">
                <a:latin typeface="Georgia Pro Cond Light" panose="02040306050405020303" charset="0"/>
                <a:cs typeface="Georgia Pro Cond Light" panose="02040306050405020303" charset="0"/>
              </a:endParaRPr>
            </a:p>
          </p:txBody>
        </p:sp>
        <p:sp>
          <p:nvSpPr>
            <p:cNvPr id="8" name="Text 4"/>
            <p:cNvSpPr/>
            <p:nvPr>
              <p:custDataLst>
                <p:tags r:id="rId11"/>
              </p:custDataLst>
            </p:nvPr>
          </p:nvSpPr>
          <p:spPr>
            <a:xfrm>
              <a:off x="7043" y="4991"/>
              <a:ext cx="5182" cy="1141"/>
            </a:xfrm>
            <a:prstGeom prst="roundRect">
              <a:avLst>
                <a:gd name="adj" fmla="val 147692"/>
              </a:avLst>
            </a:prstGeom>
            <a:solidFill>
              <a:srgbClr val="7C3AED">
                <a:alpha val="6000"/>
              </a:srgbClr>
            </a:solidFill>
          </p:spPr>
          <p:txBody>
            <a:bodyPr wrap="none" lIns="0" tIns="0" rIns="0" bIns="0" rtlCol="0" anchor="ctr">
              <a:normAutofit/>
            </a:bodyPr>
            <a:lstStyle/>
            <a:p>
              <a:pPr marL="0" indent="0">
                <a:buNone/>
              </a:pPr>
              <a:endParaRPr lang="en-US" sz="1600" dirty="0">
                <a:latin typeface="Georgia Pro Cond Light" panose="02040306050405020303" charset="0"/>
                <a:cs typeface="Georgia Pro Cond Light" panose="02040306050405020303" charset="0"/>
              </a:endParaRPr>
            </a:p>
          </p:txBody>
        </p:sp>
        <p:sp>
          <p:nvSpPr>
            <p:cNvPr id="10" name="Text 6"/>
            <p:cNvSpPr/>
            <p:nvPr>
              <p:custDataLst>
                <p:tags r:id="rId12"/>
              </p:custDataLst>
            </p:nvPr>
          </p:nvSpPr>
          <p:spPr>
            <a:xfrm>
              <a:off x="7043" y="6263"/>
              <a:ext cx="5182" cy="1141"/>
            </a:xfrm>
            <a:prstGeom prst="roundRect">
              <a:avLst>
                <a:gd name="adj" fmla="val 147692"/>
              </a:avLst>
            </a:prstGeom>
            <a:solidFill>
              <a:srgbClr val="0891B2">
                <a:alpha val="6000"/>
              </a:srgbClr>
            </a:solidFill>
          </p:spPr>
          <p:txBody>
            <a:bodyPr wrap="none" lIns="0" tIns="0" rIns="0" bIns="0" rtlCol="0" anchor="ctr">
              <a:normAutofit/>
            </a:bodyPr>
            <a:lstStyle/>
            <a:p>
              <a:pPr marL="0" indent="0">
                <a:buNone/>
              </a:pPr>
              <a:endParaRPr lang="en-US" sz="1600" dirty="0">
                <a:latin typeface="Georgia Pro Cond Light" panose="02040306050405020303" charset="0"/>
                <a:cs typeface="Georgia Pro Cond Light" panose="02040306050405020303" charset="0"/>
              </a:endParaRPr>
            </a:p>
          </p:txBody>
        </p:sp>
        <p:sp>
          <p:nvSpPr>
            <p:cNvPr id="26" name="Text 24"/>
            <p:cNvSpPr/>
            <p:nvPr>
              <p:custDataLst>
                <p:tags r:id="rId13"/>
              </p:custDataLst>
            </p:nvPr>
          </p:nvSpPr>
          <p:spPr>
            <a:xfrm>
              <a:off x="7297" y="5188"/>
              <a:ext cx="1758" cy="351"/>
            </a:xfrm>
            <a:prstGeom prst="rect">
              <a:avLst/>
            </a:prstGeom>
            <a:noFill/>
          </p:spPr>
          <p:txBody>
            <a:bodyPr wrap="square" lIns="0" tIns="0" rIns="0" bIns="0" rtlCol="0" anchor="t"/>
            <a:lstStyle/>
            <a:p>
              <a:pPr marL="0" indent="0">
                <a:lnSpc>
                  <a:spcPts val="1350"/>
                </a:lnSpc>
                <a:buNone/>
              </a:pPr>
              <a:r>
                <a:rPr lang="en-US" sz="1600" b="1" dirty="0">
                  <a:solidFill>
                    <a:schemeClr val="accent2">
                      <a:lumMod val="60000"/>
                      <a:lumOff val="40000"/>
                    </a:schemeClr>
                  </a:solidFill>
                  <a:latin typeface="Georgia Pro Cond Light" panose="02040306050405020303" charset="0"/>
                  <a:ea typeface="SimSun" panose="02010600030101010101" pitchFamily="2" charset="-122"/>
                  <a:cs typeface="Georgia Pro Cond Light" panose="02040306050405020303" charset="0"/>
                </a:rPr>
                <a:t>CustomerID</a:t>
              </a:r>
              <a:endParaRPr lang="en-US" sz="1600" b="1" dirty="0">
                <a:solidFill>
                  <a:schemeClr val="accent2">
                    <a:lumMod val="60000"/>
                    <a:lumOff val="40000"/>
                  </a:schemeClr>
                </a:solidFill>
                <a:latin typeface="Georgia Pro Cond Light" panose="02040306050405020303" charset="0"/>
                <a:ea typeface="SimSun" panose="02010600030101010101" pitchFamily="2" charset="-122"/>
                <a:cs typeface="Georgia Pro Cond Light" panose="02040306050405020303" charset="0"/>
              </a:endParaRPr>
            </a:p>
          </p:txBody>
        </p:sp>
        <p:sp>
          <p:nvSpPr>
            <p:cNvPr id="27" name="Text 25"/>
            <p:cNvSpPr/>
            <p:nvPr>
              <p:custDataLst>
                <p:tags r:id="rId14"/>
              </p:custDataLst>
            </p:nvPr>
          </p:nvSpPr>
          <p:spPr>
            <a:xfrm>
              <a:off x="7297" y="5583"/>
              <a:ext cx="1396" cy="351"/>
            </a:xfrm>
            <a:prstGeom prst="rect">
              <a:avLst/>
            </a:prstGeom>
            <a:noFill/>
          </p:spPr>
          <p:txBody>
            <a:bodyPr wrap="square" lIns="0" tIns="0" rIns="0" bIns="0" rtlCol="0" anchor="t"/>
            <a:lstStyle/>
            <a:p>
              <a:pPr marL="0" indent="0">
                <a:lnSpc>
                  <a:spcPts val="1350"/>
                </a:lnSpc>
                <a:buNone/>
              </a:pPr>
              <a:r>
                <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rPr>
                <a:t>Unique ID</a:t>
              </a:r>
              <a:endPar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endParaRPr>
            </a:p>
          </p:txBody>
        </p:sp>
        <p:sp>
          <p:nvSpPr>
            <p:cNvPr id="30" name="Text 28"/>
            <p:cNvSpPr/>
            <p:nvPr>
              <p:custDataLst>
                <p:tags r:id="rId15"/>
              </p:custDataLst>
            </p:nvPr>
          </p:nvSpPr>
          <p:spPr>
            <a:xfrm>
              <a:off x="7297" y="6461"/>
              <a:ext cx="1293" cy="351"/>
            </a:xfrm>
            <a:prstGeom prst="rect">
              <a:avLst/>
            </a:prstGeom>
            <a:noFill/>
          </p:spPr>
          <p:txBody>
            <a:bodyPr wrap="square" lIns="0" tIns="0" rIns="0" bIns="0" rtlCol="0" anchor="t"/>
            <a:lstStyle/>
            <a:p>
              <a:pPr marL="0" indent="0">
                <a:lnSpc>
                  <a:spcPts val="1350"/>
                </a:lnSpc>
                <a:buNone/>
              </a:pPr>
              <a:r>
                <a:rPr lang="en-US" sz="1600" b="1" dirty="0">
                  <a:solidFill>
                    <a:schemeClr val="accent2">
                      <a:lumMod val="60000"/>
                      <a:lumOff val="40000"/>
                    </a:schemeClr>
                  </a:solidFill>
                  <a:latin typeface="Georgia Pro Cond Light" panose="02040306050405020303" charset="0"/>
                  <a:ea typeface="SimSun" panose="02010600030101010101" pitchFamily="2" charset="-122"/>
                  <a:cs typeface="Georgia Pro Cond Light" panose="02040306050405020303" charset="0"/>
                </a:rPr>
                <a:t>Quantity</a:t>
              </a:r>
              <a:endParaRPr lang="en-US" sz="1600" b="1" dirty="0">
                <a:solidFill>
                  <a:schemeClr val="accent2">
                    <a:lumMod val="60000"/>
                    <a:lumOff val="40000"/>
                  </a:schemeClr>
                </a:solidFill>
                <a:latin typeface="Georgia Pro Cond Light" panose="02040306050405020303" charset="0"/>
                <a:ea typeface="SimSun" panose="02010600030101010101" pitchFamily="2" charset="-122"/>
                <a:cs typeface="Georgia Pro Cond Light" panose="02040306050405020303" charset="0"/>
              </a:endParaRPr>
            </a:p>
          </p:txBody>
        </p:sp>
        <p:sp>
          <p:nvSpPr>
            <p:cNvPr id="31" name="Text 29"/>
            <p:cNvSpPr/>
            <p:nvPr>
              <p:custDataLst>
                <p:tags r:id="rId16"/>
              </p:custDataLst>
            </p:nvPr>
          </p:nvSpPr>
          <p:spPr>
            <a:xfrm>
              <a:off x="7297" y="6856"/>
              <a:ext cx="1992" cy="351"/>
            </a:xfrm>
            <a:prstGeom prst="rect">
              <a:avLst/>
            </a:prstGeom>
            <a:noFill/>
          </p:spPr>
          <p:txBody>
            <a:bodyPr wrap="square" lIns="0" tIns="0" rIns="0" bIns="0" rtlCol="0" anchor="t"/>
            <a:lstStyle/>
            <a:p>
              <a:pPr marL="0" indent="0">
                <a:lnSpc>
                  <a:spcPts val="1350"/>
                </a:lnSpc>
                <a:buNone/>
              </a:pPr>
              <a:r>
                <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rPr>
                <a:t>Units ordered</a:t>
              </a:r>
              <a:endPar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endParaRPr>
            </a:p>
          </p:txBody>
        </p:sp>
        <p:sp>
          <p:nvSpPr>
            <p:cNvPr id="32" name="Text 30"/>
            <p:cNvSpPr/>
            <p:nvPr>
              <p:custDataLst>
                <p:tags r:id="rId17"/>
              </p:custDataLst>
            </p:nvPr>
          </p:nvSpPr>
          <p:spPr>
            <a:xfrm>
              <a:off x="7297" y="7750"/>
              <a:ext cx="1346" cy="351"/>
            </a:xfrm>
            <a:prstGeom prst="rect">
              <a:avLst/>
            </a:prstGeom>
            <a:noFill/>
          </p:spPr>
          <p:txBody>
            <a:bodyPr wrap="square" lIns="0" tIns="0" rIns="0" bIns="0" rtlCol="0" anchor="t"/>
            <a:lstStyle/>
            <a:p>
              <a:pPr marL="0" indent="0">
                <a:lnSpc>
                  <a:spcPts val="1350"/>
                </a:lnSpc>
                <a:buNone/>
              </a:pPr>
              <a:r>
                <a:rPr lang="en-US" sz="1600" b="1" dirty="0">
                  <a:solidFill>
                    <a:schemeClr val="accent2">
                      <a:lumMod val="60000"/>
                      <a:lumOff val="40000"/>
                    </a:schemeClr>
                  </a:solidFill>
                  <a:latin typeface="Georgia Pro Cond Light" panose="02040306050405020303" charset="0"/>
                  <a:ea typeface="SimSun" panose="02010600030101010101" pitchFamily="2" charset="-122"/>
                  <a:cs typeface="Georgia Pro Cond Light" panose="02040306050405020303" charset="0"/>
                </a:rPr>
                <a:t>UnitPrice</a:t>
              </a:r>
              <a:endParaRPr lang="en-US" sz="1600" b="1" dirty="0">
                <a:solidFill>
                  <a:schemeClr val="accent2">
                    <a:lumMod val="60000"/>
                    <a:lumOff val="40000"/>
                  </a:schemeClr>
                </a:solidFill>
                <a:latin typeface="Georgia Pro Cond Light" panose="02040306050405020303" charset="0"/>
                <a:ea typeface="SimSun" panose="02010600030101010101" pitchFamily="2" charset="-122"/>
                <a:cs typeface="Georgia Pro Cond Light" panose="02040306050405020303" charset="0"/>
              </a:endParaRPr>
            </a:p>
          </p:txBody>
        </p:sp>
        <p:sp>
          <p:nvSpPr>
            <p:cNvPr id="33" name="Text 31"/>
            <p:cNvSpPr/>
            <p:nvPr>
              <p:custDataLst>
                <p:tags r:id="rId18"/>
              </p:custDataLst>
            </p:nvPr>
          </p:nvSpPr>
          <p:spPr>
            <a:xfrm>
              <a:off x="7297" y="8129"/>
              <a:ext cx="1396" cy="351"/>
            </a:xfrm>
            <a:prstGeom prst="rect">
              <a:avLst/>
            </a:prstGeom>
            <a:noFill/>
          </p:spPr>
          <p:txBody>
            <a:bodyPr wrap="square" lIns="0" tIns="0" rIns="0" bIns="0" rtlCol="0" anchor="t"/>
            <a:lstStyle/>
            <a:p>
              <a:pPr marL="0" indent="0">
                <a:lnSpc>
                  <a:spcPts val="1350"/>
                </a:lnSpc>
                <a:buNone/>
              </a:pPr>
              <a:r>
                <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rPr>
                <a:t>£ per unit</a:t>
              </a:r>
              <a:endPar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endParaRPr>
            </a:p>
          </p:txBody>
        </p:sp>
      </p:grpSp>
      <p:sp>
        <p:nvSpPr>
          <p:cNvPr id="16" name="Text Box 15"/>
          <p:cNvSpPr txBox="1"/>
          <p:nvPr/>
        </p:nvSpPr>
        <p:spPr>
          <a:xfrm>
            <a:off x="322580" y="327025"/>
            <a:ext cx="3290570" cy="368300"/>
          </a:xfrm>
          <a:prstGeom prst="rect">
            <a:avLst/>
          </a:prstGeom>
          <a:solidFill>
            <a:schemeClr val="accent2">
              <a:lumMod val="50000"/>
              <a:alpha val="62000"/>
            </a:schemeClr>
          </a:solidFill>
        </p:spPr>
        <p:txBody>
          <a:bodyPr wrap="square" rtlCol="0">
            <a:spAutoFit/>
          </a:bodyPr>
          <a:p>
            <a:r>
              <a:rPr lang="en-US" b="1" dirty="0">
                <a:solidFill>
                  <a:schemeClr val="bg2"/>
                </a:solidFill>
                <a:latin typeface="Georgia Pro Cond" panose="02040506050405020303" charset="0"/>
                <a:ea typeface="SimSun" panose="02010600030101010101" pitchFamily="2" charset="-122"/>
                <a:cs typeface="Georgia Pro Cond" panose="02040506050405020303" charset="0"/>
                <a:sym typeface="+mn-ea"/>
              </a:rPr>
              <a:t>Dataset Features</a:t>
            </a:r>
            <a:endParaRPr lang="en-US" altLang="en-US" b="1" dirty="0">
              <a:solidFill>
                <a:schemeClr val="bg2"/>
              </a:solidFill>
              <a:latin typeface="Georgia Pro Cond" panose="02040506050405020303" charset="0"/>
              <a:ea typeface="SimSun" panose="02010600030101010101" pitchFamily="2" charset="-122"/>
              <a:cs typeface="Georgia Pro Cond" panose="02040506050405020303" charset="0"/>
              <a:sym typeface="+mn-ea"/>
            </a:endParaRPr>
          </a:p>
        </p:txBody>
      </p:sp>
      <p:grpSp>
        <p:nvGrpSpPr>
          <p:cNvPr id="36" name="Group 35"/>
          <p:cNvGrpSpPr/>
          <p:nvPr>
            <p:custDataLst>
              <p:tags r:id="rId19"/>
            </p:custDataLst>
          </p:nvPr>
        </p:nvGrpSpPr>
        <p:grpSpPr>
          <a:xfrm>
            <a:off x="4274185" y="1015365"/>
            <a:ext cx="7205345" cy="3212465"/>
            <a:chOff x="7007" y="1754"/>
            <a:chExt cx="11347" cy="5059"/>
          </a:xfrm>
        </p:grpSpPr>
        <p:sp>
          <p:nvSpPr>
            <p:cNvPr id="35" name="Text 16"/>
            <p:cNvSpPr/>
            <p:nvPr>
              <p:custDataLst>
                <p:tags r:id="rId20"/>
              </p:custDataLst>
            </p:nvPr>
          </p:nvSpPr>
          <p:spPr>
            <a:xfrm>
              <a:off x="7007" y="5531"/>
              <a:ext cx="11160" cy="1283"/>
            </a:xfrm>
            <a:prstGeom prst="roundRect">
              <a:avLst>
                <a:gd name="adj" fmla="val 112281"/>
              </a:avLst>
            </a:prstGeom>
            <a:solidFill>
              <a:srgbClr val="10B981">
                <a:alpha val="6000"/>
              </a:srgbClr>
            </a:solidFill>
          </p:spPr>
          <p:txBody>
            <a:bodyPr wrap="none" lIns="0" tIns="0" rIns="0" bIns="0" rtlCol="0" anchor="ctr">
              <a:normAutofit/>
            </a:bodyPr>
            <a:lstStyle/>
            <a:p>
              <a:pPr marL="0" indent="0">
                <a:buNone/>
              </a:pPr>
              <a:endParaRPr lang="en-US" dirty="0"/>
            </a:p>
          </p:txBody>
        </p:sp>
        <p:sp>
          <p:nvSpPr>
            <p:cNvPr id="17" name="Text 13"/>
            <p:cNvSpPr/>
            <p:nvPr>
              <p:custDataLst>
                <p:tags r:id="rId21"/>
              </p:custDataLst>
            </p:nvPr>
          </p:nvSpPr>
          <p:spPr>
            <a:xfrm>
              <a:off x="7194" y="1754"/>
              <a:ext cx="11160" cy="1104"/>
            </a:xfrm>
            <a:prstGeom prst="roundRect">
              <a:avLst>
                <a:gd name="adj" fmla="val 112281"/>
              </a:avLst>
            </a:prstGeom>
            <a:solidFill>
              <a:srgbClr val="2563EB">
                <a:alpha val="6000"/>
              </a:srgbClr>
            </a:solidFill>
          </p:spPr>
          <p:txBody>
            <a:bodyPr wrap="none" lIns="0" tIns="0" rIns="0" bIns="0" rtlCol="0" anchor="ctr">
              <a:normAutofit/>
            </a:bodyPr>
            <a:lstStyle/>
            <a:p>
              <a:pPr marL="0" indent="0">
                <a:buNone/>
              </a:pPr>
              <a:endParaRPr lang="en-US" sz="1400" dirty="0">
                <a:latin typeface="Georgia Pro Cond Light" panose="02040306050405020303" charset="0"/>
                <a:cs typeface="Georgia Pro Cond Light" panose="02040306050405020303" charset="0"/>
              </a:endParaRPr>
            </a:p>
          </p:txBody>
        </p:sp>
        <p:sp>
          <p:nvSpPr>
            <p:cNvPr id="18" name="Text 14"/>
            <p:cNvSpPr/>
            <p:nvPr>
              <p:custDataLst>
                <p:tags r:id="rId22"/>
              </p:custDataLst>
            </p:nvPr>
          </p:nvSpPr>
          <p:spPr>
            <a:xfrm>
              <a:off x="7194" y="3012"/>
              <a:ext cx="11160" cy="1104"/>
            </a:xfrm>
            <a:prstGeom prst="roundRect">
              <a:avLst>
                <a:gd name="adj" fmla="val 112281"/>
              </a:avLst>
            </a:prstGeom>
            <a:solidFill>
              <a:srgbClr val="7C3AED">
                <a:alpha val="6000"/>
              </a:srgbClr>
            </a:solidFill>
          </p:spPr>
          <p:txBody>
            <a:bodyPr wrap="none" lIns="0" tIns="0" rIns="0" bIns="0" rtlCol="0" anchor="ctr">
              <a:normAutofit/>
            </a:bodyPr>
            <a:lstStyle/>
            <a:p>
              <a:pPr marL="0" indent="0">
                <a:buNone/>
              </a:pPr>
              <a:endParaRPr lang="en-US" sz="1400" dirty="0">
                <a:latin typeface="Georgia Pro Cond Light" panose="02040306050405020303" charset="0"/>
                <a:cs typeface="Georgia Pro Cond Light" panose="02040306050405020303" charset="0"/>
              </a:endParaRPr>
            </a:p>
          </p:txBody>
        </p:sp>
        <p:sp>
          <p:nvSpPr>
            <p:cNvPr id="19" name="Text 15"/>
            <p:cNvSpPr/>
            <p:nvPr>
              <p:custDataLst>
                <p:tags r:id="rId23"/>
              </p:custDataLst>
            </p:nvPr>
          </p:nvSpPr>
          <p:spPr>
            <a:xfrm>
              <a:off x="7194" y="4272"/>
              <a:ext cx="11160" cy="1104"/>
            </a:xfrm>
            <a:prstGeom prst="roundRect">
              <a:avLst>
                <a:gd name="adj" fmla="val 112281"/>
              </a:avLst>
            </a:prstGeom>
            <a:solidFill>
              <a:srgbClr val="0891B2">
                <a:alpha val="6000"/>
              </a:srgbClr>
            </a:solidFill>
          </p:spPr>
          <p:txBody>
            <a:bodyPr wrap="none" lIns="0" tIns="0" rIns="0" bIns="0" rtlCol="0" anchor="ctr">
              <a:normAutofit/>
            </a:bodyPr>
            <a:lstStyle/>
            <a:p>
              <a:pPr marL="0" indent="0">
                <a:buNone/>
              </a:pPr>
              <a:endParaRPr lang="en-US" sz="1400" dirty="0">
                <a:latin typeface="Georgia Pro Cond Light" panose="02040306050405020303" charset="0"/>
                <a:cs typeface="Georgia Pro Cond Light" panose="02040306050405020303" charset="0"/>
              </a:endParaRPr>
            </a:p>
          </p:txBody>
        </p:sp>
        <p:sp>
          <p:nvSpPr>
            <p:cNvPr id="42" name="Text 40"/>
            <p:cNvSpPr/>
            <p:nvPr>
              <p:custDataLst>
                <p:tags r:id="rId24"/>
              </p:custDataLst>
            </p:nvPr>
          </p:nvSpPr>
          <p:spPr>
            <a:xfrm>
              <a:off x="7589" y="1909"/>
              <a:ext cx="10578" cy="211"/>
            </a:xfrm>
            <a:prstGeom prst="rect">
              <a:avLst/>
            </a:prstGeom>
            <a:noFill/>
          </p:spPr>
          <p:txBody>
            <a:bodyPr wrap="square" lIns="0" tIns="0" rIns="0" bIns="0" rtlCol="0" anchor="t"/>
            <a:lstStyle/>
            <a:p>
              <a:pPr marL="0" indent="0">
                <a:lnSpc>
                  <a:spcPts val="1225"/>
                </a:lnSpc>
                <a:buNone/>
              </a:pPr>
              <a:r>
                <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rPr>
                <a:t>UNIQUE CUSTOMERS</a:t>
              </a:r>
              <a:endPar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endParaRPr>
            </a:p>
          </p:txBody>
        </p:sp>
        <p:sp>
          <p:nvSpPr>
            <p:cNvPr id="43" name="Text 41"/>
            <p:cNvSpPr/>
            <p:nvPr>
              <p:custDataLst>
                <p:tags r:id="rId25"/>
              </p:custDataLst>
            </p:nvPr>
          </p:nvSpPr>
          <p:spPr>
            <a:xfrm>
              <a:off x="7589" y="2146"/>
              <a:ext cx="10578" cy="558"/>
            </a:xfrm>
            <a:prstGeom prst="rect">
              <a:avLst/>
            </a:prstGeom>
            <a:noFill/>
          </p:spPr>
          <p:txBody>
            <a:bodyPr wrap="square" lIns="0" tIns="0" rIns="0" bIns="0" rtlCol="0" anchor="t"/>
            <a:lstStyle/>
            <a:p>
              <a:pPr marL="0" indent="0">
                <a:lnSpc>
                  <a:spcPts val="3240"/>
                </a:lnSpc>
                <a:buNone/>
              </a:pPr>
              <a:r>
                <a:rPr lang="en-US" sz="1400" dirty="0">
                  <a:solidFill>
                    <a:srgbClr val="2563EB"/>
                  </a:solidFill>
                  <a:latin typeface="Georgia Pro Cond" panose="02040506050405020303" charset="0"/>
                  <a:ea typeface="SimSun" panose="02010600030101010101" pitchFamily="2" charset="-122"/>
                  <a:cs typeface="Georgia Pro Cond" panose="02040506050405020303" charset="0"/>
                </a:rPr>
                <a:t>4372</a:t>
              </a:r>
              <a:endParaRPr lang="en-US" sz="1400" dirty="0">
                <a:solidFill>
                  <a:srgbClr val="2563EB"/>
                </a:solidFill>
                <a:latin typeface="Georgia Pro Cond" panose="02040506050405020303" charset="0"/>
                <a:ea typeface="SimSun" panose="02010600030101010101" pitchFamily="2" charset="-122"/>
                <a:cs typeface="Georgia Pro Cond" panose="02040506050405020303" charset="0"/>
              </a:endParaRPr>
            </a:p>
          </p:txBody>
        </p:sp>
        <p:sp>
          <p:nvSpPr>
            <p:cNvPr id="44" name="Text 42"/>
            <p:cNvSpPr/>
            <p:nvPr>
              <p:custDataLst>
                <p:tags r:id="rId26"/>
              </p:custDataLst>
            </p:nvPr>
          </p:nvSpPr>
          <p:spPr>
            <a:xfrm>
              <a:off x="7589" y="3167"/>
              <a:ext cx="10578" cy="211"/>
            </a:xfrm>
            <a:prstGeom prst="rect">
              <a:avLst/>
            </a:prstGeom>
            <a:noFill/>
          </p:spPr>
          <p:txBody>
            <a:bodyPr wrap="square" lIns="0" tIns="0" rIns="0" bIns="0" rtlCol="0" anchor="t"/>
            <a:lstStyle/>
            <a:p>
              <a:pPr marL="0" indent="0">
                <a:lnSpc>
                  <a:spcPts val="1225"/>
                </a:lnSpc>
                <a:buNone/>
              </a:pPr>
              <a:r>
                <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rPr>
                <a:t>TOTAL TRANSACTIONS</a:t>
              </a:r>
              <a:endPar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endParaRPr>
            </a:p>
          </p:txBody>
        </p:sp>
        <p:sp>
          <p:nvSpPr>
            <p:cNvPr id="45" name="Text 43"/>
            <p:cNvSpPr/>
            <p:nvPr>
              <p:custDataLst>
                <p:tags r:id="rId27"/>
              </p:custDataLst>
            </p:nvPr>
          </p:nvSpPr>
          <p:spPr>
            <a:xfrm>
              <a:off x="7589" y="3404"/>
              <a:ext cx="10578" cy="558"/>
            </a:xfrm>
            <a:prstGeom prst="rect">
              <a:avLst/>
            </a:prstGeom>
            <a:noFill/>
          </p:spPr>
          <p:txBody>
            <a:bodyPr wrap="square" lIns="0" tIns="0" rIns="0" bIns="0" rtlCol="0" anchor="t"/>
            <a:lstStyle/>
            <a:p>
              <a:pPr marL="0" indent="0">
                <a:lnSpc>
                  <a:spcPts val="3240"/>
                </a:lnSpc>
                <a:buNone/>
              </a:pPr>
              <a:r>
                <a:rPr lang="en-US" altLang="en-GB" sz="1400" dirty="0">
                  <a:solidFill>
                    <a:srgbClr val="7C3AED"/>
                  </a:solidFill>
                  <a:latin typeface="Georgia Pro Cond" panose="02040506050405020303" charset="0"/>
                  <a:ea typeface="SimSun" panose="02010600030101010101" pitchFamily="2" charset="-122"/>
                  <a:cs typeface="Georgia Pro Cond" panose="02040506050405020303" charset="0"/>
                </a:rPr>
                <a:t>541909</a:t>
              </a:r>
              <a:endParaRPr lang="en-US" altLang="en-GB" sz="1400" dirty="0">
                <a:solidFill>
                  <a:srgbClr val="7C3AED"/>
                </a:solidFill>
                <a:latin typeface="Georgia Pro Cond" panose="02040506050405020303" charset="0"/>
                <a:ea typeface="SimSun" panose="02010600030101010101" pitchFamily="2" charset="-122"/>
                <a:cs typeface="Georgia Pro Cond" panose="02040506050405020303" charset="0"/>
              </a:endParaRPr>
            </a:p>
          </p:txBody>
        </p:sp>
        <p:sp>
          <p:nvSpPr>
            <p:cNvPr id="46" name="Text 44"/>
            <p:cNvSpPr/>
            <p:nvPr>
              <p:custDataLst>
                <p:tags r:id="rId28"/>
              </p:custDataLst>
            </p:nvPr>
          </p:nvSpPr>
          <p:spPr>
            <a:xfrm>
              <a:off x="7589" y="4427"/>
              <a:ext cx="10578" cy="211"/>
            </a:xfrm>
            <a:prstGeom prst="rect">
              <a:avLst/>
            </a:prstGeom>
            <a:noFill/>
          </p:spPr>
          <p:txBody>
            <a:bodyPr wrap="square" lIns="0" tIns="0" rIns="0" bIns="0" rtlCol="0" anchor="t"/>
            <a:lstStyle/>
            <a:p>
              <a:pPr marL="0" indent="0">
                <a:lnSpc>
                  <a:spcPts val="1225"/>
                </a:lnSpc>
                <a:buNone/>
              </a:pPr>
              <a:r>
                <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rPr>
                <a:t>COUNTRIES</a:t>
              </a:r>
              <a:endPar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endParaRPr>
            </a:p>
          </p:txBody>
        </p:sp>
        <p:sp>
          <p:nvSpPr>
            <p:cNvPr id="47" name="Text 45"/>
            <p:cNvSpPr/>
            <p:nvPr>
              <p:custDataLst>
                <p:tags r:id="rId29"/>
              </p:custDataLst>
            </p:nvPr>
          </p:nvSpPr>
          <p:spPr>
            <a:xfrm>
              <a:off x="7589" y="4664"/>
              <a:ext cx="10578" cy="558"/>
            </a:xfrm>
            <a:prstGeom prst="rect">
              <a:avLst/>
            </a:prstGeom>
            <a:noFill/>
          </p:spPr>
          <p:txBody>
            <a:bodyPr wrap="square" lIns="0" tIns="0" rIns="0" bIns="0" rtlCol="0" anchor="t"/>
            <a:lstStyle/>
            <a:p>
              <a:pPr marL="0" indent="0">
                <a:lnSpc>
                  <a:spcPts val="3240"/>
                </a:lnSpc>
                <a:buNone/>
              </a:pPr>
              <a:r>
                <a:rPr lang="en-US" sz="1400" dirty="0">
                  <a:solidFill>
                    <a:srgbClr val="0891B2"/>
                  </a:solidFill>
                  <a:latin typeface="Georgia Pro Cond" panose="02040506050405020303" charset="0"/>
                  <a:ea typeface="SimSun" panose="02010600030101010101" pitchFamily="2" charset="-122"/>
                  <a:cs typeface="Georgia Pro Cond" panose="02040506050405020303" charset="0"/>
                </a:rPr>
                <a:t>37</a:t>
              </a:r>
              <a:endParaRPr lang="en-US" sz="1400" dirty="0">
                <a:solidFill>
                  <a:srgbClr val="0891B2"/>
                </a:solidFill>
                <a:latin typeface="Georgia Pro Cond" panose="02040506050405020303" charset="0"/>
                <a:ea typeface="SimSun" panose="02010600030101010101" pitchFamily="2" charset="-122"/>
                <a:cs typeface="Georgia Pro Cond" panose="02040506050405020303" charset="0"/>
              </a:endParaRPr>
            </a:p>
          </p:txBody>
        </p:sp>
        <p:sp>
          <p:nvSpPr>
            <p:cNvPr id="48" name="Text 46"/>
            <p:cNvSpPr/>
            <p:nvPr>
              <p:custDataLst>
                <p:tags r:id="rId30"/>
              </p:custDataLst>
            </p:nvPr>
          </p:nvSpPr>
          <p:spPr>
            <a:xfrm>
              <a:off x="7589" y="5770"/>
              <a:ext cx="10578" cy="211"/>
            </a:xfrm>
            <a:prstGeom prst="rect">
              <a:avLst/>
            </a:prstGeom>
            <a:noFill/>
          </p:spPr>
          <p:txBody>
            <a:bodyPr wrap="square" lIns="0" tIns="0" rIns="0" bIns="0" rtlCol="0" anchor="t"/>
            <a:lstStyle/>
            <a:p>
              <a:pPr marL="0" indent="0">
                <a:lnSpc>
                  <a:spcPts val="1225"/>
                </a:lnSpc>
                <a:buNone/>
              </a:pPr>
              <a:r>
                <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rPr>
                <a:t>AVG ORDER VALUE</a:t>
              </a:r>
              <a:endPar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endParaRPr>
            </a:p>
          </p:txBody>
        </p:sp>
        <p:sp>
          <p:nvSpPr>
            <p:cNvPr id="49" name="Text 47"/>
            <p:cNvSpPr/>
            <p:nvPr>
              <p:custDataLst>
                <p:tags r:id="rId31"/>
              </p:custDataLst>
            </p:nvPr>
          </p:nvSpPr>
          <p:spPr>
            <a:xfrm>
              <a:off x="7589" y="5922"/>
              <a:ext cx="10578" cy="558"/>
            </a:xfrm>
            <a:prstGeom prst="rect">
              <a:avLst/>
            </a:prstGeom>
            <a:noFill/>
          </p:spPr>
          <p:txBody>
            <a:bodyPr wrap="square" lIns="0" tIns="0" rIns="0" bIns="0" rtlCol="0" anchor="t"/>
            <a:lstStyle/>
            <a:p>
              <a:pPr marL="0" indent="0">
                <a:lnSpc>
                  <a:spcPts val="3240"/>
                </a:lnSpc>
                <a:buNone/>
              </a:pPr>
              <a:r>
                <a:rPr lang="en-US" sz="1400" dirty="0">
                  <a:solidFill>
                    <a:srgbClr val="059669"/>
                  </a:solidFill>
                  <a:latin typeface="Georgia Pro Cond" panose="02040506050405020303" charset="0"/>
                  <a:ea typeface="SimSun" panose="02010600030101010101" pitchFamily="2" charset="-122"/>
                  <a:cs typeface="Georgia Pro Cond" panose="02040506050405020303" charset="0"/>
                </a:rPr>
                <a:t>£441.8</a:t>
              </a:r>
              <a:endParaRPr lang="en-US" sz="1400" dirty="0">
                <a:solidFill>
                  <a:srgbClr val="059669"/>
                </a:solidFill>
                <a:latin typeface="Georgia Pro Cond" panose="02040506050405020303" charset="0"/>
                <a:ea typeface="SimSun" panose="02010600030101010101" pitchFamily="2" charset="-122"/>
                <a:cs typeface="Georgia Pro Cond" panose="02040506050405020303" charset="0"/>
              </a:endParaRPr>
            </a:p>
          </p:txBody>
        </p:sp>
      </p:grpSp>
      <p:sp>
        <p:nvSpPr>
          <p:cNvPr id="20" name="Text Box 19"/>
          <p:cNvSpPr txBox="1"/>
          <p:nvPr/>
        </p:nvSpPr>
        <p:spPr>
          <a:xfrm>
            <a:off x="4402455" y="335280"/>
            <a:ext cx="4064000" cy="368300"/>
          </a:xfrm>
          <a:prstGeom prst="rect">
            <a:avLst/>
          </a:prstGeom>
          <a:noFill/>
        </p:spPr>
        <p:txBody>
          <a:bodyPr wrap="square" rtlCol="0">
            <a:spAutoFit/>
          </a:bodyPr>
          <a:p>
            <a:r>
              <a:rPr lang="en-US" altLang="en-GB" b="1">
                <a:solidFill>
                  <a:srgbClr val="C00000"/>
                </a:solidFill>
                <a:latin typeface="Georgia Pro Cond" panose="02040506050405020303" charset="0"/>
                <a:cs typeface="Georgia Pro Cond" panose="02040506050405020303" charset="0"/>
              </a:rPr>
              <a:t>EDA Highlights</a:t>
            </a:r>
            <a:endParaRPr lang="en-US" altLang="en-GB" b="1">
              <a:solidFill>
                <a:srgbClr val="C00000"/>
              </a:solidFill>
              <a:latin typeface="Georgia Pro Cond" panose="02040506050405020303" charset="0"/>
              <a:cs typeface="Georgia Pro Cond" panose="02040506050405020303" charset="0"/>
            </a:endParaRPr>
          </a:p>
        </p:txBody>
      </p:sp>
      <p:sp>
        <p:nvSpPr>
          <p:cNvPr id="37" name="Text 9"/>
          <p:cNvSpPr/>
          <p:nvPr/>
        </p:nvSpPr>
        <p:spPr>
          <a:xfrm>
            <a:off x="4402455" y="5424170"/>
            <a:ext cx="1424305" cy="209550"/>
          </a:xfrm>
          <a:prstGeom prst="roundRect">
            <a:avLst>
              <a:gd name="adj" fmla="val 174545"/>
            </a:avLst>
          </a:prstGeom>
          <a:solidFill>
            <a:srgbClr val="2563EB">
              <a:alpha val="8000"/>
            </a:srgbClr>
          </a:solidFill>
          <a:ln w="6350">
            <a:solidFill>
              <a:schemeClr val="tx1"/>
            </a:solidFill>
          </a:ln>
        </p:spPr>
        <p:txBody>
          <a:bodyPr wrap="none" lIns="0" tIns="0" rIns="0" bIns="0" rtlCol="0" anchor="ctr">
            <a:noAutofit/>
          </a:bodyPr>
          <a:lstStyle/>
          <a:p>
            <a:pPr marL="0" indent="0">
              <a:buNone/>
            </a:pPr>
            <a:endParaRPr lang="en-US" sz="1500" dirty="0">
              <a:latin typeface="Georgia Pro Cond Light" panose="02040306050405020303" charset="0"/>
              <a:cs typeface="Georgia Pro Cond Light" panose="02040306050405020303" charset="0"/>
            </a:endParaRPr>
          </a:p>
        </p:txBody>
      </p:sp>
      <p:sp>
        <p:nvSpPr>
          <p:cNvPr id="40" name="Text 32"/>
          <p:cNvSpPr/>
          <p:nvPr/>
        </p:nvSpPr>
        <p:spPr>
          <a:xfrm>
            <a:off x="4564380" y="4606925"/>
            <a:ext cx="4067810" cy="160020"/>
          </a:xfrm>
          <a:prstGeom prst="rect">
            <a:avLst/>
          </a:prstGeom>
          <a:noFill/>
        </p:spPr>
        <p:txBody>
          <a:bodyPr wrap="square" lIns="0" tIns="0" rIns="0" bIns="0" rtlCol="0" anchor="t"/>
          <a:lstStyle/>
          <a:p>
            <a:pPr marL="0" indent="0">
              <a:lnSpc>
                <a:spcPts val="1260"/>
              </a:lnSpc>
              <a:buNone/>
            </a:pPr>
            <a:r>
              <a:rPr lang="en-US" b="1" dirty="0">
                <a:solidFill>
                  <a:srgbClr val="DC2626"/>
                </a:solidFill>
                <a:latin typeface="Georgia Pro Cond" panose="02040506050405020303" charset="0"/>
                <a:ea typeface="SimSun" panose="02010600030101010101" pitchFamily="2" charset="-122"/>
                <a:cs typeface="Georgia Pro Cond" panose="02040506050405020303" charset="0"/>
              </a:rPr>
              <a:t>Data Quality Issues</a:t>
            </a:r>
            <a:endParaRPr lang="en-US" b="1" dirty="0">
              <a:solidFill>
                <a:srgbClr val="DC2626"/>
              </a:solidFill>
              <a:latin typeface="Georgia Pro Cond" panose="02040506050405020303" charset="0"/>
              <a:ea typeface="SimSun" panose="02010600030101010101" pitchFamily="2" charset="-122"/>
              <a:cs typeface="Georgia Pro Cond" panose="02040506050405020303" charset="0"/>
            </a:endParaRPr>
          </a:p>
        </p:txBody>
      </p:sp>
      <p:sp>
        <p:nvSpPr>
          <p:cNvPr id="53" name="Text 33"/>
          <p:cNvSpPr/>
          <p:nvPr/>
        </p:nvSpPr>
        <p:spPr>
          <a:xfrm>
            <a:off x="4401820" y="4926965"/>
            <a:ext cx="1390015" cy="421640"/>
          </a:xfrm>
          <a:prstGeom prst="rect">
            <a:avLst/>
          </a:prstGeom>
          <a:noFill/>
        </p:spPr>
        <p:txBody>
          <a:bodyPr wrap="square" lIns="0" tIns="0" rIns="0" bIns="0" rtlCol="0" anchor="t"/>
          <a:lstStyle/>
          <a:p>
            <a:pPr marL="0" indent="0" algn="ctr">
              <a:lnSpc>
                <a:spcPct val="100000"/>
              </a:lnSpc>
              <a:buNone/>
            </a:pPr>
            <a:r>
              <a:rPr lang="en-US" sz="1400" dirty="0">
                <a:solidFill>
                  <a:srgbClr val="334155"/>
                </a:solidFill>
                <a:latin typeface="Georgia Pro Cond Light" panose="02040306050405020303" charset="0"/>
                <a:ea typeface="SimSun" panose="02010600030101010101" pitchFamily="2" charset="-122"/>
                <a:cs typeface="Georgia Pro Cond Light" panose="02040306050405020303" charset="0"/>
              </a:rPr>
              <a:t>Missing CustomerID</a:t>
            </a:r>
            <a:endParaRPr lang="en-US" sz="1400" dirty="0">
              <a:solidFill>
                <a:srgbClr val="334155"/>
              </a:solidFill>
              <a:latin typeface="Georgia Pro Cond Light" panose="02040306050405020303" charset="0"/>
              <a:ea typeface="SimSun" panose="02010600030101010101" pitchFamily="2" charset="-122"/>
              <a:cs typeface="Georgia Pro Cond Light" panose="02040306050405020303" charset="0"/>
            </a:endParaRPr>
          </a:p>
        </p:txBody>
      </p:sp>
      <p:sp>
        <p:nvSpPr>
          <p:cNvPr id="54" name="Text 34"/>
          <p:cNvSpPr/>
          <p:nvPr/>
        </p:nvSpPr>
        <p:spPr>
          <a:xfrm>
            <a:off x="5269865" y="5425440"/>
            <a:ext cx="521970" cy="208280"/>
          </a:xfrm>
          <a:prstGeom prst="rect">
            <a:avLst/>
          </a:prstGeom>
          <a:noFill/>
        </p:spPr>
        <p:txBody>
          <a:bodyPr wrap="square" lIns="0" tIns="0" rIns="0" bIns="0" rtlCol="0" anchor="t"/>
          <a:lstStyle/>
          <a:p>
            <a:pPr marL="0" indent="0" algn="r">
              <a:lnSpc>
                <a:spcPts val="1440"/>
              </a:lnSpc>
              <a:buNone/>
            </a:pPr>
            <a:r>
              <a:rPr lang="en-US" sz="1200" dirty="0">
                <a:solidFill>
                  <a:srgbClr val="DC2626"/>
                </a:solidFill>
                <a:latin typeface="Georgia Pro Cond" panose="02040506050405020303" charset="0"/>
                <a:ea typeface="SimSun" panose="02010600030101010101" pitchFamily="2" charset="-122"/>
                <a:cs typeface="Georgia Pro Cond" panose="02040506050405020303" charset="0"/>
              </a:rPr>
              <a:t>24.9%</a:t>
            </a:r>
            <a:endParaRPr lang="en-US" sz="1200" dirty="0">
              <a:solidFill>
                <a:srgbClr val="DC2626"/>
              </a:solidFill>
              <a:latin typeface="Georgia Pro Cond" panose="02040506050405020303" charset="0"/>
              <a:ea typeface="SimSun" panose="02010600030101010101" pitchFamily="2" charset="-122"/>
              <a:cs typeface="Georgia Pro Cond" panose="02040506050405020303" charset="0"/>
            </a:endParaRPr>
          </a:p>
        </p:txBody>
      </p:sp>
      <p:sp>
        <p:nvSpPr>
          <p:cNvPr id="59" name="Text 9"/>
          <p:cNvSpPr/>
          <p:nvPr/>
        </p:nvSpPr>
        <p:spPr>
          <a:xfrm>
            <a:off x="4401820" y="5425440"/>
            <a:ext cx="474980" cy="209550"/>
          </a:xfrm>
          <a:prstGeom prst="roundRect">
            <a:avLst>
              <a:gd name="adj" fmla="val 174545"/>
            </a:avLst>
          </a:prstGeom>
          <a:solidFill>
            <a:srgbClr val="C00000"/>
          </a:solidFill>
        </p:spPr>
        <p:txBody>
          <a:bodyPr wrap="none" lIns="0" tIns="0" rIns="0" bIns="0" rtlCol="0" anchor="ctr">
            <a:noAutofit/>
          </a:bodyPr>
          <a:lstStyle/>
          <a:p>
            <a:pPr marL="0" indent="0">
              <a:buNone/>
            </a:pPr>
            <a:endParaRPr lang="en-US" sz="1500" dirty="0">
              <a:latin typeface="Georgia Pro Cond Light" panose="02040306050405020303" charset="0"/>
              <a:cs typeface="Georgia Pro Cond Light" panose="02040306050405020303" charset="0"/>
            </a:endParaRPr>
          </a:p>
        </p:txBody>
      </p:sp>
      <p:grpSp>
        <p:nvGrpSpPr>
          <p:cNvPr id="62" name="Group 61"/>
          <p:cNvGrpSpPr/>
          <p:nvPr/>
        </p:nvGrpSpPr>
        <p:grpSpPr>
          <a:xfrm>
            <a:off x="6308090" y="4927600"/>
            <a:ext cx="1334135" cy="709295"/>
            <a:chOff x="10138" y="7755"/>
            <a:chExt cx="2101" cy="1117"/>
          </a:xfrm>
        </p:grpSpPr>
        <p:sp>
          <p:nvSpPr>
            <p:cNvPr id="38" name="Text 10"/>
            <p:cNvSpPr/>
            <p:nvPr/>
          </p:nvSpPr>
          <p:spPr>
            <a:xfrm>
              <a:off x="10139" y="8542"/>
              <a:ext cx="2099" cy="330"/>
            </a:xfrm>
            <a:prstGeom prst="roundRect">
              <a:avLst>
                <a:gd name="adj" fmla="val 174545"/>
              </a:avLst>
            </a:prstGeom>
            <a:solidFill>
              <a:srgbClr val="2563EB">
                <a:alpha val="8000"/>
              </a:srgbClr>
            </a:solidFill>
            <a:ln w="6350">
              <a:solidFill>
                <a:schemeClr val="tx1"/>
              </a:solidFill>
            </a:ln>
          </p:spPr>
          <p:txBody>
            <a:bodyPr wrap="none" lIns="0" tIns="0" rIns="0" bIns="0" rtlCol="0" anchor="ctr">
              <a:noAutofit/>
            </a:bodyPr>
            <a:lstStyle/>
            <a:p>
              <a:pPr marL="0" indent="0">
                <a:buNone/>
              </a:pPr>
              <a:endParaRPr lang="en-US" sz="1600" dirty="0">
                <a:latin typeface="Georgia Pro Cond Light" panose="02040306050405020303" charset="0"/>
                <a:cs typeface="Georgia Pro Cond Light" panose="02040306050405020303" charset="0"/>
              </a:endParaRPr>
            </a:p>
          </p:txBody>
        </p:sp>
        <p:sp>
          <p:nvSpPr>
            <p:cNvPr id="55" name="Text 35"/>
            <p:cNvSpPr/>
            <p:nvPr/>
          </p:nvSpPr>
          <p:spPr>
            <a:xfrm>
              <a:off x="10138" y="7755"/>
              <a:ext cx="2100" cy="663"/>
            </a:xfrm>
            <a:prstGeom prst="rect">
              <a:avLst/>
            </a:prstGeom>
            <a:noFill/>
          </p:spPr>
          <p:txBody>
            <a:bodyPr wrap="square" lIns="0" tIns="0" rIns="0" bIns="0" rtlCol="0" anchor="t"/>
            <a:lstStyle/>
            <a:p>
              <a:pPr marL="0" indent="0" algn="ctr">
                <a:lnSpc>
                  <a:spcPct val="100000"/>
                </a:lnSpc>
                <a:buNone/>
              </a:pPr>
              <a:r>
                <a:rPr lang="en-US" sz="1400" dirty="0">
                  <a:solidFill>
                    <a:srgbClr val="334155"/>
                  </a:solidFill>
                  <a:latin typeface="Georgia Pro Cond Light" panose="02040306050405020303" charset="0"/>
                  <a:ea typeface="SimSun" panose="02010600030101010101" pitchFamily="2" charset="-122"/>
                  <a:cs typeface="Georgia Pro Cond Light" panose="02040306050405020303" charset="0"/>
                </a:rPr>
                <a:t>Missing Description</a:t>
              </a:r>
              <a:endParaRPr lang="en-US" sz="1400" dirty="0">
                <a:solidFill>
                  <a:srgbClr val="334155"/>
                </a:solidFill>
                <a:latin typeface="Georgia Pro Cond Light" panose="02040306050405020303" charset="0"/>
                <a:ea typeface="SimSun" panose="02010600030101010101" pitchFamily="2" charset="-122"/>
                <a:cs typeface="Georgia Pro Cond Light" panose="02040306050405020303" charset="0"/>
              </a:endParaRPr>
            </a:p>
          </p:txBody>
        </p:sp>
        <p:sp>
          <p:nvSpPr>
            <p:cNvPr id="56" name="Text 36"/>
            <p:cNvSpPr/>
            <p:nvPr/>
          </p:nvSpPr>
          <p:spPr>
            <a:xfrm>
              <a:off x="11505" y="8543"/>
              <a:ext cx="734" cy="328"/>
            </a:xfrm>
            <a:prstGeom prst="rect">
              <a:avLst/>
            </a:prstGeom>
            <a:noFill/>
          </p:spPr>
          <p:txBody>
            <a:bodyPr wrap="square" lIns="0" tIns="0" rIns="0" bIns="0" rtlCol="0" anchor="t"/>
            <a:lstStyle/>
            <a:p>
              <a:pPr marL="0" indent="0" algn="r">
                <a:lnSpc>
                  <a:spcPts val="1440"/>
                </a:lnSpc>
                <a:buNone/>
              </a:pPr>
              <a:r>
                <a:rPr lang="en-US" sz="1200" dirty="0">
                  <a:solidFill>
                    <a:srgbClr val="F97316"/>
                  </a:solidFill>
                  <a:latin typeface="Georgia Pro Cond" panose="02040506050405020303" charset="0"/>
                  <a:ea typeface="SimSun" panose="02010600030101010101" pitchFamily="2" charset="-122"/>
                  <a:cs typeface="Georgia Pro Cond" panose="02040506050405020303" charset="0"/>
                </a:rPr>
                <a:t>0.3%</a:t>
              </a:r>
              <a:endParaRPr lang="en-US" sz="1200" dirty="0">
                <a:solidFill>
                  <a:srgbClr val="F97316"/>
                </a:solidFill>
                <a:latin typeface="Georgia Pro Cond" panose="02040506050405020303" charset="0"/>
                <a:ea typeface="SimSun" panose="02010600030101010101" pitchFamily="2" charset="-122"/>
                <a:cs typeface="Georgia Pro Cond" panose="02040506050405020303" charset="0"/>
              </a:endParaRPr>
            </a:p>
          </p:txBody>
        </p:sp>
        <p:sp>
          <p:nvSpPr>
            <p:cNvPr id="60" name="Text 9"/>
            <p:cNvSpPr/>
            <p:nvPr/>
          </p:nvSpPr>
          <p:spPr>
            <a:xfrm>
              <a:off x="10140" y="8582"/>
              <a:ext cx="164" cy="254"/>
            </a:xfrm>
            <a:prstGeom prst="roundRect">
              <a:avLst>
                <a:gd name="adj" fmla="val 50000"/>
              </a:avLst>
            </a:prstGeom>
            <a:solidFill>
              <a:schemeClr val="accent2">
                <a:lumMod val="60000"/>
                <a:lumOff val="40000"/>
              </a:schemeClr>
            </a:solidFill>
          </p:spPr>
          <p:txBody>
            <a:bodyPr wrap="none" lIns="0" tIns="0" rIns="0" bIns="0" rtlCol="0" anchor="ctr">
              <a:noAutofit/>
            </a:bodyPr>
            <a:lstStyle/>
            <a:p>
              <a:pPr marL="0" indent="0">
                <a:buNone/>
              </a:pPr>
              <a:endParaRPr lang="en-US" sz="1500" dirty="0">
                <a:latin typeface="Georgia Pro Cond Light" panose="02040306050405020303" charset="0"/>
                <a:cs typeface="Georgia Pro Cond Light" panose="02040306050405020303" charset="0"/>
              </a:endParaRPr>
            </a:p>
          </p:txBody>
        </p:sp>
      </p:grpSp>
      <p:grpSp>
        <p:nvGrpSpPr>
          <p:cNvPr id="68" name="Group 67"/>
          <p:cNvGrpSpPr/>
          <p:nvPr/>
        </p:nvGrpSpPr>
        <p:grpSpPr>
          <a:xfrm>
            <a:off x="10131425" y="4927600"/>
            <a:ext cx="1229360" cy="709295"/>
            <a:chOff x="13323" y="7755"/>
            <a:chExt cx="1936" cy="1117"/>
          </a:xfrm>
        </p:grpSpPr>
        <p:sp>
          <p:nvSpPr>
            <p:cNvPr id="39" name="Text 11"/>
            <p:cNvSpPr/>
            <p:nvPr/>
          </p:nvSpPr>
          <p:spPr>
            <a:xfrm>
              <a:off x="13323" y="8542"/>
              <a:ext cx="1936" cy="330"/>
            </a:xfrm>
            <a:prstGeom prst="roundRect">
              <a:avLst>
                <a:gd name="adj" fmla="val 174545"/>
              </a:avLst>
            </a:prstGeom>
            <a:solidFill>
              <a:srgbClr val="2563EB">
                <a:alpha val="8000"/>
              </a:srgbClr>
            </a:solidFill>
            <a:ln w="6350">
              <a:solidFill>
                <a:schemeClr val="tx1"/>
              </a:solidFill>
            </a:ln>
          </p:spPr>
          <p:txBody>
            <a:bodyPr wrap="none" lIns="0" tIns="0" rIns="0" bIns="0" rtlCol="0" anchor="ctr">
              <a:noAutofit/>
            </a:bodyPr>
            <a:lstStyle/>
            <a:p>
              <a:pPr marL="0" indent="0">
                <a:buNone/>
              </a:pPr>
              <a:endParaRPr lang="en-US" sz="1600" dirty="0">
                <a:latin typeface="Georgia Pro Cond Light" panose="02040306050405020303" charset="0"/>
                <a:cs typeface="Georgia Pro Cond Light" panose="02040306050405020303" charset="0"/>
              </a:endParaRPr>
            </a:p>
          </p:txBody>
        </p:sp>
        <p:sp>
          <p:nvSpPr>
            <p:cNvPr id="57" name="Text 37"/>
            <p:cNvSpPr/>
            <p:nvPr/>
          </p:nvSpPr>
          <p:spPr>
            <a:xfrm>
              <a:off x="13323" y="7755"/>
              <a:ext cx="1936" cy="667"/>
            </a:xfrm>
            <a:prstGeom prst="rect">
              <a:avLst/>
            </a:prstGeom>
            <a:noFill/>
          </p:spPr>
          <p:txBody>
            <a:bodyPr wrap="square" lIns="0" tIns="0" rIns="0" bIns="0" rtlCol="0" anchor="t"/>
            <a:lstStyle/>
            <a:p>
              <a:pPr marL="0" indent="0" algn="ctr">
                <a:lnSpc>
                  <a:spcPct val="100000"/>
                </a:lnSpc>
                <a:buNone/>
              </a:pPr>
              <a:r>
                <a:rPr lang="en-US" sz="1400" dirty="0">
                  <a:solidFill>
                    <a:srgbClr val="334155"/>
                  </a:solidFill>
                  <a:latin typeface="Georgia Pro Cond Light" panose="02040306050405020303" charset="0"/>
                  <a:ea typeface="SimSun" panose="02010600030101010101" pitchFamily="2" charset="-122"/>
                  <a:cs typeface="Georgia Pro Cond Light" panose="02040306050405020303" charset="0"/>
                </a:rPr>
                <a:t>Negative Quantity</a:t>
              </a:r>
              <a:endParaRPr lang="en-US" sz="1400" dirty="0">
                <a:solidFill>
                  <a:srgbClr val="334155"/>
                </a:solidFill>
                <a:latin typeface="Georgia Pro Cond Light" panose="02040306050405020303" charset="0"/>
                <a:ea typeface="SimSun" panose="02010600030101010101" pitchFamily="2" charset="-122"/>
                <a:cs typeface="Georgia Pro Cond Light" panose="02040306050405020303" charset="0"/>
              </a:endParaRPr>
            </a:p>
          </p:txBody>
        </p:sp>
        <p:sp>
          <p:nvSpPr>
            <p:cNvPr id="58" name="Text 38"/>
            <p:cNvSpPr/>
            <p:nvPr/>
          </p:nvSpPr>
          <p:spPr>
            <a:xfrm>
              <a:off x="14464" y="8543"/>
              <a:ext cx="734" cy="328"/>
            </a:xfrm>
            <a:prstGeom prst="rect">
              <a:avLst/>
            </a:prstGeom>
            <a:noFill/>
          </p:spPr>
          <p:txBody>
            <a:bodyPr wrap="square" lIns="0" tIns="0" rIns="0" bIns="0" rtlCol="0" anchor="t"/>
            <a:lstStyle/>
            <a:p>
              <a:pPr marL="0" indent="0" algn="r">
                <a:lnSpc>
                  <a:spcPts val="1440"/>
                </a:lnSpc>
                <a:buNone/>
              </a:pPr>
              <a:r>
                <a:rPr lang="en-US" sz="1200" dirty="0">
                  <a:solidFill>
                    <a:srgbClr val="7C3AED"/>
                  </a:solidFill>
                  <a:latin typeface="Georgia Pro Cond" panose="02040506050405020303" charset="0"/>
                  <a:ea typeface="SimSun" panose="02010600030101010101" pitchFamily="2" charset="-122"/>
                  <a:cs typeface="Georgia Pro Cond" panose="02040506050405020303" charset="0"/>
                </a:rPr>
                <a:t>1.8%</a:t>
              </a:r>
              <a:endParaRPr lang="en-US" sz="1200" dirty="0">
                <a:solidFill>
                  <a:srgbClr val="7C3AED"/>
                </a:solidFill>
                <a:latin typeface="Georgia Pro Cond" panose="02040506050405020303" charset="0"/>
                <a:ea typeface="SimSun" panose="02010600030101010101" pitchFamily="2" charset="-122"/>
                <a:cs typeface="Georgia Pro Cond" panose="02040506050405020303" charset="0"/>
              </a:endParaRPr>
            </a:p>
          </p:txBody>
        </p:sp>
        <p:sp>
          <p:nvSpPr>
            <p:cNvPr id="61" name="Text 9"/>
            <p:cNvSpPr/>
            <p:nvPr/>
          </p:nvSpPr>
          <p:spPr>
            <a:xfrm>
              <a:off x="13323" y="8543"/>
              <a:ext cx="231" cy="328"/>
            </a:xfrm>
            <a:prstGeom prst="roundRect">
              <a:avLst>
                <a:gd name="adj" fmla="val 50000"/>
              </a:avLst>
            </a:prstGeom>
            <a:solidFill>
              <a:schemeClr val="accent1">
                <a:lumMod val="75000"/>
              </a:schemeClr>
            </a:solidFill>
          </p:spPr>
          <p:txBody>
            <a:bodyPr wrap="none" lIns="0" tIns="0" rIns="0" bIns="0" rtlCol="0" anchor="ctr">
              <a:noAutofit/>
            </a:bodyPr>
            <a:lstStyle/>
            <a:p>
              <a:pPr marL="0" indent="0">
                <a:buNone/>
              </a:pPr>
              <a:endParaRPr lang="en-US" sz="1500" dirty="0">
                <a:latin typeface="Georgia Pro Cond Light" panose="02040306050405020303" charset="0"/>
                <a:cs typeface="Georgia Pro Cond Light" panose="02040306050405020303" charset="0"/>
              </a:endParaRPr>
            </a:p>
          </p:txBody>
        </p:sp>
      </p:grpSp>
      <p:grpSp>
        <p:nvGrpSpPr>
          <p:cNvPr id="63" name="Group 62"/>
          <p:cNvGrpSpPr/>
          <p:nvPr/>
        </p:nvGrpSpPr>
        <p:grpSpPr>
          <a:xfrm>
            <a:off x="8223885" y="4926965"/>
            <a:ext cx="1334135" cy="709295"/>
            <a:chOff x="10138" y="7755"/>
            <a:chExt cx="2101" cy="1117"/>
          </a:xfrm>
        </p:grpSpPr>
        <p:sp>
          <p:nvSpPr>
            <p:cNvPr id="64" name="Text 10"/>
            <p:cNvSpPr/>
            <p:nvPr/>
          </p:nvSpPr>
          <p:spPr>
            <a:xfrm>
              <a:off x="10139" y="8542"/>
              <a:ext cx="2099" cy="330"/>
            </a:xfrm>
            <a:prstGeom prst="roundRect">
              <a:avLst>
                <a:gd name="adj" fmla="val 174545"/>
              </a:avLst>
            </a:prstGeom>
            <a:solidFill>
              <a:srgbClr val="2563EB">
                <a:alpha val="8000"/>
              </a:srgbClr>
            </a:solidFill>
            <a:ln w="6350">
              <a:solidFill>
                <a:schemeClr val="tx1"/>
              </a:solidFill>
            </a:ln>
          </p:spPr>
          <p:txBody>
            <a:bodyPr wrap="none" lIns="0" tIns="0" rIns="0" bIns="0" rtlCol="0" anchor="ctr">
              <a:noAutofit/>
            </a:bodyPr>
            <a:lstStyle/>
            <a:p>
              <a:pPr marL="0" indent="0">
                <a:buNone/>
              </a:pPr>
              <a:endParaRPr lang="en-US" sz="1600" dirty="0">
                <a:latin typeface="Georgia Pro Cond Light" panose="02040306050405020303" charset="0"/>
                <a:cs typeface="Georgia Pro Cond Light" panose="02040306050405020303" charset="0"/>
              </a:endParaRPr>
            </a:p>
          </p:txBody>
        </p:sp>
        <p:sp>
          <p:nvSpPr>
            <p:cNvPr id="65" name="Text 35"/>
            <p:cNvSpPr/>
            <p:nvPr/>
          </p:nvSpPr>
          <p:spPr>
            <a:xfrm>
              <a:off x="10138" y="7755"/>
              <a:ext cx="2100" cy="663"/>
            </a:xfrm>
            <a:prstGeom prst="rect">
              <a:avLst/>
            </a:prstGeom>
            <a:noFill/>
          </p:spPr>
          <p:txBody>
            <a:bodyPr wrap="square" lIns="0" tIns="0" rIns="0" bIns="0" rtlCol="0" anchor="ctr" anchorCtr="0"/>
            <a:lstStyle/>
            <a:p>
              <a:pPr marL="0" indent="0" algn="ctr">
                <a:lnSpc>
                  <a:spcPct val="100000"/>
                </a:lnSpc>
                <a:buNone/>
              </a:pPr>
              <a:r>
                <a:rPr lang="en-US" sz="1400" dirty="0">
                  <a:solidFill>
                    <a:srgbClr val="334155"/>
                  </a:solidFill>
                  <a:latin typeface="Georgia Pro Cond Light" panose="02040306050405020303" charset="0"/>
                  <a:ea typeface="SimSun" panose="02010600030101010101" pitchFamily="2" charset="-122"/>
                  <a:cs typeface="Georgia Pro Cond Light" panose="02040306050405020303" charset="0"/>
                </a:rPr>
                <a:t>Promotions</a:t>
              </a:r>
              <a:endParaRPr lang="en-US" sz="1400" dirty="0">
                <a:solidFill>
                  <a:srgbClr val="334155"/>
                </a:solidFill>
                <a:latin typeface="Georgia Pro Cond Light" panose="02040306050405020303" charset="0"/>
                <a:ea typeface="SimSun" panose="02010600030101010101" pitchFamily="2" charset="-122"/>
                <a:cs typeface="Georgia Pro Cond Light" panose="02040306050405020303" charset="0"/>
              </a:endParaRPr>
            </a:p>
            <a:p>
              <a:pPr marL="0" indent="0" algn="ctr">
                <a:lnSpc>
                  <a:spcPct val="100000"/>
                </a:lnSpc>
                <a:buNone/>
              </a:pPr>
              <a:r>
                <a:rPr lang="en-US" sz="1400" dirty="0">
                  <a:solidFill>
                    <a:srgbClr val="334155"/>
                  </a:solidFill>
                  <a:latin typeface="Georgia Pro Cond Light" panose="02040306050405020303" charset="0"/>
                  <a:ea typeface="SimSun" panose="02010600030101010101" pitchFamily="2" charset="-122"/>
                  <a:cs typeface="Georgia Pro Cond Light" panose="02040306050405020303" charset="0"/>
                </a:rPr>
                <a:t>(Free items)</a:t>
              </a:r>
              <a:endParaRPr lang="en-US" sz="1400" dirty="0">
                <a:solidFill>
                  <a:srgbClr val="334155"/>
                </a:solidFill>
                <a:latin typeface="Georgia Pro Cond Light" panose="02040306050405020303" charset="0"/>
                <a:ea typeface="SimSun" panose="02010600030101010101" pitchFamily="2" charset="-122"/>
                <a:cs typeface="Georgia Pro Cond Light" panose="02040306050405020303" charset="0"/>
              </a:endParaRPr>
            </a:p>
          </p:txBody>
        </p:sp>
        <p:sp>
          <p:nvSpPr>
            <p:cNvPr id="66" name="Text 36"/>
            <p:cNvSpPr/>
            <p:nvPr/>
          </p:nvSpPr>
          <p:spPr>
            <a:xfrm>
              <a:off x="11505" y="8543"/>
              <a:ext cx="734" cy="328"/>
            </a:xfrm>
            <a:prstGeom prst="rect">
              <a:avLst/>
            </a:prstGeom>
            <a:noFill/>
          </p:spPr>
          <p:txBody>
            <a:bodyPr wrap="square" lIns="0" tIns="0" rIns="0" bIns="0" rtlCol="0" anchor="t"/>
            <a:lstStyle/>
            <a:p>
              <a:pPr marL="0" indent="0" algn="r">
                <a:lnSpc>
                  <a:spcPts val="1440"/>
                </a:lnSpc>
                <a:buNone/>
              </a:pPr>
              <a:r>
                <a:rPr lang="en-US" sz="1200" dirty="0">
                  <a:solidFill>
                    <a:schemeClr val="accent6">
                      <a:lumMod val="75000"/>
                    </a:schemeClr>
                  </a:solidFill>
                  <a:latin typeface="Georgia Pro Cond" panose="02040506050405020303" charset="0"/>
                  <a:ea typeface="SimSun" panose="02010600030101010101" pitchFamily="2" charset="-122"/>
                  <a:cs typeface="Georgia Pro Cond" panose="02040506050405020303" charset="0"/>
                </a:rPr>
                <a:t>0.2%</a:t>
              </a:r>
              <a:endParaRPr lang="en-US" sz="1200" dirty="0">
                <a:solidFill>
                  <a:schemeClr val="accent6">
                    <a:lumMod val="75000"/>
                  </a:schemeClr>
                </a:solidFill>
                <a:latin typeface="Georgia Pro Cond" panose="02040506050405020303" charset="0"/>
                <a:ea typeface="SimSun" panose="02010600030101010101" pitchFamily="2" charset="-122"/>
                <a:cs typeface="Georgia Pro Cond" panose="02040506050405020303" charset="0"/>
              </a:endParaRPr>
            </a:p>
          </p:txBody>
        </p:sp>
        <p:sp>
          <p:nvSpPr>
            <p:cNvPr id="67" name="Text 9"/>
            <p:cNvSpPr/>
            <p:nvPr/>
          </p:nvSpPr>
          <p:spPr>
            <a:xfrm>
              <a:off x="10140" y="8582"/>
              <a:ext cx="120" cy="254"/>
            </a:xfrm>
            <a:prstGeom prst="roundRect">
              <a:avLst>
                <a:gd name="adj" fmla="val 50000"/>
              </a:avLst>
            </a:prstGeom>
            <a:solidFill>
              <a:schemeClr val="accent6">
                <a:lumMod val="75000"/>
              </a:schemeClr>
            </a:solidFill>
          </p:spPr>
          <p:txBody>
            <a:bodyPr wrap="none" lIns="0" tIns="0" rIns="0" bIns="0" rtlCol="0" anchor="ctr">
              <a:noAutofit/>
            </a:bodyPr>
            <a:lstStyle/>
            <a:p>
              <a:pPr marL="0" indent="0">
                <a:buNone/>
              </a:pPr>
              <a:endParaRPr lang="en-US" sz="1500" dirty="0">
                <a:latin typeface="Georgia Pro Cond Light" panose="02040306050405020303" charset="0"/>
                <a:cs typeface="Georgia Pro Cond Light" panose="02040306050405020303" charset="0"/>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50" name="Group 49"/>
          <p:cNvGrpSpPr/>
          <p:nvPr/>
        </p:nvGrpSpPr>
        <p:grpSpPr>
          <a:xfrm>
            <a:off x="664845" y="1684655"/>
            <a:ext cx="4378960" cy="3338195"/>
            <a:chOff x="11173" y="2638"/>
            <a:chExt cx="6225" cy="2376"/>
          </a:xfrm>
          <a:solidFill>
            <a:schemeClr val="accent4">
              <a:lumMod val="20000"/>
              <a:lumOff val="80000"/>
              <a:alpha val="76000"/>
            </a:schemeClr>
          </a:solidFill>
        </p:grpSpPr>
        <p:sp>
          <p:nvSpPr>
            <p:cNvPr id="51" name="Text 2"/>
            <p:cNvSpPr/>
            <p:nvPr/>
          </p:nvSpPr>
          <p:spPr>
            <a:xfrm>
              <a:off x="11173" y="2638"/>
              <a:ext cx="6225" cy="2376"/>
            </a:xfrm>
            <a:prstGeom prst="snip1Rect">
              <a:avLst/>
            </a:prstGeom>
            <a:grpFill/>
            <a:ln w="9525">
              <a:solidFill>
                <a:srgbClr val="000000"/>
              </a:solidFill>
            </a:ln>
            <a:effectLst>
              <a:outerShdw blurRad="190500" dist="38100" dir="5400000" algn="bl" rotWithShape="0">
                <a:srgbClr val="2563EB">
                  <a:alpha val="6000"/>
                </a:srgbClr>
              </a:outerShdw>
            </a:effectLst>
          </p:spPr>
          <p:txBody>
            <a:bodyPr wrap="none" lIns="0" tIns="0" rIns="0" bIns="0" rtlCol="0" anchor="ctr">
              <a:normAutofit/>
            </a:bodyPr>
            <a:lstStyle/>
            <a:p>
              <a:pPr marL="0" indent="0" algn="ctr">
                <a:buNone/>
              </a:pPr>
              <a:endParaRPr lang="en-US" sz="1600" dirty="0">
                <a:latin typeface="Georgia Pro Cond Light" panose="02040306050405020303" charset="0"/>
                <a:cs typeface="Georgia Pro Cond Light" panose="02040306050405020303" charset="0"/>
              </a:endParaRPr>
            </a:p>
            <a:p>
              <a:pPr marL="0" indent="0" algn="ctr">
                <a:buNone/>
              </a:pPr>
              <a:endParaRPr lang="en-US" sz="1600" dirty="0">
                <a:latin typeface="Georgia Pro Cond Light" panose="02040306050405020303" charset="0"/>
                <a:cs typeface="Georgia Pro Cond Light" panose="02040306050405020303" charset="0"/>
              </a:endParaRPr>
            </a:p>
            <a:p>
              <a:pPr marL="0" indent="0" algn="ctr">
                <a:buNone/>
              </a:pPr>
              <a:endParaRPr lang="en-US" sz="1600" dirty="0">
                <a:latin typeface="Georgia Pro Cond Light" panose="02040306050405020303" charset="0"/>
                <a:cs typeface="Georgia Pro Cond Light" panose="02040306050405020303" charset="0"/>
              </a:endParaRPr>
            </a:p>
          </p:txBody>
        </p:sp>
        <p:sp>
          <p:nvSpPr>
            <p:cNvPr id="52" name="Text Box 51"/>
            <p:cNvSpPr txBox="1"/>
            <p:nvPr/>
          </p:nvSpPr>
          <p:spPr>
            <a:xfrm>
              <a:off x="12949" y="2917"/>
              <a:ext cx="2959" cy="276"/>
            </a:xfrm>
            <a:prstGeom prst="snip1Rect">
              <a:avLst/>
            </a:prstGeom>
            <a:grpFill/>
          </p:spPr>
          <p:txBody>
            <a:bodyPr wrap="square" rtlCol="0">
              <a:spAutoFit/>
            </a:bodyPr>
            <a:p>
              <a:endParaRPr lang="en-US" altLang="en-US" b="1" dirty="0">
                <a:solidFill>
                  <a:schemeClr val="accent2">
                    <a:lumMod val="50000"/>
                  </a:schemeClr>
                </a:solidFill>
                <a:latin typeface="Georgia Pro Cond Light" panose="02040306050405020303" charset="0"/>
                <a:ea typeface="SimSun" panose="02010600030101010101" pitchFamily="2" charset="-122"/>
                <a:cs typeface="Georgia Pro Cond Light" panose="02040306050405020303" charset="0"/>
                <a:sym typeface="+mn-ea"/>
              </a:endParaRPr>
            </a:p>
          </p:txBody>
        </p:sp>
      </p:grpSp>
      <p:sp>
        <p:nvSpPr>
          <p:cNvPr id="46" name="Rounded Rectangle 45"/>
          <p:cNvSpPr/>
          <p:nvPr/>
        </p:nvSpPr>
        <p:spPr>
          <a:xfrm>
            <a:off x="5798820" y="1619250"/>
            <a:ext cx="5013960" cy="2735580"/>
          </a:xfrm>
          <a:prstGeom prst="roundRect">
            <a:avLst/>
          </a:prstGeom>
          <a:pattFill prst="pct30">
            <a:fgClr>
              <a:schemeClr val="bg2">
                <a:lumMod val="90000"/>
              </a:schemeClr>
            </a:fgClr>
            <a:bgClr>
              <a:schemeClr val="tx2">
                <a:lumMod val="20000"/>
                <a:lumOff val="80000"/>
              </a:schemeClr>
            </a:bgClr>
          </a:patt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4" name="Title 3"/>
          <p:cNvSpPr>
            <a:spLocks noGrp="1"/>
          </p:cNvSpPr>
          <p:nvPr>
            <p:ph type="title"/>
          </p:nvPr>
        </p:nvSpPr>
        <p:spPr>
          <a:xfrm>
            <a:off x="678815" y="603885"/>
            <a:ext cx="10834370" cy="612775"/>
          </a:xfrm>
        </p:spPr>
        <p:txBody>
          <a:bodyPr>
            <a:normAutofit/>
          </a:bodyPr>
          <a:p>
            <a:r>
              <a:rPr lang="en-US" dirty="0">
                <a:solidFill>
                  <a:srgbClr val="0F172A"/>
                </a:solidFill>
                <a:latin typeface="Georgia Pro Cond Light" panose="02040306050405020303" charset="0"/>
                <a:ea typeface="SimSun" panose="02010600030101010101" pitchFamily="2" charset="-122"/>
                <a:cs typeface="Georgia Pro Cond Light" panose="02040306050405020303" charset="0"/>
                <a:sym typeface="+mn-ea"/>
              </a:rPr>
              <a:t> Feature Engineering &amp; Preprocessing</a:t>
            </a:r>
            <a:endParaRPr lang="en-GB" altLang="en-US">
              <a:latin typeface="Georgia Pro Cond Light" panose="02040306050405020303" charset="0"/>
              <a:cs typeface="Georgia Pro Cond Light" panose="02040306050405020303" charset="0"/>
            </a:endParaRPr>
          </a:p>
        </p:txBody>
      </p:sp>
      <p:sp>
        <p:nvSpPr>
          <p:cNvPr id="6" name="Text Box 5"/>
          <p:cNvSpPr txBox="1"/>
          <p:nvPr/>
        </p:nvSpPr>
        <p:spPr>
          <a:xfrm>
            <a:off x="679450" y="1216660"/>
            <a:ext cx="10833735" cy="294640"/>
          </a:xfrm>
          <a:prstGeom prst="rect">
            <a:avLst/>
          </a:prstGeom>
          <a:noFill/>
        </p:spPr>
        <p:txBody>
          <a:bodyPr wrap="square" rtlCol="0">
            <a:spAutoFit/>
          </a:bodyPr>
          <a:p>
            <a:pPr marL="0" indent="0">
              <a:lnSpc>
                <a:spcPts val="1585"/>
              </a:lnSpc>
              <a:buNone/>
            </a:pPr>
            <a:r>
              <a:rPr lang="en-US" dirty="0">
                <a:solidFill>
                  <a:srgbClr val="64748B"/>
                </a:solidFill>
                <a:latin typeface="Georgia Pro Cond Light" panose="02040306050405020303" charset="0"/>
                <a:ea typeface="SimSun" panose="02010600030101010101" pitchFamily="2" charset="-122"/>
                <a:cs typeface="Georgia Pro Cond Light" panose="02040306050405020303" charset="0"/>
                <a:sym typeface="+mn-ea"/>
              </a:rPr>
              <a:t>Transforming raw transactions into ML-ready features via RFM computation and robust normalization.</a:t>
            </a:r>
            <a:endParaRPr lang="en-GB" altLang="en-US"/>
          </a:p>
        </p:txBody>
      </p:sp>
      <p:grpSp>
        <p:nvGrpSpPr>
          <p:cNvPr id="34" name="Group 33"/>
          <p:cNvGrpSpPr/>
          <p:nvPr/>
        </p:nvGrpSpPr>
        <p:grpSpPr>
          <a:xfrm>
            <a:off x="810895" y="1856105"/>
            <a:ext cx="4316730" cy="3166745"/>
            <a:chOff x="1145" y="2922"/>
            <a:chExt cx="6798" cy="4987"/>
          </a:xfrm>
        </p:grpSpPr>
        <p:sp>
          <p:nvSpPr>
            <p:cNvPr id="16" name="Text 14"/>
            <p:cNvSpPr/>
            <p:nvPr>
              <p:custDataLst>
                <p:tags r:id="rId1"/>
              </p:custDataLst>
            </p:nvPr>
          </p:nvSpPr>
          <p:spPr>
            <a:xfrm>
              <a:off x="1848" y="2922"/>
              <a:ext cx="5963" cy="562"/>
            </a:xfrm>
            <a:prstGeom prst="rect">
              <a:avLst/>
            </a:prstGeom>
            <a:noFill/>
          </p:spPr>
          <p:txBody>
            <a:bodyPr wrap="square" lIns="0" tIns="0" rIns="0" bIns="0" rtlCol="0" anchor="t"/>
            <a:lstStyle/>
            <a:p>
              <a:pPr marL="0" indent="0">
                <a:lnSpc>
                  <a:spcPts val="1475"/>
                </a:lnSpc>
                <a:buNone/>
              </a:pPr>
              <a:r>
                <a:rPr lang="en-US" sz="1600" b="1" u="sng" dirty="0">
                  <a:solidFill>
                    <a:srgbClr val="0F172A"/>
                  </a:solidFill>
                  <a:latin typeface="Georgia Pro Cond Light" panose="02040306050405020303" charset="0"/>
                  <a:ea typeface="SimSun" panose="02010600030101010101" pitchFamily="2" charset="-122"/>
                  <a:cs typeface="Georgia Pro Cond Light" panose="02040306050405020303" charset="0"/>
                </a:rPr>
                <a:t>R</a:t>
              </a:r>
              <a:r>
                <a:rPr lang="en-US" sz="1600" b="1" dirty="0">
                  <a:solidFill>
                    <a:srgbClr val="0F172A"/>
                  </a:solidFill>
                  <a:latin typeface="Georgia Pro Cond Light" panose="02040306050405020303" charset="0"/>
                  <a:ea typeface="SimSun" panose="02010600030101010101" pitchFamily="2" charset="-122"/>
                  <a:cs typeface="Georgia Pro Cond Light" panose="02040306050405020303" charset="0"/>
                </a:rPr>
                <a:t>ecency</a:t>
              </a:r>
              <a:endParaRPr lang="en-US" sz="1600" b="1" dirty="0">
                <a:solidFill>
                  <a:srgbClr val="0F172A"/>
                </a:solidFill>
                <a:latin typeface="Georgia Pro Cond Light" panose="02040306050405020303" charset="0"/>
                <a:ea typeface="SimSun" panose="02010600030101010101" pitchFamily="2" charset="-122"/>
                <a:cs typeface="Georgia Pro Cond Light" panose="02040306050405020303" charset="0"/>
              </a:endParaRPr>
            </a:p>
          </p:txBody>
        </p:sp>
        <p:sp>
          <p:nvSpPr>
            <p:cNvPr id="17" name="Text 15"/>
            <p:cNvSpPr/>
            <p:nvPr>
              <p:custDataLst>
                <p:tags r:id="rId2"/>
              </p:custDataLst>
            </p:nvPr>
          </p:nvSpPr>
          <p:spPr>
            <a:xfrm>
              <a:off x="1848" y="3484"/>
              <a:ext cx="5963" cy="514"/>
            </a:xfrm>
            <a:prstGeom prst="rect">
              <a:avLst/>
            </a:prstGeom>
            <a:noFill/>
          </p:spPr>
          <p:txBody>
            <a:bodyPr wrap="square" lIns="0" tIns="0" rIns="0" bIns="0" rtlCol="0" anchor="t"/>
            <a:lstStyle/>
            <a:p>
              <a:pPr marL="0" indent="0">
                <a:lnSpc>
                  <a:spcPts val="1350"/>
                </a:lnSpc>
                <a:buNone/>
              </a:pPr>
              <a:r>
                <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rPr>
                <a:t>Days since last purchase (snapshot: 2011-12-31)</a:t>
              </a:r>
              <a:endPar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endParaRPr>
            </a:p>
          </p:txBody>
        </p:sp>
        <p:sp>
          <p:nvSpPr>
            <p:cNvPr id="18" name="Text 16"/>
            <p:cNvSpPr/>
            <p:nvPr>
              <p:custDataLst>
                <p:tags r:id="rId3"/>
              </p:custDataLst>
            </p:nvPr>
          </p:nvSpPr>
          <p:spPr>
            <a:xfrm>
              <a:off x="1826" y="4226"/>
              <a:ext cx="5785" cy="562"/>
            </a:xfrm>
            <a:prstGeom prst="rect">
              <a:avLst/>
            </a:prstGeom>
            <a:noFill/>
          </p:spPr>
          <p:txBody>
            <a:bodyPr wrap="square" lIns="0" tIns="0" rIns="0" bIns="0" rtlCol="0" anchor="t"/>
            <a:lstStyle/>
            <a:p>
              <a:pPr marL="0" indent="0">
                <a:lnSpc>
                  <a:spcPts val="1475"/>
                </a:lnSpc>
                <a:buNone/>
              </a:pPr>
              <a:r>
                <a:rPr lang="en-US" sz="1600" b="1" u="sng" dirty="0">
                  <a:solidFill>
                    <a:srgbClr val="0F172A"/>
                  </a:solidFill>
                  <a:latin typeface="Georgia Pro Cond Light" panose="02040306050405020303" charset="0"/>
                  <a:ea typeface="SimSun" panose="02010600030101010101" pitchFamily="2" charset="-122"/>
                  <a:cs typeface="Georgia Pro Cond Light" panose="02040306050405020303" charset="0"/>
                </a:rPr>
                <a:t>F</a:t>
              </a:r>
              <a:r>
                <a:rPr lang="en-US" sz="1600" b="1" dirty="0">
                  <a:solidFill>
                    <a:srgbClr val="0F172A"/>
                  </a:solidFill>
                  <a:latin typeface="Georgia Pro Cond Light" panose="02040306050405020303" charset="0"/>
                  <a:ea typeface="SimSun" panose="02010600030101010101" pitchFamily="2" charset="-122"/>
                  <a:cs typeface="Georgia Pro Cond Light" panose="02040306050405020303" charset="0"/>
                </a:rPr>
                <a:t>requency</a:t>
              </a:r>
              <a:endParaRPr lang="en-US" sz="1600" b="1" dirty="0">
                <a:solidFill>
                  <a:srgbClr val="0F172A"/>
                </a:solidFill>
                <a:latin typeface="Georgia Pro Cond Light" panose="02040306050405020303" charset="0"/>
                <a:ea typeface="SimSun" panose="02010600030101010101" pitchFamily="2" charset="-122"/>
                <a:cs typeface="Georgia Pro Cond Light" panose="02040306050405020303" charset="0"/>
              </a:endParaRPr>
            </a:p>
          </p:txBody>
        </p:sp>
        <p:sp>
          <p:nvSpPr>
            <p:cNvPr id="19" name="Text 17"/>
            <p:cNvSpPr/>
            <p:nvPr>
              <p:custDataLst>
                <p:tags r:id="rId4"/>
              </p:custDataLst>
            </p:nvPr>
          </p:nvSpPr>
          <p:spPr>
            <a:xfrm>
              <a:off x="1826" y="4787"/>
              <a:ext cx="5785" cy="514"/>
            </a:xfrm>
            <a:prstGeom prst="rect">
              <a:avLst/>
            </a:prstGeom>
            <a:noFill/>
          </p:spPr>
          <p:txBody>
            <a:bodyPr wrap="square" lIns="0" tIns="0" rIns="0" bIns="0" rtlCol="0" anchor="t"/>
            <a:lstStyle/>
            <a:p>
              <a:pPr marL="0" indent="0">
                <a:lnSpc>
                  <a:spcPts val="1350"/>
                </a:lnSpc>
                <a:buNone/>
              </a:pPr>
              <a:r>
                <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rPr>
                <a:t>Total number of unique invoices per customer</a:t>
              </a:r>
              <a:endPar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endParaRPr>
            </a:p>
          </p:txBody>
        </p:sp>
        <p:sp>
          <p:nvSpPr>
            <p:cNvPr id="20" name="Text 18"/>
            <p:cNvSpPr/>
            <p:nvPr>
              <p:custDataLst>
                <p:tags r:id="rId5"/>
              </p:custDataLst>
            </p:nvPr>
          </p:nvSpPr>
          <p:spPr>
            <a:xfrm>
              <a:off x="1913" y="5529"/>
              <a:ext cx="6030" cy="562"/>
            </a:xfrm>
            <a:prstGeom prst="rect">
              <a:avLst/>
            </a:prstGeom>
            <a:noFill/>
          </p:spPr>
          <p:txBody>
            <a:bodyPr wrap="square" lIns="0" tIns="0" rIns="0" bIns="0" rtlCol="0" anchor="t"/>
            <a:lstStyle/>
            <a:p>
              <a:pPr marL="0" indent="0">
                <a:lnSpc>
                  <a:spcPts val="1475"/>
                </a:lnSpc>
                <a:buNone/>
              </a:pPr>
              <a:r>
                <a:rPr lang="en-US" sz="1600" b="1" u="sng" dirty="0">
                  <a:solidFill>
                    <a:srgbClr val="0F172A"/>
                  </a:solidFill>
                  <a:latin typeface="Georgia Pro Cond Light" panose="02040306050405020303" charset="0"/>
                  <a:ea typeface="SimSun" panose="02010600030101010101" pitchFamily="2" charset="-122"/>
                  <a:cs typeface="Georgia Pro Cond Light" panose="02040306050405020303" charset="0"/>
                </a:rPr>
                <a:t>M</a:t>
              </a:r>
              <a:r>
                <a:rPr lang="en-US" sz="1600" b="1" dirty="0">
                  <a:solidFill>
                    <a:srgbClr val="0F172A"/>
                  </a:solidFill>
                  <a:latin typeface="Georgia Pro Cond Light" panose="02040306050405020303" charset="0"/>
                  <a:ea typeface="SimSun" panose="02010600030101010101" pitchFamily="2" charset="-122"/>
                  <a:cs typeface="Georgia Pro Cond Light" panose="02040306050405020303" charset="0"/>
                </a:rPr>
                <a:t>onetary</a:t>
              </a:r>
              <a:endParaRPr lang="en-US" sz="1600" b="1" dirty="0">
                <a:solidFill>
                  <a:srgbClr val="0F172A"/>
                </a:solidFill>
                <a:latin typeface="Georgia Pro Cond Light" panose="02040306050405020303" charset="0"/>
                <a:ea typeface="SimSun" panose="02010600030101010101" pitchFamily="2" charset="-122"/>
                <a:cs typeface="Georgia Pro Cond Light" panose="02040306050405020303" charset="0"/>
              </a:endParaRPr>
            </a:p>
          </p:txBody>
        </p:sp>
        <p:sp>
          <p:nvSpPr>
            <p:cNvPr id="21" name="Text 19"/>
            <p:cNvSpPr/>
            <p:nvPr>
              <p:custDataLst>
                <p:tags r:id="rId6"/>
              </p:custDataLst>
            </p:nvPr>
          </p:nvSpPr>
          <p:spPr>
            <a:xfrm>
              <a:off x="1913" y="6091"/>
              <a:ext cx="6030" cy="514"/>
            </a:xfrm>
            <a:prstGeom prst="rect">
              <a:avLst/>
            </a:prstGeom>
            <a:noFill/>
          </p:spPr>
          <p:txBody>
            <a:bodyPr wrap="square" lIns="0" tIns="0" rIns="0" bIns="0" rtlCol="0" anchor="t"/>
            <a:lstStyle/>
            <a:p>
              <a:pPr marL="0" indent="0">
                <a:lnSpc>
                  <a:spcPts val="1350"/>
                </a:lnSpc>
                <a:buNone/>
              </a:pPr>
              <a:r>
                <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rPr>
                <a:t>Total spend (Quantity × UnitPrice) per customer</a:t>
              </a:r>
              <a:endPar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endParaRPr>
            </a:p>
          </p:txBody>
        </p:sp>
        <p:sp>
          <p:nvSpPr>
            <p:cNvPr id="22" name="Text 20"/>
            <p:cNvSpPr/>
            <p:nvPr/>
          </p:nvSpPr>
          <p:spPr>
            <a:xfrm>
              <a:off x="1869" y="6833"/>
              <a:ext cx="5405" cy="562"/>
            </a:xfrm>
            <a:prstGeom prst="rect">
              <a:avLst/>
            </a:prstGeom>
            <a:noFill/>
          </p:spPr>
          <p:txBody>
            <a:bodyPr wrap="square" lIns="0" tIns="0" rIns="0" bIns="0" rtlCol="0" anchor="t"/>
            <a:lstStyle/>
            <a:p>
              <a:pPr marL="0" indent="0">
                <a:lnSpc>
                  <a:spcPts val="1475"/>
                </a:lnSpc>
                <a:buNone/>
              </a:pPr>
              <a:r>
                <a:rPr lang="en-US" sz="1600" b="1" dirty="0">
                  <a:solidFill>
                    <a:srgbClr val="0F172A"/>
                  </a:solidFill>
                  <a:latin typeface="Georgia Pro Cond Light" panose="02040306050405020303" charset="0"/>
                  <a:ea typeface="SimSun" panose="02010600030101010101" pitchFamily="2" charset="-122"/>
                  <a:cs typeface="Georgia Pro Cond Light" panose="02040306050405020303" charset="0"/>
                </a:rPr>
                <a:t>AvgOrderValue</a:t>
              </a:r>
              <a:endParaRPr lang="en-US" sz="1600" b="1" dirty="0">
                <a:solidFill>
                  <a:srgbClr val="0F172A"/>
                </a:solidFill>
                <a:latin typeface="Georgia Pro Cond Light" panose="02040306050405020303" charset="0"/>
                <a:ea typeface="SimSun" panose="02010600030101010101" pitchFamily="2" charset="-122"/>
                <a:cs typeface="Georgia Pro Cond Light" panose="02040306050405020303" charset="0"/>
              </a:endParaRPr>
            </a:p>
          </p:txBody>
        </p:sp>
        <p:sp>
          <p:nvSpPr>
            <p:cNvPr id="23" name="Text 21"/>
            <p:cNvSpPr/>
            <p:nvPr/>
          </p:nvSpPr>
          <p:spPr>
            <a:xfrm>
              <a:off x="1869" y="7395"/>
              <a:ext cx="5405" cy="514"/>
            </a:xfrm>
            <a:prstGeom prst="rect">
              <a:avLst/>
            </a:prstGeom>
            <a:noFill/>
          </p:spPr>
          <p:txBody>
            <a:bodyPr wrap="square" lIns="0" tIns="0" rIns="0" bIns="0" rtlCol="0" anchor="t"/>
            <a:lstStyle/>
            <a:p>
              <a:pPr marL="0" indent="0">
                <a:lnSpc>
                  <a:spcPts val="1350"/>
                </a:lnSpc>
                <a:buNone/>
              </a:pPr>
              <a:r>
                <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rPr>
                <a:t>Monetary ÷ Frequency (basket size metric)</a:t>
              </a:r>
              <a:endPar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endParaRPr>
            </a:p>
          </p:txBody>
        </p:sp>
        <p:grpSp>
          <p:nvGrpSpPr>
            <p:cNvPr id="15" name="Group 14"/>
            <p:cNvGrpSpPr/>
            <p:nvPr/>
          </p:nvGrpSpPr>
          <p:grpSpPr>
            <a:xfrm>
              <a:off x="1150" y="6817"/>
              <a:ext cx="526" cy="760"/>
              <a:chOff x="1126" y="6817"/>
              <a:chExt cx="526" cy="760"/>
            </a:xfrm>
          </p:grpSpPr>
          <p:sp>
            <p:nvSpPr>
              <p:cNvPr id="10" name="Text 5"/>
              <p:cNvSpPr/>
              <p:nvPr/>
            </p:nvSpPr>
            <p:spPr>
              <a:xfrm>
                <a:off x="1126" y="6817"/>
                <a:ext cx="526" cy="761"/>
              </a:xfrm>
              <a:prstGeom prst="roundRect">
                <a:avLst>
                  <a:gd name="adj" fmla="val 270860"/>
                </a:avLst>
              </a:prstGeom>
              <a:solidFill>
                <a:srgbClr val="059669"/>
              </a:solidFill>
            </p:spPr>
            <p:txBody>
              <a:bodyPr wrap="square" lIns="76200" tIns="76200" rIns="76200" bIns="76200" rtlCol="0" anchor="t">
                <a:noAutofit/>
              </a:bodyPr>
              <a:lstStyle/>
              <a:p>
                <a:pPr marL="0" indent="0" algn="ctr">
                  <a:lnSpc>
                    <a:spcPct val="100000"/>
                  </a:lnSpc>
                  <a:buNone/>
                </a:pPr>
                <a:endParaRPr lang="en-US" sz="1600" b="1" dirty="0">
                  <a:solidFill>
                    <a:srgbClr val="FFFFFF"/>
                  </a:solidFill>
                  <a:latin typeface="Georgia Pro Cond Light" panose="02040306050405020303" charset="0"/>
                  <a:ea typeface="SimSun" panose="02010600030101010101" pitchFamily="2" charset="-122"/>
                  <a:cs typeface="Georgia Pro Cond Light" panose="02040306050405020303" charset="0"/>
                </a:endParaRPr>
              </a:p>
            </p:txBody>
          </p:sp>
          <p:sp>
            <p:nvSpPr>
              <p:cNvPr id="12" name="Sun 11"/>
              <p:cNvSpPr/>
              <p:nvPr/>
            </p:nvSpPr>
            <p:spPr>
              <a:xfrm>
                <a:off x="1202" y="7011"/>
                <a:ext cx="381" cy="348"/>
              </a:xfrm>
              <a:prstGeom prst="sun">
                <a:avLst/>
              </a:prstGeom>
              <a:noFill/>
              <a:ln>
                <a:solidFill>
                  <a:schemeClr val="bg2"/>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grpSp>
        <p:grpSp>
          <p:nvGrpSpPr>
            <p:cNvPr id="24" name="Group 23"/>
            <p:cNvGrpSpPr/>
            <p:nvPr/>
          </p:nvGrpSpPr>
          <p:grpSpPr>
            <a:xfrm>
              <a:off x="1159" y="5565"/>
              <a:ext cx="526" cy="760"/>
              <a:chOff x="1126" y="6817"/>
              <a:chExt cx="526" cy="760"/>
            </a:xfrm>
          </p:grpSpPr>
          <p:sp>
            <p:nvSpPr>
              <p:cNvPr id="25" name="Text 5"/>
              <p:cNvSpPr/>
              <p:nvPr/>
            </p:nvSpPr>
            <p:spPr>
              <a:xfrm>
                <a:off x="1126" y="6817"/>
                <a:ext cx="526" cy="761"/>
              </a:xfrm>
              <a:prstGeom prst="roundRect">
                <a:avLst>
                  <a:gd name="adj" fmla="val 270860"/>
                </a:avLst>
              </a:prstGeom>
              <a:solidFill>
                <a:schemeClr val="accent4"/>
              </a:solidFill>
            </p:spPr>
            <p:txBody>
              <a:bodyPr wrap="square" lIns="76200" tIns="76200" rIns="76200" bIns="76200" rtlCol="0" anchor="t">
                <a:noAutofit/>
              </a:bodyPr>
              <a:lstStyle/>
              <a:p>
                <a:pPr marL="0" indent="0" algn="ctr">
                  <a:lnSpc>
                    <a:spcPct val="100000"/>
                  </a:lnSpc>
                  <a:buNone/>
                </a:pPr>
                <a:endParaRPr lang="en-US" sz="1600" b="1" dirty="0">
                  <a:solidFill>
                    <a:srgbClr val="FFFFFF"/>
                  </a:solidFill>
                  <a:latin typeface="Georgia Pro Cond Light" panose="02040306050405020303" charset="0"/>
                  <a:ea typeface="SimSun" panose="02010600030101010101" pitchFamily="2" charset="-122"/>
                  <a:cs typeface="Georgia Pro Cond Light" panose="02040306050405020303" charset="0"/>
                </a:endParaRPr>
              </a:p>
            </p:txBody>
          </p:sp>
          <p:sp>
            <p:nvSpPr>
              <p:cNvPr id="26" name="Sun 25"/>
              <p:cNvSpPr/>
              <p:nvPr/>
            </p:nvSpPr>
            <p:spPr>
              <a:xfrm>
                <a:off x="1202" y="7011"/>
                <a:ext cx="381" cy="348"/>
              </a:xfrm>
              <a:prstGeom prst="sun">
                <a:avLst/>
              </a:prstGeom>
              <a:noFill/>
              <a:ln>
                <a:solidFill>
                  <a:schemeClr val="bg2"/>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grpSp>
        <p:grpSp>
          <p:nvGrpSpPr>
            <p:cNvPr id="27" name="Group 26"/>
            <p:cNvGrpSpPr/>
            <p:nvPr/>
          </p:nvGrpSpPr>
          <p:grpSpPr>
            <a:xfrm>
              <a:off x="1171" y="4230"/>
              <a:ext cx="526" cy="760"/>
              <a:chOff x="1126" y="6817"/>
              <a:chExt cx="526" cy="760"/>
            </a:xfrm>
          </p:grpSpPr>
          <p:sp>
            <p:nvSpPr>
              <p:cNvPr id="28" name="Text 5"/>
              <p:cNvSpPr/>
              <p:nvPr/>
            </p:nvSpPr>
            <p:spPr>
              <a:xfrm>
                <a:off x="1126" y="6817"/>
                <a:ext cx="526" cy="761"/>
              </a:xfrm>
              <a:prstGeom prst="roundRect">
                <a:avLst>
                  <a:gd name="adj" fmla="val 270860"/>
                </a:avLst>
              </a:prstGeom>
              <a:solidFill>
                <a:srgbClr val="00B0F0"/>
              </a:solidFill>
            </p:spPr>
            <p:txBody>
              <a:bodyPr wrap="square" lIns="76200" tIns="76200" rIns="76200" bIns="76200" rtlCol="0" anchor="t">
                <a:noAutofit/>
              </a:bodyPr>
              <a:lstStyle/>
              <a:p>
                <a:pPr marL="0" indent="0" algn="ctr">
                  <a:lnSpc>
                    <a:spcPct val="100000"/>
                  </a:lnSpc>
                  <a:buNone/>
                </a:pPr>
                <a:endParaRPr lang="en-US" sz="1600" b="1" dirty="0">
                  <a:solidFill>
                    <a:srgbClr val="FFFFFF"/>
                  </a:solidFill>
                  <a:latin typeface="Georgia Pro Cond Light" panose="02040306050405020303" charset="0"/>
                  <a:ea typeface="SimSun" panose="02010600030101010101" pitchFamily="2" charset="-122"/>
                  <a:cs typeface="Georgia Pro Cond Light" panose="02040306050405020303" charset="0"/>
                </a:endParaRPr>
              </a:p>
            </p:txBody>
          </p:sp>
          <p:sp>
            <p:nvSpPr>
              <p:cNvPr id="29" name="Sun 28"/>
              <p:cNvSpPr/>
              <p:nvPr/>
            </p:nvSpPr>
            <p:spPr>
              <a:xfrm>
                <a:off x="1202" y="7011"/>
                <a:ext cx="381" cy="348"/>
              </a:xfrm>
              <a:prstGeom prst="sun">
                <a:avLst/>
              </a:prstGeom>
              <a:noFill/>
              <a:ln>
                <a:solidFill>
                  <a:schemeClr val="bg2"/>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grpSp>
        <p:grpSp>
          <p:nvGrpSpPr>
            <p:cNvPr id="30" name="Group 29"/>
            <p:cNvGrpSpPr/>
            <p:nvPr/>
          </p:nvGrpSpPr>
          <p:grpSpPr>
            <a:xfrm>
              <a:off x="1145" y="2942"/>
              <a:ext cx="526" cy="760"/>
              <a:chOff x="1126" y="6817"/>
              <a:chExt cx="526" cy="760"/>
            </a:xfrm>
          </p:grpSpPr>
          <p:sp>
            <p:nvSpPr>
              <p:cNvPr id="31" name="Text 5"/>
              <p:cNvSpPr/>
              <p:nvPr/>
            </p:nvSpPr>
            <p:spPr>
              <a:xfrm>
                <a:off x="1126" y="6817"/>
                <a:ext cx="526" cy="761"/>
              </a:xfrm>
              <a:prstGeom prst="roundRect">
                <a:avLst>
                  <a:gd name="adj" fmla="val 270860"/>
                </a:avLst>
              </a:prstGeom>
              <a:solidFill>
                <a:srgbClr val="FF0000"/>
              </a:solidFill>
            </p:spPr>
            <p:txBody>
              <a:bodyPr wrap="square" lIns="76200" tIns="76200" rIns="76200" bIns="76200" rtlCol="0" anchor="t">
                <a:noAutofit/>
              </a:bodyPr>
              <a:lstStyle/>
              <a:p>
                <a:pPr marL="0" indent="0" algn="ctr">
                  <a:lnSpc>
                    <a:spcPct val="100000"/>
                  </a:lnSpc>
                  <a:buNone/>
                </a:pPr>
                <a:endParaRPr lang="en-US" sz="1600" b="1" dirty="0">
                  <a:solidFill>
                    <a:srgbClr val="FFFFFF"/>
                  </a:solidFill>
                  <a:latin typeface="Georgia Pro Cond Light" panose="02040306050405020303" charset="0"/>
                  <a:ea typeface="SimSun" panose="02010600030101010101" pitchFamily="2" charset="-122"/>
                  <a:cs typeface="Georgia Pro Cond Light" panose="02040306050405020303" charset="0"/>
                </a:endParaRPr>
              </a:p>
            </p:txBody>
          </p:sp>
          <p:sp>
            <p:nvSpPr>
              <p:cNvPr id="32" name="Sun 31"/>
              <p:cNvSpPr/>
              <p:nvPr/>
            </p:nvSpPr>
            <p:spPr>
              <a:xfrm>
                <a:off x="1202" y="7011"/>
                <a:ext cx="381" cy="348"/>
              </a:xfrm>
              <a:prstGeom prst="sun">
                <a:avLst/>
              </a:prstGeom>
              <a:noFill/>
              <a:ln>
                <a:solidFill>
                  <a:schemeClr val="bg2"/>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grpSp>
      </p:grpSp>
      <p:sp>
        <p:nvSpPr>
          <p:cNvPr id="36" name="Text 7"/>
          <p:cNvSpPr/>
          <p:nvPr/>
        </p:nvSpPr>
        <p:spPr>
          <a:xfrm>
            <a:off x="6116955" y="2337435"/>
            <a:ext cx="306705" cy="366395"/>
          </a:xfrm>
          <a:prstGeom prst="roundRect">
            <a:avLst>
              <a:gd name="adj" fmla="val 2000000"/>
            </a:avLst>
          </a:prstGeom>
          <a:solidFill>
            <a:schemeClr val="accent4">
              <a:lumMod val="40000"/>
              <a:lumOff val="60000"/>
              <a:alpha val="23000"/>
            </a:schemeClr>
          </a:solidFill>
        </p:spPr>
        <p:txBody>
          <a:bodyPr wrap="square" lIns="0" tIns="0" rIns="0" bIns="0" rtlCol="0" anchor="ctr">
            <a:normAutofit/>
          </a:bodyPr>
          <a:lstStyle/>
          <a:p>
            <a:pPr marL="0" indent="0" algn="ctr">
              <a:buNone/>
            </a:pPr>
            <a:r>
              <a:rPr lang="en-US" sz="1400" b="1" dirty="0">
                <a:solidFill>
                  <a:srgbClr val="C00000"/>
                </a:solidFill>
                <a:latin typeface="Georgia Pro Cond Light" panose="02040306050405020303" charset="0"/>
                <a:ea typeface="SimSun" panose="02010600030101010101" pitchFamily="2" charset="-122"/>
                <a:cs typeface="Georgia Pro Cond Light" panose="02040306050405020303" charset="0"/>
              </a:rPr>
              <a:t>1</a:t>
            </a:r>
            <a:endParaRPr lang="en-US" sz="1400" b="1" dirty="0">
              <a:solidFill>
                <a:srgbClr val="C00000"/>
              </a:solidFill>
              <a:latin typeface="Georgia Pro Cond Light" panose="02040306050405020303" charset="0"/>
              <a:ea typeface="SimSun" panose="02010600030101010101" pitchFamily="2" charset="-122"/>
              <a:cs typeface="Georgia Pro Cond Light" panose="02040306050405020303" charset="0"/>
            </a:endParaRPr>
          </a:p>
        </p:txBody>
      </p:sp>
      <p:sp>
        <p:nvSpPr>
          <p:cNvPr id="39" name="Text 8"/>
          <p:cNvSpPr/>
          <p:nvPr/>
        </p:nvSpPr>
        <p:spPr>
          <a:xfrm>
            <a:off x="6116955" y="3031490"/>
            <a:ext cx="306705" cy="366395"/>
          </a:xfrm>
          <a:prstGeom prst="roundRect">
            <a:avLst>
              <a:gd name="adj" fmla="val 2000000"/>
            </a:avLst>
          </a:prstGeom>
          <a:solidFill>
            <a:schemeClr val="accent2">
              <a:lumMod val="75000"/>
              <a:alpha val="34000"/>
            </a:schemeClr>
          </a:solidFill>
        </p:spPr>
        <p:txBody>
          <a:bodyPr wrap="square" lIns="0" tIns="0" rIns="0" bIns="0" rtlCol="0" anchor="ctr">
            <a:normAutofit/>
          </a:bodyPr>
          <a:lstStyle/>
          <a:p>
            <a:pPr marL="0" indent="0" algn="ctr">
              <a:buNone/>
            </a:pPr>
            <a:r>
              <a:rPr lang="en-US" sz="1400" b="1" dirty="0">
                <a:solidFill>
                  <a:srgbClr val="C00000"/>
                </a:solidFill>
                <a:latin typeface="Georgia Pro Cond Light" panose="02040306050405020303" charset="0"/>
                <a:ea typeface="SimSun" panose="02010600030101010101" pitchFamily="2" charset="-122"/>
                <a:cs typeface="Georgia Pro Cond Light" panose="02040306050405020303" charset="0"/>
              </a:rPr>
              <a:t>2</a:t>
            </a:r>
            <a:endParaRPr lang="en-US" sz="1400" b="1" dirty="0">
              <a:solidFill>
                <a:srgbClr val="C00000"/>
              </a:solidFill>
              <a:latin typeface="Georgia Pro Cond Light" panose="02040306050405020303" charset="0"/>
              <a:ea typeface="SimSun" panose="02010600030101010101" pitchFamily="2" charset="-122"/>
              <a:cs typeface="Georgia Pro Cond Light" panose="02040306050405020303" charset="0"/>
            </a:endParaRPr>
          </a:p>
        </p:txBody>
      </p:sp>
      <p:sp>
        <p:nvSpPr>
          <p:cNvPr id="40" name="Text 9"/>
          <p:cNvSpPr/>
          <p:nvPr/>
        </p:nvSpPr>
        <p:spPr>
          <a:xfrm>
            <a:off x="6117590" y="3729990"/>
            <a:ext cx="306705" cy="366395"/>
          </a:xfrm>
          <a:prstGeom prst="roundRect">
            <a:avLst>
              <a:gd name="adj" fmla="val 2000000"/>
            </a:avLst>
          </a:prstGeom>
          <a:solidFill>
            <a:srgbClr val="0891B2">
              <a:alpha val="10000"/>
            </a:srgbClr>
          </a:solidFill>
        </p:spPr>
        <p:txBody>
          <a:bodyPr wrap="square" lIns="0" tIns="0" rIns="0" bIns="0" rtlCol="0" anchor="ctr">
            <a:normAutofit/>
          </a:bodyPr>
          <a:lstStyle/>
          <a:p>
            <a:pPr marL="0" indent="0" algn="ctr">
              <a:buNone/>
            </a:pPr>
            <a:r>
              <a:rPr lang="en-US" sz="1400" b="1" dirty="0">
                <a:solidFill>
                  <a:srgbClr val="C00000"/>
                </a:solidFill>
                <a:latin typeface="Georgia Pro Cond Light" panose="02040306050405020303" charset="0"/>
                <a:ea typeface="SimSun" panose="02010600030101010101" pitchFamily="2" charset="-122"/>
                <a:cs typeface="Georgia Pro Cond Light" panose="02040306050405020303" charset="0"/>
              </a:rPr>
              <a:t>3</a:t>
            </a:r>
            <a:endParaRPr lang="en-US" sz="1400" b="1" dirty="0">
              <a:solidFill>
                <a:srgbClr val="C00000"/>
              </a:solidFill>
              <a:latin typeface="Georgia Pro Cond Light" panose="02040306050405020303" charset="0"/>
              <a:ea typeface="SimSun" panose="02010600030101010101" pitchFamily="2" charset="-122"/>
              <a:cs typeface="Georgia Pro Cond Light" panose="02040306050405020303" charset="0"/>
            </a:endParaRPr>
          </a:p>
        </p:txBody>
      </p:sp>
      <p:sp>
        <p:nvSpPr>
          <p:cNvPr id="42" name="Text 23"/>
          <p:cNvSpPr/>
          <p:nvPr/>
        </p:nvSpPr>
        <p:spPr>
          <a:xfrm>
            <a:off x="6557010" y="2349500"/>
            <a:ext cx="4399280" cy="586740"/>
          </a:xfrm>
          <a:prstGeom prst="rect">
            <a:avLst/>
          </a:prstGeom>
          <a:noFill/>
        </p:spPr>
        <p:txBody>
          <a:bodyPr wrap="square" lIns="0" tIns="0" rIns="0" bIns="0" rtlCol="0" anchor="t"/>
          <a:lstStyle/>
          <a:p>
            <a:pPr marL="0" indent="0">
              <a:lnSpc>
                <a:spcPts val="1440"/>
              </a:lnSpc>
              <a:buNone/>
            </a:pPr>
            <a:r>
              <a:rPr lang="en-US" sz="1400" b="1" dirty="0">
                <a:solidFill>
                  <a:srgbClr val="334155"/>
                </a:solidFill>
                <a:latin typeface="Georgia Pro Cond Light" panose="02040306050405020303" charset="0"/>
                <a:ea typeface="SimSun" panose="02010600030101010101" pitchFamily="2" charset="-122"/>
                <a:cs typeface="Georgia Pro Cond Light" panose="02040306050405020303" charset="0"/>
              </a:rPr>
              <a:t>Outlier Capping</a:t>
            </a:r>
            <a:r>
              <a:rPr lang="en-US" sz="1400" dirty="0">
                <a:solidFill>
                  <a:srgbClr val="334155"/>
                </a:solidFill>
                <a:latin typeface="Georgia Pro Cond Light" panose="02040306050405020303" charset="0"/>
                <a:ea typeface="SimSun" panose="02010600030101010101" pitchFamily="2" charset="-122"/>
                <a:cs typeface="Georgia Pro Cond Light" panose="02040306050405020303" charset="0"/>
              </a:rPr>
              <a:t> — clip at 1st–99th percentile to remove extreme values</a:t>
            </a:r>
            <a:endParaRPr lang="en-US" sz="1400" dirty="0">
              <a:latin typeface="Georgia Pro Cond Light" panose="02040306050405020303" charset="0"/>
              <a:cs typeface="Georgia Pro Cond Light" panose="02040306050405020303" charset="0"/>
            </a:endParaRPr>
          </a:p>
        </p:txBody>
      </p:sp>
      <p:sp>
        <p:nvSpPr>
          <p:cNvPr id="43" name="Text 24"/>
          <p:cNvSpPr/>
          <p:nvPr/>
        </p:nvSpPr>
        <p:spPr>
          <a:xfrm>
            <a:off x="6557010" y="3043555"/>
            <a:ext cx="4399280" cy="586740"/>
          </a:xfrm>
          <a:prstGeom prst="rect">
            <a:avLst/>
          </a:prstGeom>
          <a:noFill/>
        </p:spPr>
        <p:txBody>
          <a:bodyPr wrap="square" lIns="0" tIns="0" rIns="0" bIns="0" rtlCol="0" anchor="t"/>
          <a:lstStyle/>
          <a:p>
            <a:pPr marL="0" indent="0">
              <a:lnSpc>
                <a:spcPts val="1440"/>
              </a:lnSpc>
              <a:buNone/>
            </a:pPr>
            <a:r>
              <a:rPr lang="en-US" sz="1400" b="1" dirty="0">
                <a:solidFill>
                  <a:srgbClr val="334155"/>
                </a:solidFill>
                <a:latin typeface="Georgia Pro Cond Light" panose="02040306050405020303" charset="0"/>
                <a:ea typeface="SimSun" panose="02010600030101010101" pitchFamily="2" charset="-122"/>
                <a:cs typeface="Georgia Pro Cond Light" panose="02040306050405020303" charset="0"/>
              </a:rPr>
              <a:t>Yeo-Johnson Transform</a:t>
            </a:r>
            <a:r>
              <a:rPr lang="en-US" sz="1400" dirty="0">
                <a:solidFill>
                  <a:srgbClr val="334155"/>
                </a:solidFill>
                <a:latin typeface="Georgia Pro Cond Light" panose="02040306050405020303" charset="0"/>
                <a:ea typeface="SimSun" panose="02010600030101010101" pitchFamily="2" charset="-122"/>
                <a:cs typeface="Georgia Pro Cond Light" panose="02040306050405020303" charset="0"/>
              </a:rPr>
              <a:t> — normalize skewed distributions (handles zeros &amp; negatives)</a:t>
            </a:r>
            <a:endParaRPr lang="en-US" sz="1400" dirty="0">
              <a:latin typeface="Georgia Pro Cond Light" panose="02040306050405020303" charset="0"/>
              <a:cs typeface="Georgia Pro Cond Light" panose="02040306050405020303" charset="0"/>
            </a:endParaRPr>
          </a:p>
        </p:txBody>
      </p:sp>
      <p:sp>
        <p:nvSpPr>
          <p:cNvPr id="44" name="Text 25"/>
          <p:cNvSpPr/>
          <p:nvPr/>
        </p:nvSpPr>
        <p:spPr>
          <a:xfrm>
            <a:off x="6557010" y="3736975"/>
            <a:ext cx="4399280" cy="586740"/>
          </a:xfrm>
          <a:prstGeom prst="rect">
            <a:avLst/>
          </a:prstGeom>
          <a:noFill/>
        </p:spPr>
        <p:txBody>
          <a:bodyPr wrap="square" lIns="0" tIns="0" rIns="0" bIns="0" rtlCol="0" anchor="t"/>
          <a:lstStyle/>
          <a:p>
            <a:pPr marL="0" indent="0">
              <a:lnSpc>
                <a:spcPts val="1440"/>
              </a:lnSpc>
              <a:buNone/>
            </a:pPr>
            <a:r>
              <a:rPr lang="en-US" sz="1400" b="1" dirty="0">
                <a:solidFill>
                  <a:srgbClr val="334155"/>
                </a:solidFill>
                <a:latin typeface="Georgia Pro Cond Light" panose="02040306050405020303" charset="0"/>
                <a:ea typeface="SimSun" panose="02010600030101010101" pitchFamily="2" charset="-122"/>
                <a:cs typeface="Georgia Pro Cond Light" panose="02040306050405020303" charset="0"/>
              </a:rPr>
              <a:t>Robust Scaling</a:t>
            </a:r>
            <a:r>
              <a:rPr lang="en-US" sz="1400" dirty="0">
                <a:solidFill>
                  <a:srgbClr val="334155"/>
                </a:solidFill>
                <a:latin typeface="Georgia Pro Cond Light" panose="02040306050405020303" charset="0"/>
                <a:ea typeface="SimSun" panose="02010600030101010101" pitchFamily="2" charset="-122"/>
                <a:cs typeface="Georgia Pro Cond Light" panose="02040306050405020303" charset="0"/>
              </a:rPr>
              <a:t> — scale using median &amp; IQR, immune to residual outliers</a:t>
            </a:r>
            <a:endParaRPr lang="en-US" sz="1400" dirty="0">
              <a:latin typeface="Georgia Pro Cond Light" panose="02040306050405020303" charset="0"/>
              <a:cs typeface="Georgia Pro Cond Light" panose="02040306050405020303" charset="0"/>
            </a:endParaRPr>
          </a:p>
        </p:txBody>
      </p:sp>
      <p:sp>
        <p:nvSpPr>
          <p:cNvPr id="45" name="Text Box 44"/>
          <p:cNvSpPr txBox="1"/>
          <p:nvPr/>
        </p:nvSpPr>
        <p:spPr>
          <a:xfrm>
            <a:off x="6117590" y="1804035"/>
            <a:ext cx="4064000" cy="438150"/>
          </a:xfrm>
          <a:prstGeom prst="rect">
            <a:avLst/>
          </a:prstGeom>
          <a:noFill/>
        </p:spPr>
        <p:txBody>
          <a:bodyPr wrap="square" rtlCol="0">
            <a:noAutofit/>
          </a:bodyPr>
          <a:p>
            <a:r>
              <a:rPr lang="en-US" dirty="0">
                <a:solidFill>
                  <a:srgbClr val="C00000"/>
                </a:solidFill>
                <a:latin typeface="Georgia Pro Cond" panose="02040506050405020303" charset="0"/>
                <a:ea typeface="SimSun" panose="02010600030101010101" pitchFamily="2" charset="-122"/>
                <a:cs typeface="Georgia Pro Cond" panose="02040506050405020303" charset="0"/>
                <a:sym typeface="+mn-ea"/>
              </a:rPr>
              <a:t>Preprocessing Pipeline</a:t>
            </a:r>
            <a:endParaRPr lang="en-US" dirty="0">
              <a:solidFill>
                <a:srgbClr val="C00000"/>
              </a:solidFill>
              <a:latin typeface="Georgia Pro Cond" panose="02040506050405020303" charset="0"/>
              <a:ea typeface="SimSun" panose="02010600030101010101" pitchFamily="2" charset="-122"/>
              <a:cs typeface="Georgia Pro Cond" panose="02040506050405020303" charset="0"/>
            </a:endParaRPr>
          </a:p>
          <a:p>
            <a:endParaRPr lang="en-GB" altLang="en-US"/>
          </a:p>
        </p:txBody>
      </p:sp>
      <p:sp>
        <p:nvSpPr>
          <p:cNvPr id="53" name="Text Box 52"/>
          <p:cNvSpPr txBox="1"/>
          <p:nvPr/>
        </p:nvSpPr>
        <p:spPr>
          <a:xfrm>
            <a:off x="5610225" y="4472940"/>
            <a:ext cx="5391785" cy="1322070"/>
          </a:xfrm>
          <a:prstGeom prst="rect">
            <a:avLst/>
          </a:prstGeom>
          <a:pattFill prst="pct10">
            <a:fgClr>
              <a:schemeClr val="bg2"/>
            </a:fgClr>
            <a:bgClr>
              <a:schemeClr val="accent4">
                <a:lumMod val="60000"/>
                <a:lumOff val="40000"/>
              </a:schemeClr>
            </a:bgClr>
          </a:pattFill>
          <a:effectLst>
            <a:outerShdw blurRad="50800" dist="38100" dir="5400000" algn="t" rotWithShape="0">
              <a:prstClr val="black">
                <a:alpha val="40000"/>
              </a:prstClr>
            </a:outerShdw>
            <a:softEdge rad="25400"/>
          </a:effectLst>
        </p:spPr>
        <p:txBody>
          <a:bodyPr wrap="square" rtlCol="0" anchor="t">
            <a:spAutoFit/>
          </a:bodyPr>
          <a:p>
            <a:pPr algn="l"/>
            <a:r>
              <a:rPr lang="en-US" altLang="en-GB" sz="1000">
                <a:latin typeface="Cascadia Code" panose="020B0609020000020004" charset="0"/>
                <a:cs typeface="Cascadia Code" panose="020B0609020000020004" charset="0"/>
              </a:rPr>
              <a:t>rfm["Monetary"].clip(upper=rfm["Monetary"].quantile(0.99))</a:t>
            </a:r>
            <a:endParaRPr lang="en-US" altLang="en-GB" sz="1000">
              <a:latin typeface="Cascadia Code" panose="020B0609020000020004" charset="0"/>
              <a:cs typeface="Cascadia Code" panose="020B0609020000020004" charset="0"/>
            </a:endParaRPr>
          </a:p>
          <a:p>
            <a:pPr algn="l"/>
            <a:r>
              <a:rPr lang="en-US" altLang="en-GB" sz="1000">
                <a:latin typeface="Cascadia Code" panose="020B0609020000020004" charset="0"/>
                <a:cs typeface="Cascadia Code" panose="020B0609020000020004" charset="0"/>
              </a:rPr>
              <a:t>rfm["Frequency"].clip(upper=rfm["Frequency"].quantile(0.99))</a:t>
            </a:r>
            <a:endParaRPr lang="en-US" altLang="en-GB" sz="1000">
              <a:latin typeface="Cascadia Code" panose="020B0609020000020004" charset="0"/>
              <a:cs typeface="Cascadia Code" panose="020B0609020000020004" charset="0"/>
            </a:endParaRPr>
          </a:p>
          <a:p>
            <a:pPr algn="l"/>
            <a:r>
              <a:rPr lang="en-US" altLang="en-GB" sz="1000">
                <a:latin typeface="Cascadia Code" panose="020B0609020000020004" charset="0"/>
                <a:cs typeface="Cascadia Code" panose="020B0609020000020004" charset="0"/>
              </a:rPr>
              <a:t>rfm["AvgOrderValue"].clip(upper=rfm["AvgOrderValue"].quantile(0.99))</a:t>
            </a:r>
            <a:endParaRPr lang="en-US" altLang="en-GB" sz="1000">
              <a:latin typeface="Cascadia Code" panose="020B0609020000020004" charset="0"/>
              <a:cs typeface="Cascadia Code" panose="020B0609020000020004" charset="0"/>
            </a:endParaRPr>
          </a:p>
          <a:p>
            <a:pPr algn="l"/>
            <a:endParaRPr lang="en-US" altLang="en-GB" sz="1000">
              <a:latin typeface="Cascadia Code" panose="020B0609020000020004" charset="0"/>
              <a:cs typeface="Cascadia Code" panose="020B0609020000020004" charset="0"/>
            </a:endParaRPr>
          </a:p>
          <a:p>
            <a:pPr algn="l"/>
            <a:r>
              <a:rPr lang="en-US" altLang="en-GB" sz="1000">
                <a:latin typeface="Cascadia Code" panose="020B0609020000020004" charset="0"/>
                <a:cs typeface="Cascadia Code" panose="020B0609020000020004" charset="0"/>
              </a:rPr>
              <a:t>pt = PowerTransformer(method='yeo-johnson')</a:t>
            </a:r>
            <a:endParaRPr lang="en-US" altLang="en-GB" sz="1000">
              <a:latin typeface="Cascadia Code" panose="020B0609020000020004" charset="0"/>
              <a:cs typeface="Cascadia Code" panose="020B0609020000020004" charset="0"/>
            </a:endParaRPr>
          </a:p>
          <a:p>
            <a:pPr algn="l"/>
            <a:r>
              <a:rPr lang="en-US" altLang="en-GB" sz="1000">
                <a:latin typeface="Cascadia Code" panose="020B0609020000020004" charset="0"/>
                <a:cs typeface="Cascadia Code" panose="020B0609020000020004" charset="0"/>
              </a:rPr>
              <a:t>pt.fit_transform(rfm[features])</a:t>
            </a:r>
            <a:endParaRPr lang="en-US" altLang="en-GB" sz="1000">
              <a:latin typeface="Cascadia Code" panose="020B0609020000020004" charset="0"/>
              <a:cs typeface="Cascadia Code" panose="020B0609020000020004" charset="0"/>
            </a:endParaRPr>
          </a:p>
          <a:p>
            <a:pPr algn="l"/>
            <a:endParaRPr lang="en-US" altLang="en-GB" sz="1000">
              <a:latin typeface="Cascadia Code" panose="020B0609020000020004" charset="0"/>
              <a:cs typeface="Cascadia Code" panose="020B0609020000020004" charset="0"/>
            </a:endParaRPr>
          </a:p>
          <a:p>
            <a:pPr algn="l"/>
            <a:r>
              <a:rPr lang="en-US" altLang="en-GB" sz="1000">
                <a:latin typeface="Cascadia Code" panose="020B0609020000020004" charset="0"/>
                <a:cs typeface="Cascadia Code" panose="020B0609020000020004" charset="0"/>
              </a:rPr>
              <a:t>RobustScaler().fit_transform(rfm[features])</a:t>
            </a:r>
            <a:endParaRPr lang="en-US" altLang="en-GB" sz="1000">
              <a:latin typeface="Cascadia Code" panose="020B0609020000020004" charset="0"/>
              <a:cs typeface="Cascadia Code" panose="020B060902000002000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直角三角形 28"/>
          <p:cNvSpPr/>
          <p:nvPr>
            <p:custDataLst>
              <p:tags r:id="rId1"/>
            </p:custDataLst>
          </p:nvPr>
        </p:nvSpPr>
        <p:spPr>
          <a:xfrm flipH="1" flipV="1">
            <a:off x="4542155" y="1866900"/>
            <a:ext cx="173355" cy="222250"/>
          </a:xfrm>
          <a:prstGeom prst="rtTriangle">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en-US">
              <a:latin typeface="Arial" panose="020B0604020202020204" pitchFamily="34" charset="0"/>
              <a:sym typeface="Arial" panose="020B0604020202020204" pitchFamily="34" charset="0"/>
            </a:endParaRPr>
          </a:p>
        </p:txBody>
      </p:sp>
      <p:sp>
        <p:nvSpPr>
          <p:cNvPr id="2" name="Title 1"/>
          <p:cNvSpPr>
            <a:spLocks noGrp="1"/>
          </p:cNvSpPr>
          <p:nvPr>
            <p:ph type="title"/>
          </p:nvPr>
        </p:nvSpPr>
        <p:spPr>
          <a:xfrm>
            <a:off x="678884" y="352841"/>
            <a:ext cx="10834234" cy="612775"/>
          </a:xfrm>
        </p:spPr>
        <p:txBody>
          <a:bodyPr/>
          <a:p>
            <a:r>
              <a:rPr lang="en-US" dirty="0">
                <a:solidFill>
                  <a:srgbClr val="0F172A"/>
                </a:solidFill>
                <a:latin typeface="Georgia Pro Cond Light" panose="02040306050405020303" charset="0"/>
                <a:ea typeface="SimSun" panose="02010600030101010101" pitchFamily="2" charset="-122"/>
                <a:cs typeface="Georgia Pro Cond Light" panose="02040306050405020303" charset="0"/>
                <a:sym typeface="+mn-ea"/>
              </a:rPr>
              <a:t> Customer Segmentation Methodology</a:t>
            </a:r>
            <a:endParaRPr lang="en-GB" altLang="en-US"/>
          </a:p>
        </p:txBody>
      </p:sp>
      <p:sp>
        <p:nvSpPr>
          <p:cNvPr id="5" name="直角三角形 1"/>
          <p:cNvSpPr/>
          <p:nvPr>
            <p:custDataLst>
              <p:tags r:id="rId2"/>
            </p:custDataLst>
          </p:nvPr>
        </p:nvSpPr>
        <p:spPr>
          <a:xfrm flipH="1" flipV="1">
            <a:off x="651510" y="1866900"/>
            <a:ext cx="129540" cy="175895"/>
          </a:xfrm>
          <a:prstGeom prst="rtTriangle">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en-US">
              <a:latin typeface="Arial" panose="020B0604020202020204" pitchFamily="34" charset="0"/>
              <a:sym typeface="Arial" panose="020B0604020202020204" pitchFamily="34" charset="0"/>
            </a:endParaRPr>
          </a:p>
        </p:txBody>
      </p:sp>
      <p:sp>
        <p:nvSpPr>
          <p:cNvPr id="29" name="直角三角形 28"/>
          <p:cNvSpPr/>
          <p:nvPr>
            <p:custDataLst>
              <p:tags r:id="rId3"/>
            </p:custDataLst>
          </p:nvPr>
        </p:nvSpPr>
        <p:spPr>
          <a:xfrm flipH="1" flipV="1">
            <a:off x="8597900" y="1866900"/>
            <a:ext cx="172720" cy="175895"/>
          </a:xfrm>
          <a:prstGeom prst="rtTriangle">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en-US">
              <a:latin typeface="Arial" panose="020B0604020202020204" pitchFamily="34" charset="0"/>
              <a:sym typeface="Arial" panose="020B0604020202020204" pitchFamily="34" charset="0"/>
            </a:endParaRPr>
          </a:p>
        </p:txBody>
      </p:sp>
      <p:sp>
        <p:nvSpPr>
          <p:cNvPr id="8" name="直角三角形 28"/>
          <p:cNvSpPr/>
          <p:nvPr>
            <p:custDataLst>
              <p:tags r:id="rId4"/>
            </p:custDataLst>
          </p:nvPr>
        </p:nvSpPr>
        <p:spPr>
          <a:xfrm flipH="1" flipV="1">
            <a:off x="8253730" y="1874520"/>
            <a:ext cx="172720" cy="175895"/>
          </a:xfrm>
          <a:prstGeom prst="rtTriangle">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en-US">
              <a:latin typeface="Arial" panose="020B0604020202020204" pitchFamily="34" charset="0"/>
              <a:sym typeface="Arial" panose="020B0604020202020204" pitchFamily="34" charset="0"/>
            </a:endParaRPr>
          </a:p>
        </p:txBody>
      </p:sp>
      <p:sp>
        <p:nvSpPr>
          <p:cNvPr id="9" name="矩形: 圆角 29"/>
          <p:cNvSpPr/>
          <p:nvPr>
            <p:custDataLst>
              <p:tags r:id="rId5"/>
            </p:custDataLst>
          </p:nvPr>
        </p:nvSpPr>
        <p:spPr>
          <a:xfrm>
            <a:off x="4669790" y="1647190"/>
            <a:ext cx="2898775" cy="2969260"/>
          </a:xfrm>
          <a:prstGeom prst="roundRect">
            <a:avLst>
              <a:gd name="adj" fmla="val 8073"/>
            </a:avLst>
          </a:prstGeom>
          <a:solidFill>
            <a:srgbClr val="FFFFFF"/>
          </a:solidFill>
          <a:ln>
            <a:solidFill>
              <a:schemeClr val="accent1">
                <a:lumMod val="20000"/>
                <a:lumOff val="80000"/>
              </a:schemeClr>
            </a:solidFill>
          </a:ln>
          <a:effectLst>
            <a:outerShdw blurRad="203200" dist="76200" dir="8100000" algn="tr" rotWithShape="0">
              <a:schemeClr val="accent1">
                <a:lumMod val="75000"/>
                <a:alpha val="20000"/>
              </a:schemeClr>
            </a:outerShdw>
          </a:effectLst>
        </p:spPr>
        <p:style>
          <a:lnRef idx="1">
            <a:schemeClr val="accent1"/>
          </a:lnRef>
          <a:fillRef idx="2">
            <a:schemeClr val="accent1"/>
          </a:fillRef>
          <a:effectRef idx="1">
            <a:schemeClr val="accent1"/>
          </a:effectRef>
          <a:fontRef idx="minor">
            <a:schemeClr val="dk1"/>
          </a:fontRef>
        </p:style>
        <p:txBody>
          <a:bodyPr vertOverflow="overflow" horzOverflow="overflow" vert="horz" wrap="square" lIns="360045" tIns="360045" rIns="360045" bIns="360045" numCol="1" spcCol="0" rtlCol="0" fromWordArt="0" anchor="ctr" anchorCtr="0" forceAA="0" compatLnSpc="1">
            <a:normAutofit lnSpcReduction="10000"/>
          </a:bodyPr>
          <a:p>
            <a:pPr indent="0">
              <a:lnSpc>
                <a:spcPct val="100000"/>
              </a:lnSpc>
              <a:buSzPct val="100000"/>
              <a:buNone/>
            </a:pPr>
            <a:r>
              <a:rPr lang="en-US" altLang="en-US" sz="1400" kern="0" dirty="0">
                <a:ln>
                  <a:noFill/>
                  <a:prstDash val="sysDot"/>
                </a:ln>
                <a:solidFill>
                  <a:srgbClr val="292929"/>
                </a:solidFill>
                <a:latin typeface="Georgia Pro Cond Light" panose="02040306050405020303" charset="0"/>
                <a:cs typeface="Georgia Pro Cond Light" panose="02040306050405020303" charset="0"/>
                <a:sym typeface="+mn-ea"/>
              </a:rPr>
              <a:t>→</a:t>
            </a:r>
            <a:r>
              <a:rPr lang="en-US" altLang="en-GB" sz="1400" kern="0" dirty="0">
                <a:ln>
                  <a:noFill/>
                  <a:prstDash val="sysDot"/>
                </a:ln>
                <a:solidFill>
                  <a:srgbClr val="292929"/>
                </a:solidFill>
                <a:latin typeface="Georgia Pro Cond Light" panose="02040306050405020303" charset="0"/>
                <a:cs typeface="Georgia Pro Cond Light" panose="02040306050405020303" charset="0"/>
                <a:sym typeface="+mn-ea"/>
              </a:rPr>
              <a:t> Gaussian mixture distributions</a:t>
            </a:r>
            <a:endParaRPr lang="en-US" altLang="en-GB" sz="1400" kern="0" dirty="0">
              <a:ln>
                <a:noFill/>
                <a:prstDash val="sysDot"/>
              </a:ln>
              <a:solidFill>
                <a:srgbClr val="292929"/>
              </a:solidFill>
              <a:latin typeface="Georgia Pro Cond Light" panose="02040306050405020303" charset="0"/>
              <a:cs typeface="Georgia Pro Cond Light" panose="02040306050405020303" charset="0"/>
              <a:sym typeface="+mn-ea"/>
            </a:endParaRPr>
          </a:p>
          <a:p>
            <a:pPr indent="0">
              <a:lnSpc>
                <a:spcPct val="100000"/>
              </a:lnSpc>
              <a:buSzPct val="100000"/>
              <a:buNone/>
            </a:pPr>
            <a:r>
              <a:rPr lang="en-US" altLang="en-US" sz="1400" kern="0" dirty="0">
                <a:ln>
                  <a:noFill/>
                  <a:prstDash val="sysDot"/>
                </a:ln>
                <a:solidFill>
                  <a:srgbClr val="292929"/>
                </a:solidFill>
                <a:latin typeface="Georgia Pro Cond Light" panose="02040306050405020303" charset="0"/>
                <a:cs typeface="Georgia Pro Cond Light" panose="02040306050405020303" charset="0"/>
                <a:sym typeface="+mn-ea"/>
              </a:rPr>
              <a:t>→</a:t>
            </a:r>
            <a:r>
              <a:rPr lang="en-US" altLang="en-GB" sz="1400" kern="0" dirty="0">
                <a:ln>
                  <a:noFill/>
                  <a:prstDash val="sysDot"/>
                </a:ln>
                <a:solidFill>
                  <a:srgbClr val="292929"/>
                </a:solidFill>
                <a:latin typeface="Georgia Pro Cond Light" panose="02040306050405020303" charset="0"/>
                <a:cs typeface="Georgia Pro Cond Light" panose="02040306050405020303" charset="0"/>
                <a:sym typeface="+mn-ea"/>
              </a:rPr>
              <a:t> Log-likelihood risk scoring</a:t>
            </a:r>
            <a:endParaRPr lang="en-US" altLang="en-GB" sz="1400" kern="0" dirty="0">
              <a:ln>
                <a:noFill/>
                <a:prstDash val="sysDot"/>
              </a:ln>
              <a:solidFill>
                <a:srgbClr val="292929"/>
              </a:solidFill>
              <a:latin typeface="Georgia Pro Cond Light" panose="02040306050405020303" charset="0"/>
              <a:cs typeface="Georgia Pro Cond Light" panose="02040306050405020303" charset="0"/>
              <a:sym typeface="+mn-ea"/>
            </a:endParaRPr>
          </a:p>
          <a:p>
            <a:pPr indent="0">
              <a:lnSpc>
                <a:spcPct val="100000"/>
              </a:lnSpc>
              <a:buSzPct val="100000"/>
              <a:buNone/>
            </a:pPr>
            <a:r>
              <a:rPr lang="en-US" altLang="en-US" sz="1400" kern="0" dirty="0">
                <a:ln>
                  <a:noFill/>
                  <a:prstDash val="sysDot"/>
                </a:ln>
                <a:solidFill>
                  <a:srgbClr val="292929"/>
                </a:solidFill>
                <a:latin typeface="Georgia Pro Cond Light" panose="02040306050405020303" charset="0"/>
                <a:cs typeface="Georgia Pro Cond Light" panose="02040306050405020303" charset="0"/>
                <a:sym typeface="+mn-ea"/>
              </a:rPr>
              <a:t>→</a:t>
            </a:r>
            <a:r>
              <a:rPr lang="en-US" altLang="en-GB" sz="1400" kern="0" dirty="0">
                <a:ln>
                  <a:noFill/>
                  <a:prstDash val="sysDot"/>
                </a:ln>
                <a:solidFill>
                  <a:srgbClr val="292929"/>
                </a:solidFill>
                <a:latin typeface="Georgia Pro Cond Light" panose="02040306050405020303" charset="0"/>
                <a:cs typeface="Georgia Pro Cond Light" panose="02040306050405020303" charset="0"/>
                <a:sym typeface="+mn-ea"/>
              </a:rPr>
              <a:t> BIC: n=4 components</a:t>
            </a:r>
            <a:endParaRPr lang="en-US" altLang="en-GB" sz="1400" kern="0" dirty="0">
              <a:ln>
                <a:noFill/>
                <a:prstDash val="sysDot"/>
              </a:ln>
              <a:solidFill>
                <a:srgbClr val="292929"/>
              </a:solidFill>
              <a:latin typeface="Georgia Pro Cond Light" panose="02040306050405020303" charset="0"/>
              <a:cs typeface="Georgia Pro Cond Light" panose="02040306050405020303" charset="0"/>
              <a:sym typeface="+mn-ea"/>
            </a:endParaRPr>
          </a:p>
          <a:p>
            <a:pPr indent="0">
              <a:lnSpc>
                <a:spcPct val="100000"/>
              </a:lnSpc>
              <a:buSzPct val="100000"/>
              <a:buNone/>
            </a:pPr>
            <a:r>
              <a:rPr lang="en-US" altLang="en-US" sz="1400" kern="0" dirty="0">
                <a:ln>
                  <a:noFill/>
                  <a:prstDash val="sysDot"/>
                </a:ln>
                <a:solidFill>
                  <a:srgbClr val="292929"/>
                </a:solidFill>
                <a:latin typeface="Georgia Pro Cond Light" panose="02040306050405020303" charset="0"/>
                <a:cs typeface="Georgia Pro Cond Light" panose="02040306050405020303" charset="0"/>
                <a:sym typeface="+mn-ea"/>
              </a:rPr>
              <a:t>→</a:t>
            </a:r>
            <a:r>
              <a:rPr lang="en-US" altLang="en-GB" sz="1400" kern="0" dirty="0">
                <a:ln>
                  <a:noFill/>
                  <a:prstDash val="sysDot"/>
                </a:ln>
                <a:solidFill>
                  <a:srgbClr val="292929"/>
                </a:solidFill>
                <a:latin typeface="Georgia Pro Cond Light" panose="02040306050405020303" charset="0"/>
                <a:cs typeface="Georgia Pro Cond Light" panose="02040306050405020303" charset="0"/>
                <a:sym typeface="+mn-ea"/>
              </a:rPr>
              <a:t> Covariance: full matrix</a:t>
            </a:r>
            <a:endParaRPr lang="en-US" sz="1400" kern="0" dirty="0">
              <a:ln>
                <a:noFill/>
                <a:prstDash val="sysDot"/>
              </a:ln>
              <a:solidFill>
                <a:srgbClr val="292929"/>
              </a:solidFill>
              <a:latin typeface="Georgia Pro Cond Light" panose="02040306050405020303" charset="0"/>
              <a:cs typeface="Georgia Pro Cond Light" panose="02040306050405020303" charset="0"/>
              <a:sym typeface="+mn-ea"/>
            </a:endParaRPr>
          </a:p>
        </p:txBody>
      </p:sp>
      <p:sp>
        <p:nvSpPr>
          <p:cNvPr id="10" name="矩形: 单圆角 30"/>
          <p:cNvSpPr/>
          <p:nvPr>
            <p:custDataLst>
              <p:tags r:id="rId6"/>
            </p:custDataLst>
          </p:nvPr>
        </p:nvSpPr>
        <p:spPr>
          <a:xfrm>
            <a:off x="4540885" y="1482725"/>
            <a:ext cx="3033395" cy="391795"/>
          </a:xfrm>
          <a:prstGeom prst="round1Rect">
            <a:avLst/>
          </a:prstGeom>
          <a:solidFill>
            <a:schemeClr val="accent2">
              <a:lumMod val="50000"/>
              <a:alpha val="88000"/>
            </a:schemeClr>
          </a:solidFill>
          <a:ln>
            <a:noFill/>
          </a:ln>
          <a:effectLst>
            <a:outerShdw blurRad="203200" dist="76200" dir="8100000" algn="tr" rotWithShape="0">
              <a:schemeClr val="accent1">
                <a:lumMod val="75000"/>
                <a:alpha val="20000"/>
              </a:schemeClr>
            </a:outerShdw>
          </a:effectLst>
        </p:spPr>
        <p:style>
          <a:lnRef idx="1">
            <a:schemeClr val="accent1"/>
          </a:lnRef>
          <a:fillRef idx="2">
            <a:schemeClr val="accent1"/>
          </a:fillRef>
          <a:effectRef idx="1">
            <a:schemeClr val="accent1"/>
          </a:effectRef>
          <a:fontRef idx="minor">
            <a:schemeClr val="dk1"/>
          </a:fontRef>
        </p:style>
        <p:txBody>
          <a:bodyPr vertOverflow="overflow" horzOverflow="overflow" vert="horz" wrap="square" numCol="1" spcCol="0" rtlCol="0" fromWordArt="0" anchor="ctr" anchorCtr="0" forceAA="0" compatLnSpc="1">
            <a:normAutofit fontScale="90000"/>
          </a:bodyPr>
          <a:p>
            <a:pPr indent="452755" algn="l"/>
            <a:r>
              <a:rPr lang="en-US" sz="2000" b="1" dirty="0">
                <a:solidFill>
                  <a:schemeClr val="lt1">
                    <a:lumMod val="100000"/>
                  </a:schemeClr>
                </a:solidFill>
                <a:latin typeface="+mj-lt"/>
                <a:sym typeface="+mn-ea"/>
              </a:rPr>
              <a:t>GMM Clusters</a:t>
            </a:r>
            <a:endParaRPr lang="en-US" sz="2000" b="1" dirty="0">
              <a:solidFill>
                <a:schemeClr val="lt1">
                  <a:lumMod val="100000"/>
                </a:schemeClr>
              </a:solidFill>
              <a:latin typeface="+mj-lt"/>
              <a:sym typeface="+mn-ea"/>
            </a:endParaRPr>
          </a:p>
        </p:txBody>
      </p:sp>
      <p:sp>
        <p:nvSpPr>
          <p:cNvPr id="30" name="矩形: 圆角 29"/>
          <p:cNvSpPr/>
          <p:nvPr>
            <p:custDataLst>
              <p:tags r:id="rId7"/>
            </p:custDataLst>
          </p:nvPr>
        </p:nvSpPr>
        <p:spPr>
          <a:xfrm>
            <a:off x="8380730" y="1675765"/>
            <a:ext cx="2913380" cy="2940050"/>
          </a:xfrm>
          <a:prstGeom prst="roundRect">
            <a:avLst>
              <a:gd name="adj" fmla="val 8073"/>
            </a:avLst>
          </a:prstGeom>
          <a:solidFill>
            <a:srgbClr val="FFFFFF"/>
          </a:solidFill>
          <a:ln>
            <a:solidFill>
              <a:schemeClr val="accent1">
                <a:lumMod val="20000"/>
                <a:lumOff val="80000"/>
              </a:schemeClr>
            </a:solidFill>
          </a:ln>
          <a:effectLst>
            <a:outerShdw blurRad="203200" dist="76200" dir="8100000" algn="tr" rotWithShape="0">
              <a:schemeClr val="accent1">
                <a:lumMod val="75000"/>
                <a:alpha val="20000"/>
              </a:schemeClr>
            </a:outerShdw>
          </a:effectLst>
        </p:spPr>
        <p:style>
          <a:lnRef idx="1">
            <a:schemeClr val="accent1"/>
          </a:lnRef>
          <a:fillRef idx="2">
            <a:schemeClr val="accent1"/>
          </a:fillRef>
          <a:effectRef idx="1">
            <a:schemeClr val="accent1"/>
          </a:effectRef>
          <a:fontRef idx="minor">
            <a:schemeClr val="dk1"/>
          </a:fontRef>
        </p:style>
        <p:txBody>
          <a:bodyPr vertOverflow="overflow" horzOverflow="overflow" vert="horz" wrap="square" lIns="360045" tIns="360045" rIns="360045" bIns="360045" numCol="1" spcCol="0" rtlCol="0" fromWordArt="0" anchor="ctr" anchorCtr="0" forceAA="0" compatLnSpc="1">
            <a:normAutofit/>
          </a:bodyPr>
          <a:p>
            <a:pPr indent="0" rtl="0" eaLnBrk="1" hangingPunct="1">
              <a:lnSpc>
                <a:spcPct val="150000"/>
              </a:lnSpc>
              <a:spcBef>
                <a:spcPts val="0"/>
              </a:spcBef>
              <a:spcAft>
                <a:spcPts val="0"/>
              </a:spcAft>
              <a:buNone/>
            </a:pPr>
            <a:r>
              <a:rPr lang="en-US" sz="1600" kern="0" dirty="0">
                <a:ln>
                  <a:noFill/>
                  <a:prstDash val="sysDot"/>
                </a:ln>
                <a:solidFill>
                  <a:srgbClr val="292929"/>
                </a:solidFill>
                <a:latin typeface="Georgia Pro Cond Light" panose="02040306050405020303" charset="0"/>
                <a:cs typeface="Georgia Pro Cond Light" panose="02040306050405020303" charset="0"/>
                <a:sym typeface="+mn-ea"/>
              </a:rPr>
              <a:t>VIP </a:t>
            </a:r>
            <a:r>
              <a:rPr lang="en-US" altLang="en-US" sz="1600" kern="0" dirty="0">
                <a:ln>
                  <a:noFill/>
                  <a:prstDash val="sysDot"/>
                </a:ln>
                <a:solidFill>
                  <a:srgbClr val="292929"/>
                </a:solidFill>
                <a:latin typeface="Georgia Pro Cond Light" panose="02040306050405020303" charset="0"/>
                <a:cs typeface="Georgia Pro Cond Light" panose="02040306050405020303" charset="0"/>
                <a:sym typeface="+mn-ea"/>
              </a:rPr>
              <a:t>→</a:t>
            </a:r>
            <a:r>
              <a:rPr lang="en-US" altLang="en-GB" sz="1600" kern="0" dirty="0">
                <a:ln>
                  <a:noFill/>
                  <a:prstDash val="sysDot"/>
                </a:ln>
                <a:solidFill>
                  <a:srgbClr val="292929"/>
                </a:solidFill>
                <a:latin typeface="Georgia Pro Cond Light" panose="02040306050405020303" charset="0"/>
                <a:cs typeface="Georgia Pro Cond Light" panose="02040306050405020303" charset="0"/>
                <a:sym typeface="+mn-ea"/>
              </a:rPr>
              <a:t> </a:t>
            </a:r>
            <a:r>
              <a:rPr lang="en-US" sz="1600" kern="0" dirty="0">
                <a:ln>
                  <a:noFill/>
                  <a:prstDash val="sysDot"/>
                </a:ln>
                <a:solidFill>
                  <a:srgbClr val="292929"/>
                </a:solidFill>
                <a:latin typeface="Georgia Pro Cond Light" panose="02040306050405020303" charset="0"/>
                <a:cs typeface="Georgia Pro Cond Light" panose="02040306050405020303" charset="0"/>
                <a:sym typeface="+mn-ea"/>
              </a:rPr>
              <a:t> </a:t>
            </a:r>
            <a:r>
              <a:rPr lang="en-US" sz="1600" b="1" kern="0" dirty="0">
                <a:ln>
                  <a:noFill/>
                  <a:prstDash val="sysDot"/>
                </a:ln>
                <a:solidFill>
                  <a:srgbClr val="FF0000"/>
                </a:solidFill>
                <a:latin typeface="Georgia Pro Cond" panose="02040506050405020303" charset="0"/>
                <a:cs typeface="Georgia Pro Cond" panose="02040506050405020303" charset="0"/>
                <a:sym typeface="+mn-ea"/>
              </a:rPr>
              <a:t>↓ </a:t>
            </a:r>
            <a:r>
              <a:rPr lang="en-US" sz="1600" kern="0" dirty="0">
                <a:ln>
                  <a:noFill/>
                  <a:prstDash val="sysDot"/>
                </a:ln>
                <a:solidFill>
                  <a:srgbClr val="292929"/>
                </a:solidFill>
                <a:latin typeface="Georgia Pro Cond Light" panose="02040306050405020303" charset="0"/>
                <a:cs typeface="Georgia Pro Cond Light" panose="02040306050405020303" charset="0"/>
                <a:sym typeface="+mn-ea"/>
              </a:rPr>
              <a:t>R, </a:t>
            </a:r>
            <a:r>
              <a:rPr lang="en-US" sz="1600" b="1" kern="0" dirty="0">
                <a:ln>
                  <a:noFill/>
                  <a:prstDash val="sysDot"/>
                </a:ln>
                <a:solidFill>
                  <a:schemeClr val="accent6"/>
                </a:solidFill>
                <a:latin typeface="Georgia Pro Cond" panose="02040506050405020303" charset="0"/>
                <a:cs typeface="Georgia Pro Cond" panose="02040506050405020303" charset="0"/>
                <a:sym typeface="+mn-ea"/>
              </a:rPr>
              <a:t>↑ </a:t>
            </a:r>
            <a:r>
              <a:rPr lang="en-US" sz="1600" kern="0" dirty="0">
                <a:ln>
                  <a:noFill/>
                  <a:prstDash val="sysDot"/>
                </a:ln>
                <a:solidFill>
                  <a:schemeClr val="tx1"/>
                </a:solidFill>
                <a:latin typeface="Georgia Pro Cond" panose="02040506050405020303" charset="0"/>
                <a:cs typeface="Georgia Pro Cond" panose="02040506050405020303" charset="0"/>
                <a:sym typeface="+mn-ea"/>
              </a:rPr>
              <a:t>(</a:t>
            </a:r>
            <a:r>
              <a:rPr lang="en-US" sz="1600" kern="0" dirty="0">
                <a:ln>
                  <a:noFill/>
                  <a:prstDash val="sysDot"/>
                </a:ln>
                <a:solidFill>
                  <a:srgbClr val="292929"/>
                </a:solidFill>
                <a:latin typeface="Georgia Pro Cond Light" panose="02040306050405020303" charset="0"/>
                <a:cs typeface="Georgia Pro Cond Light" panose="02040306050405020303" charset="0"/>
                <a:sym typeface="+mn-ea"/>
              </a:rPr>
              <a:t>F + M)</a:t>
            </a:r>
            <a:endParaRPr lang="en-US" sz="1600" kern="0" dirty="0">
              <a:ln>
                <a:noFill/>
                <a:prstDash val="sysDot"/>
              </a:ln>
              <a:solidFill>
                <a:srgbClr val="292929"/>
              </a:solidFill>
              <a:latin typeface="Georgia Pro Cond Light" panose="02040306050405020303" charset="0"/>
              <a:cs typeface="Georgia Pro Cond Light" panose="02040306050405020303" charset="0"/>
              <a:sym typeface="+mn-ea"/>
            </a:endParaRPr>
          </a:p>
          <a:p>
            <a:pPr indent="0" rtl="0" eaLnBrk="1" hangingPunct="1">
              <a:lnSpc>
                <a:spcPct val="150000"/>
              </a:lnSpc>
              <a:spcBef>
                <a:spcPts val="0"/>
              </a:spcBef>
              <a:spcAft>
                <a:spcPts val="0"/>
              </a:spcAft>
              <a:buNone/>
            </a:pPr>
            <a:r>
              <a:rPr lang="en-US" sz="1600" kern="0" dirty="0">
                <a:ln>
                  <a:noFill/>
                  <a:prstDash val="sysDot"/>
                </a:ln>
                <a:solidFill>
                  <a:srgbClr val="292929"/>
                </a:solidFill>
                <a:latin typeface="Georgia Pro Cond Light" panose="02040306050405020303" charset="0"/>
                <a:cs typeface="Georgia Pro Cond Light" panose="02040306050405020303" charset="0"/>
                <a:sym typeface="+mn-ea"/>
              </a:rPr>
              <a:t>At Risk </a:t>
            </a:r>
            <a:r>
              <a:rPr lang="en-US" altLang="en-US" sz="1600" kern="0" dirty="0">
                <a:ln>
                  <a:noFill/>
                  <a:prstDash val="sysDot"/>
                </a:ln>
                <a:solidFill>
                  <a:srgbClr val="292929"/>
                </a:solidFill>
                <a:latin typeface="Georgia Pro Cond Light" panose="02040306050405020303" charset="0"/>
                <a:cs typeface="Georgia Pro Cond Light" panose="02040306050405020303" charset="0"/>
                <a:sym typeface="+mn-ea"/>
              </a:rPr>
              <a:t>→</a:t>
            </a:r>
            <a:r>
              <a:rPr lang="en-US" altLang="en-GB" sz="1600" kern="0" dirty="0">
                <a:ln>
                  <a:noFill/>
                  <a:prstDash val="sysDot"/>
                </a:ln>
                <a:solidFill>
                  <a:srgbClr val="292929"/>
                </a:solidFill>
                <a:latin typeface="Georgia Pro Cond Light" panose="02040306050405020303" charset="0"/>
                <a:cs typeface="Georgia Pro Cond Light" panose="02040306050405020303" charset="0"/>
                <a:sym typeface="+mn-ea"/>
              </a:rPr>
              <a:t> </a:t>
            </a:r>
            <a:r>
              <a:rPr lang="en-US" sz="1600" b="1" kern="0" dirty="0">
                <a:ln>
                  <a:noFill/>
                  <a:prstDash val="sysDot"/>
                </a:ln>
                <a:solidFill>
                  <a:schemeClr val="accent6"/>
                </a:solidFill>
                <a:latin typeface="Georgia Pro Cond" panose="02040506050405020303" charset="0"/>
                <a:cs typeface="Georgia Pro Cond" panose="02040506050405020303" charset="0"/>
                <a:sym typeface="+mn-ea"/>
              </a:rPr>
              <a:t>↑ </a:t>
            </a:r>
            <a:r>
              <a:rPr lang="en-US" altLang="en-GB" sz="1600" kern="0" dirty="0">
                <a:ln>
                  <a:noFill/>
                  <a:prstDash val="sysDot"/>
                </a:ln>
                <a:solidFill>
                  <a:srgbClr val="292929"/>
                </a:solidFill>
                <a:latin typeface="Georgia Pro Cond Light" panose="02040306050405020303" charset="0"/>
                <a:cs typeface="Georgia Pro Cond Light" panose="02040306050405020303" charset="0"/>
                <a:sym typeface="+mn-ea"/>
              </a:rPr>
              <a:t>R, </a:t>
            </a:r>
            <a:r>
              <a:rPr lang="en-US" sz="1600" b="1" kern="0" dirty="0">
                <a:ln>
                  <a:noFill/>
                  <a:prstDash val="sysDot"/>
                </a:ln>
                <a:solidFill>
                  <a:srgbClr val="FF0000"/>
                </a:solidFill>
                <a:latin typeface="Georgia Pro Cond" panose="02040506050405020303" charset="0"/>
                <a:cs typeface="Georgia Pro Cond" panose="02040506050405020303" charset="0"/>
                <a:sym typeface="+mn-ea"/>
              </a:rPr>
              <a:t>↓ </a:t>
            </a:r>
            <a:r>
              <a:rPr lang="en-US" altLang="en-GB" sz="1600" kern="0" dirty="0">
                <a:ln>
                  <a:noFill/>
                  <a:prstDash val="sysDot"/>
                </a:ln>
                <a:solidFill>
                  <a:srgbClr val="292929"/>
                </a:solidFill>
                <a:latin typeface="Georgia Pro Cond Light" panose="02040306050405020303" charset="0"/>
                <a:cs typeface="Georgia Pro Cond Light" panose="02040306050405020303" charset="0"/>
                <a:sym typeface="+mn-ea"/>
              </a:rPr>
              <a:t>F</a:t>
            </a:r>
            <a:endParaRPr lang="en-US" sz="1600" kern="0" dirty="0">
              <a:ln>
                <a:noFill/>
                <a:prstDash val="sysDot"/>
              </a:ln>
              <a:solidFill>
                <a:srgbClr val="292929"/>
              </a:solidFill>
              <a:latin typeface="Georgia Pro Cond Light" panose="02040306050405020303" charset="0"/>
              <a:cs typeface="Georgia Pro Cond Light" panose="02040306050405020303" charset="0"/>
              <a:sym typeface="+mn-ea"/>
            </a:endParaRPr>
          </a:p>
          <a:p>
            <a:pPr indent="0" rtl="0" eaLnBrk="1" hangingPunct="1">
              <a:lnSpc>
                <a:spcPct val="150000"/>
              </a:lnSpc>
              <a:spcBef>
                <a:spcPts val="0"/>
              </a:spcBef>
              <a:spcAft>
                <a:spcPts val="0"/>
              </a:spcAft>
              <a:buNone/>
            </a:pPr>
            <a:r>
              <a:rPr lang="en-US" sz="1600" kern="0" dirty="0">
                <a:ln>
                  <a:noFill/>
                  <a:prstDash val="sysDot"/>
                </a:ln>
                <a:solidFill>
                  <a:srgbClr val="292929"/>
                </a:solidFill>
                <a:latin typeface="Georgia Pro Cond Light" panose="02040306050405020303" charset="0"/>
                <a:cs typeface="Georgia Pro Cond Light" panose="02040306050405020303" charset="0"/>
                <a:sym typeface="+mn-ea"/>
              </a:rPr>
              <a:t>Potential </a:t>
            </a:r>
            <a:r>
              <a:rPr lang="en-US" altLang="en-US" sz="1600" kern="0" dirty="0">
                <a:ln>
                  <a:noFill/>
                  <a:prstDash val="sysDot"/>
                </a:ln>
                <a:solidFill>
                  <a:srgbClr val="292929"/>
                </a:solidFill>
                <a:latin typeface="Georgia Pro Cond Light" panose="02040306050405020303" charset="0"/>
                <a:cs typeface="Georgia Pro Cond Light" panose="02040306050405020303" charset="0"/>
                <a:sym typeface="+mn-ea"/>
              </a:rPr>
              <a:t>→</a:t>
            </a:r>
            <a:r>
              <a:rPr lang="en-US" altLang="en-GB" sz="1600" kern="0" dirty="0">
                <a:ln>
                  <a:noFill/>
                  <a:prstDash val="sysDot"/>
                </a:ln>
                <a:solidFill>
                  <a:srgbClr val="292929"/>
                </a:solidFill>
                <a:latin typeface="Georgia Pro Cond Light" panose="02040306050405020303" charset="0"/>
                <a:cs typeface="Georgia Pro Cond Light" panose="02040306050405020303" charset="0"/>
                <a:sym typeface="+mn-ea"/>
              </a:rPr>
              <a:t> </a:t>
            </a:r>
            <a:r>
              <a:rPr lang="en-US" sz="1600" b="1" kern="0" dirty="0">
                <a:ln>
                  <a:noFill/>
                  <a:prstDash val="sysDot"/>
                </a:ln>
                <a:solidFill>
                  <a:schemeClr val="accent4"/>
                </a:solidFill>
                <a:latin typeface="Georgia Pro Cond" panose="02040506050405020303" charset="0"/>
                <a:cs typeface="Georgia Pro Cond" panose="02040506050405020303" charset="0"/>
                <a:sym typeface="+mn-ea"/>
              </a:rPr>
              <a:t>— </a:t>
            </a:r>
            <a:r>
              <a:rPr lang="en-US" sz="1600" kern="0" dirty="0">
                <a:ln>
                  <a:noFill/>
                  <a:prstDash val="sysDot"/>
                </a:ln>
                <a:solidFill>
                  <a:srgbClr val="292929"/>
                </a:solidFill>
                <a:latin typeface="Georgia Pro Cond Light" panose="02040306050405020303" charset="0"/>
                <a:cs typeface="Georgia Pro Cond Light" panose="02040306050405020303" charset="0"/>
                <a:sym typeface="+mn-ea"/>
              </a:rPr>
              <a:t>R, </a:t>
            </a:r>
            <a:r>
              <a:rPr lang="en-US" sz="1600" b="1" kern="0" dirty="0">
                <a:ln>
                  <a:noFill/>
                  <a:prstDash val="sysDot"/>
                </a:ln>
                <a:solidFill>
                  <a:schemeClr val="accent6"/>
                </a:solidFill>
                <a:latin typeface="Georgia Pro Cond Light" panose="02040306050405020303" charset="0"/>
                <a:cs typeface="Georgia Pro Cond Light" panose="02040306050405020303" charset="0"/>
                <a:sym typeface="+mn-ea"/>
              </a:rPr>
              <a:t>↗</a:t>
            </a:r>
            <a:r>
              <a:rPr lang="en-US" sz="1600" b="1" kern="0" dirty="0">
                <a:ln>
                  <a:noFill/>
                  <a:prstDash val="sysDot"/>
                </a:ln>
                <a:solidFill>
                  <a:srgbClr val="292929"/>
                </a:solidFill>
                <a:latin typeface="Georgia Pro Cond Light" panose="02040306050405020303" charset="0"/>
                <a:cs typeface="Georgia Pro Cond Light" panose="02040306050405020303" charset="0"/>
                <a:sym typeface="+mn-ea"/>
              </a:rPr>
              <a:t> </a:t>
            </a:r>
            <a:r>
              <a:rPr lang="en-US" sz="1600" kern="0" dirty="0">
                <a:ln>
                  <a:noFill/>
                  <a:prstDash val="sysDot"/>
                </a:ln>
                <a:solidFill>
                  <a:srgbClr val="292929"/>
                </a:solidFill>
                <a:latin typeface="Georgia Pro Cond Light" panose="02040306050405020303" charset="0"/>
                <a:cs typeface="Georgia Pro Cond Light" panose="02040306050405020303" charset="0"/>
                <a:sym typeface="+mn-ea"/>
              </a:rPr>
              <a:t>F</a:t>
            </a:r>
            <a:endParaRPr lang="en-US" sz="1600" kern="0" dirty="0">
              <a:ln>
                <a:noFill/>
                <a:prstDash val="sysDot"/>
              </a:ln>
              <a:solidFill>
                <a:srgbClr val="292929"/>
              </a:solidFill>
              <a:latin typeface="Georgia Pro Cond Light" panose="02040306050405020303" charset="0"/>
              <a:cs typeface="Georgia Pro Cond Light" panose="02040306050405020303" charset="0"/>
              <a:sym typeface="+mn-ea"/>
            </a:endParaRPr>
          </a:p>
          <a:p>
            <a:pPr indent="0" rtl="0" eaLnBrk="1" hangingPunct="1">
              <a:lnSpc>
                <a:spcPct val="150000"/>
              </a:lnSpc>
              <a:spcBef>
                <a:spcPts val="0"/>
              </a:spcBef>
              <a:spcAft>
                <a:spcPts val="0"/>
              </a:spcAft>
              <a:buNone/>
            </a:pPr>
            <a:r>
              <a:rPr lang="en-US" sz="1600" kern="0" dirty="0">
                <a:ln>
                  <a:noFill/>
                  <a:prstDash val="sysDot"/>
                </a:ln>
                <a:solidFill>
                  <a:srgbClr val="292929"/>
                </a:solidFill>
                <a:latin typeface="Georgia Pro Cond Light" panose="02040306050405020303" charset="0"/>
                <a:cs typeface="Georgia Pro Cond Light" panose="02040306050405020303" charset="0"/>
                <a:sym typeface="+mn-ea"/>
              </a:rPr>
              <a:t>Churned </a:t>
            </a:r>
            <a:r>
              <a:rPr lang="en-US" altLang="en-US" sz="1600" kern="0" dirty="0">
                <a:ln>
                  <a:noFill/>
                  <a:prstDash val="sysDot"/>
                </a:ln>
                <a:solidFill>
                  <a:srgbClr val="292929"/>
                </a:solidFill>
                <a:latin typeface="Georgia Pro Cond Light" panose="02040306050405020303" charset="0"/>
                <a:cs typeface="Georgia Pro Cond Light" panose="02040306050405020303" charset="0"/>
                <a:sym typeface="+mn-ea"/>
              </a:rPr>
              <a:t>→</a:t>
            </a:r>
            <a:r>
              <a:rPr lang="en-US" altLang="en-GB" sz="1600" kern="0" dirty="0">
                <a:ln>
                  <a:noFill/>
                  <a:prstDash val="sysDot"/>
                </a:ln>
                <a:solidFill>
                  <a:srgbClr val="292929"/>
                </a:solidFill>
                <a:latin typeface="Georgia Pro Cond Light" panose="02040306050405020303" charset="0"/>
                <a:cs typeface="Georgia Pro Cond Light" panose="02040306050405020303" charset="0"/>
                <a:sym typeface="+mn-ea"/>
              </a:rPr>
              <a:t> </a:t>
            </a:r>
            <a:r>
              <a:rPr lang="en-US" sz="1600" b="1" kern="0" dirty="0">
                <a:ln>
                  <a:noFill/>
                  <a:prstDash val="sysDot"/>
                </a:ln>
                <a:solidFill>
                  <a:schemeClr val="accent6"/>
                </a:solidFill>
                <a:latin typeface="Georgia Pro Cond" panose="02040506050405020303" charset="0"/>
                <a:cs typeface="Georgia Pro Cond" panose="02040506050405020303" charset="0"/>
                <a:sym typeface="+mn-ea"/>
              </a:rPr>
              <a:t>↑ ↑ </a:t>
            </a:r>
            <a:r>
              <a:rPr lang="en-US" sz="1600" kern="0" dirty="0">
                <a:ln>
                  <a:noFill/>
                  <a:prstDash val="sysDot"/>
                </a:ln>
                <a:solidFill>
                  <a:srgbClr val="292929"/>
                </a:solidFill>
                <a:latin typeface="Georgia Pro Cond Light" panose="02040306050405020303" charset="0"/>
                <a:cs typeface="Georgia Pro Cond Light" panose="02040306050405020303" charset="0"/>
                <a:sym typeface="+mn-ea"/>
              </a:rPr>
              <a:t>R</a:t>
            </a:r>
            <a:endParaRPr lang="en-US" sz="1600" kern="0" dirty="0">
              <a:ln>
                <a:noFill/>
                <a:prstDash val="sysDot"/>
              </a:ln>
              <a:solidFill>
                <a:srgbClr val="292929"/>
              </a:solidFill>
              <a:latin typeface="Georgia Pro Cond Light" panose="02040306050405020303" charset="0"/>
              <a:cs typeface="Georgia Pro Cond Light" panose="02040306050405020303" charset="0"/>
              <a:sym typeface="+mn-ea"/>
            </a:endParaRPr>
          </a:p>
        </p:txBody>
      </p:sp>
      <p:sp>
        <p:nvSpPr>
          <p:cNvPr id="12" name="矩形: 圆角 29"/>
          <p:cNvSpPr/>
          <p:nvPr>
            <p:custDataLst>
              <p:tags r:id="rId8"/>
            </p:custDataLst>
          </p:nvPr>
        </p:nvSpPr>
        <p:spPr>
          <a:xfrm>
            <a:off x="771525" y="1666240"/>
            <a:ext cx="3089275" cy="2949575"/>
          </a:xfrm>
          <a:prstGeom prst="roundRect">
            <a:avLst>
              <a:gd name="adj" fmla="val 8073"/>
            </a:avLst>
          </a:prstGeom>
          <a:solidFill>
            <a:srgbClr val="FFFFFF"/>
          </a:solidFill>
          <a:ln>
            <a:solidFill>
              <a:schemeClr val="accent1">
                <a:lumMod val="20000"/>
                <a:lumOff val="80000"/>
              </a:schemeClr>
            </a:solidFill>
          </a:ln>
          <a:effectLst>
            <a:outerShdw blurRad="203200" dist="76200" dir="8100000" algn="tr" rotWithShape="0">
              <a:schemeClr val="accent1">
                <a:lumMod val="75000"/>
                <a:alpha val="20000"/>
              </a:schemeClr>
            </a:outerShdw>
          </a:effectLst>
        </p:spPr>
        <p:style>
          <a:lnRef idx="1">
            <a:schemeClr val="accent1"/>
          </a:lnRef>
          <a:fillRef idx="2">
            <a:schemeClr val="accent1"/>
          </a:fillRef>
          <a:effectRef idx="1">
            <a:schemeClr val="accent1"/>
          </a:effectRef>
          <a:fontRef idx="minor">
            <a:schemeClr val="dk1"/>
          </a:fontRef>
        </p:style>
        <p:txBody>
          <a:bodyPr vertOverflow="overflow" horzOverflow="overflow" vert="horz" wrap="square" lIns="360045" tIns="360045" rIns="360045" bIns="360045" numCol="1" spcCol="0" rtlCol="0" fromWordArt="0" anchor="ctr" anchorCtr="0" forceAA="0" compatLnSpc="1"/>
          <a:p>
            <a:pPr marL="0" algn="l" rtl="0" eaLnBrk="1" hangingPunct="1">
              <a:lnSpc>
                <a:spcPct val="100000"/>
              </a:lnSpc>
              <a:spcBef>
                <a:spcPts val="0"/>
              </a:spcBef>
              <a:spcAft>
                <a:spcPts val="0"/>
              </a:spcAft>
            </a:pPr>
            <a:r>
              <a:rPr lang="en-US" altLang="en-US" sz="1400" kern="0" dirty="0">
                <a:ln>
                  <a:noFill/>
                  <a:prstDash val="sysDot"/>
                </a:ln>
                <a:solidFill>
                  <a:srgbClr val="292929"/>
                </a:solidFill>
                <a:latin typeface="Georgia Pro Cond Light" panose="02040306050405020303" charset="0"/>
                <a:cs typeface="Georgia Pro Cond Light" panose="02040306050405020303" charset="0"/>
                <a:sym typeface="+mn-ea"/>
              </a:rPr>
              <a:t>→</a:t>
            </a:r>
            <a:r>
              <a:rPr lang="en-US" altLang="en-GB" sz="1400" kern="0" dirty="0">
                <a:ln>
                  <a:noFill/>
                  <a:prstDash val="sysDot"/>
                </a:ln>
                <a:solidFill>
                  <a:srgbClr val="292929"/>
                </a:solidFill>
                <a:latin typeface="Georgia Pro Cond Light" panose="02040306050405020303" charset="0"/>
                <a:cs typeface="Georgia Pro Cond Light" panose="02040306050405020303" charset="0"/>
                <a:sym typeface="+mn-ea"/>
              </a:rPr>
              <a:t> Minimizes intra-cluster variance</a:t>
            </a:r>
            <a:endParaRPr lang="en-US" altLang="en-GB" sz="1400" kern="0" dirty="0">
              <a:ln>
                <a:noFill/>
                <a:prstDash val="sysDot"/>
              </a:ln>
              <a:solidFill>
                <a:srgbClr val="292929"/>
              </a:solidFill>
              <a:latin typeface="Georgia Pro Cond Light" panose="02040306050405020303" charset="0"/>
              <a:cs typeface="Georgia Pro Cond Light" panose="02040306050405020303" charset="0"/>
              <a:sym typeface="+mn-ea"/>
            </a:endParaRPr>
          </a:p>
          <a:p>
            <a:pPr marL="0" algn="l" rtl="0" eaLnBrk="1" hangingPunct="1">
              <a:lnSpc>
                <a:spcPct val="100000"/>
              </a:lnSpc>
              <a:spcBef>
                <a:spcPts val="0"/>
              </a:spcBef>
              <a:spcAft>
                <a:spcPts val="0"/>
              </a:spcAft>
            </a:pPr>
            <a:r>
              <a:rPr lang="en-US" altLang="en-US" sz="1400" kern="0" dirty="0">
                <a:ln>
                  <a:noFill/>
                  <a:prstDash val="sysDot"/>
                </a:ln>
                <a:solidFill>
                  <a:srgbClr val="292929"/>
                </a:solidFill>
                <a:latin typeface="Georgia Pro Cond Light" panose="02040306050405020303" charset="0"/>
                <a:cs typeface="Georgia Pro Cond Light" panose="02040306050405020303" charset="0"/>
                <a:sym typeface="+mn-ea"/>
              </a:rPr>
              <a:t>→</a:t>
            </a:r>
            <a:r>
              <a:rPr lang="en-US" altLang="en-GB" sz="1400" kern="0" dirty="0">
                <a:ln>
                  <a:noFill/>
                  <a:prstDash val="sysDot"/>
                </a:ln>
                <a:solidFill>
                  <a:srgbClr val="292929"/>
                </a:solidFill>
                <a:latin typeface="Georgia Pro Cond Light" panose="02040306050405020303" charset="0"/>
                <a:cs typeface="Georgia Pro Cond Light" panose="02040306050405020303" charset="0"/>
                <a:sym typeface="+mn-ea"/>
              </a:rPr>
              <a:t> Euclidean distance metric</a:t>
            </a:r>
            <a:endParaRPr lang="en-US" altLang="en-GB" sz="1400" kern="0" dirty="0">
              <a:ln>
                <a:noFill/>
                <a:prstDash val="sysDot"/>
              </a:ln>
              <a:solidFill>
                <a:srgbClr val="292929"/>
              </a:solidFill>
              <a:latin typeface="Georgia Pro Cond Light" panose="02040306050405020303" charset="0"/>
              <a:cs typeface="Georgia Pro Cond Light" panose="02040306050405020303" charset="0"/>
              <a:sym typeface="+mn-ea"/>
            </a:endParaRPr>
          </a:p>
          <a:p>
            <a:pPr marL="0" algn="l" rtl="0" eaLnBrk="1" hangingPunct="1">
              <a:lnSpc>
                <a:spcPct val="100000"/>
              </a:lnSpc>
              <a:spcBef>
                <a:spcPts val="0"/>
              </a:spcBef>
              <a:spcAft>
                <a:spcPts val="0"/>
              </a:spcAft>
            </a:pPr>
            <a:r>
              <a:rPr lang="en-US" altLang="en-US" sz="1400" kern="0" dirty="0">
                <a:ln>
                  <a:noFill/>
                  <a:prstDash val="sysDot"/>
                </a:ln>
                <a:solidFill>
                  <a:srgbClr val="292929"/>
                </a:solidFill>
                <a:latin typeface="Georgia Pro Cond Light" panose="02040306050405020303" charset="0"/>
                <a:cs typeface="Georgia Pro Cond Light" panose="02040306050405020303" charset="0"/>
                <a:sym typeface="+mn-ea"/>
              </a:rPr>
              <a:t>→</a:t>
            </a:r>
            <a:r>
              <a:rPr lang="en-US" altLang="en-GB" sz="1400" kern="0" dirty="0">
                <a:ln>
                  <a:noFill/>
                  <a:prstDash val="sysDot"/>
                </a:ln>
                <a:solidFill>
                  <a:srgbClr val="292929"/>
                </a:solidFill>
                <a:latin typeface="Georgia Pro Cond Light" panose="02040306050405020303" charset="0"/>
                <a:cs typeface="Georgia Pro Cond Light" panose="02040306050405020303" charset="0"/>
                <a:sym typeface="+mn-ea"/>
              </a:rPr>
              <a:t> Elbow method: k=4 optimal</a:t>
            </a:r>
            <a:endParaRPr lang="en-US" altLang="en-GB" sz="1400" kern="0" dirty="0">
              <a:ln>
                <a:noFill/>
                <a:prstDash val="sysDot"/>
              </a:ln>
              <a:solidFill>
                <a:srgbClr val="292929"/>
              </a:solidFill>
              <a:latin typeface="Georgia Pro Cond Light" panose="02040306050405020303" charset="0"/>
              <a:cs typeface="Georgia Pro Cond Light" panose="02040306050405020303" charset="0"/>
              <a:sym typeface="+mn-ea"/>
            </a:endParaRPr>
          </a:p>
          <a:p>
            <a:pPr marL="0" algn="l" rtl="0" eaLnBrk="1" hangingPunct="1">
              <a:lnSpc>
                <a:spcPct val="100000"/>
              </a:lnSpc>
              <a:spcBef>
                <a:spcPts val="0"/>
              </a:spcBef>
              <a:spcAft>
                <a:spcPts val="0"/>
              </a:spcAft>
            </a:pPr>
            <a:r>
              <a:rPr lang="en-US" altLang="en-US" sz="1400" kern="0" dirty="0">
                <a:ln>
                  <a:noFill/>
                  <a:prstDash val="sysDot"/>
                </a:ln>
                <a:solidFill>
                  <a:srgbClr val="292929"/>
                </a:solidFill>
                <a:latin typeface="Georgia Pro Cond Light" panose="02040306050405020303" charset="0"/>
                <a:cs typeface="Georgia Pro Cond Light" panose="02040306050405020303" charset="0"/>
                <a:sym typeface="+mn-ea"/>
              </a:rPr>
              <a:t>→</a:t>
            </a:r>
            <a:r>
              <a:rPr lang="en-US" altLang="en-GB" sz="1400" kern="0" dirty="0">
                <a:ln>
                  <a:noFill/>
                  <a:prstDash val="sysDot"/>
                </a:ln>
                <a:solidFill>
                  <a:srgbClr val="292929"/>
                </a:solidFill>
                <a:latin typeface="Georgia Pro Cond Light" panose="02040306050405020303" charset="0"/>
                <a:cs typeface="Georgia Pro Cond Light" panose="02040306050405020303" charset="0"/>
                <a:sym typeface="+mn-ea"/>
              </a:rPr>
              <a:t> Silhouette Score: 0.49</a:t>
            </a:r>
            <a:endParaRPr lang="en-US" altLang="en-GB" sz="1400" kern="0" dirty="0">
              <a:ln>
                <a:noFill/>
                <a:prstDash val="sysDot"/>
              </a:ln>
              <a:solidFill>
                <a:srgbClr val="292929"/>
              </a:solidFill>
              <a:latin typeface="Georgia Pro Cond Light" panose="02040306050405020303" charset="0"/>
              <a:cs typeface="Georgia Pro Cond Light" panose="02040306050405020303" charset="0"/>
              <a:sym typeface="+mn-ea"/>
            </a:endParaRPr>
          </a:p>
        </p:txBody>
      </p:sp>
      <p:sp>
        <p:nvSpPr>
          <p:cNvPr id="13" name="矩形: 单圆角 30"/>
          <p:cNvSpPr/>
          <p:nvPr>
            <p:custDataLst>
              <p:tags r:id="rId9"/>
            </p:custDataLst>
          </p:nvPr>
        </p:nvSpPr>
        <p:spPr>
          <a:xfrm>
            <a:off x="654050" y="1482725"/>
            <a:ext cx="3207385" cy="391795"/>
          </a:xfrm>
          <a:prstGeom prst="round1Rect">
            <a:avLst/>
          </a:prstGeom>
          <a:solidFill>
            <a:schemeClr val="accent2">
              <a:lumMod val="50000"/>
              <a:alpha val="88000"/>
            </a:schemeClr>
          </a:solidFill>
          <a:ln>
            <a:noFill/>
          </a:ln>
          <a:effectLst>
            <a:outerShdw blurRad="203200" dist="76200" dir="8100000" algn="tr" rotWithShape="0">
              <a:schemeClr val="accent1">
                <a:lumMod val="75000"/>
                <a:alpha val="20000"/>
              </a:schemeClr>
            </a:outerShdw>
          </a:effectLst>
        </p:spPr>
        <p:style>
          <a:lnRef idx="1">
            <a:schemeClr val="accent1"/>
          </a:lnRef>
          <a:fillRef idx="2">
            <a:schemeClr val="accent1"/>
          </a:fillRef>
          <a:effectRef idx="1">
            <a:schemeClr val="accent1"/>
          </a:effectRef>
          <a:fontRef idx="minor">
            <a:schemeClr val="dk1"/>
          </a:fontRef>
        </p:style>
        <p:txBody>
          <a:bodyPr vertOverflow="overflow" horzOverflow="overflow" vert="horz" wrap="square" numCol="1" spcCol="0" rtlCol="0" fromWordArt="0" anchor="ctr" anchorCtr="0" forceAA="0" compatLnSpc="1">
            <a:normAutofit fontScale="90000"/>
          </a:bodyPr>
          <a:p>
            <a:pPr indent="452755" algn="l"/>
            <a:r>
              <a:rPr lang="en-US" sz="2000" b="1" dirty="0">
                <a:solidFill>
                  <a:schemeClr val="lt1">
                    <a:lumMod val="100000"/>
                  </a:schemeClr>
                </a:solidFill>
                <a:latin typeface="+mj-lt"/>
                <a:sym typeface="+mn-ea"/>
              </a:rPr>
              <a:t>K-Means Clustering</a:t>
            </a:r>
            <a:endParaRPr lang="en-US" sz="2000" b="1" dirty="0">
              <a:solidFill>
                <a:schemeClr val="lt1">
                  <a:lumMod val="100000"/>
                </a:schemeClr>
              </a:solidFill>
              <a:latin typeface="+mj-lt"/>
              <a:sym typeface="+mn-ea"/>
            </a:endParaRPr>
          </a:p>
        </p:txBody>
      </p:sp>
      <p:sp>
        <p:nvSpPr>
          <p:cNvPr id="31" name="矩形: 单圆角 30"/>
          <p:cNvSpPr/>
          <p:nvPr>
            <p:custDataLst>
              <p:tags r:id="rId10"/>
            </p:custDataLst>
          </p:nvPr>
        </p:nvSpPr>
        <p:spPr>
          <a:xfrm>
            <a:off x="8253730" y="1482725"/>
            <a:ext cx="3039745" cy="391795"/>
          </a:xfrm>
          <a:prstGeom prst="round1Rect">
            <a:avLst/>
          </a:prstGeom>
          <a:solidFill>
            <a:schemeClr val="accent2">
              <a:lumMod val="50000"/>
              <a:alpha val="88000"/>
            </a:schemeClr>
          </a:solidFill>
          <a:ln>
            <a:noFill/>
          </a:ln>
          <a:effectLst>
            <a:outerShdw blurRad="203200" dist="76200" dir="8100000" algn="tr" rotWithShape="0">
              <a:schemeClr val="accent1">
                <a:lumMod val="75000"/>
                <a:alpha val="20000"/>
              </a:schemeClr>
            </a:outerShdw>
          </a:effectLst>
        </p:spPr>
        <p:style>
          <a:lnRef idx="1">
            <a:schemeClr val="accent1"/>
          </a:lnRef>
          <a:fillRef idx="2">
            <a:schemeClr val="accent1"/>
          </a:fillRef>
          <a:effectRef idx="1">
            <a:schemeClr val="accent1"/>
          </a:effectRef>
          <a:fontRef idx="minor">
            <a:schemeClr val="dk1"/>
          </a:fontRef>
        </p:style>
        <p:txBody>
          <a:bodyPr vertOverflow="overflow" horzOverflow="overflow" vert="horz" wrap="square" numCol="1" spcCol="0" rtlCol="0" fromWordArt="0" anchor="ctr" anchorCtr="0" forceAA="0" compatLnSpc="1">
            <a:normAutofit fontScale="90000"/>
          </a:bodyPr>
          <a:p>
            <a:pPr indent="452755"/>
            <a:r>
              <a:rPr lang="en-US" sz="2000" b="1" dirty="0">
                <a:solidFill>
                  <a:schemeClr val="lt1">
                    <a:lumMod val="100000"/>
                  </a:schemeClr>
                </a:solidFill>
                <a:latin typeface="+mj-lt"/>
                <a:sym typeface="+mn-ea"/>
              </a:rPr>
              <a:t>Labelling</a:t>
            </a:r>
            <a:endParaRPr lang="en-US" sz="2000" b="1" dirty="0">
              <a:solidFill>
                <a:schemeClr val="lt1">
                  <a:lumMod val="100000"/>
                </a:schemeClr>
              </a:solidFill>
              <a:latin typeface="+mj-lt"/>
              <a:sym typeface="+mn-ea"/>
            </a:endParaRPr>
          </a:p>
        </p:txBody>
      </p:sp>
      <p:sp>
        <p:nvSpPr>
          <p:cNvPr id="17" name="Rectangles 16"/>
          <p:cNvSpPr/>
          <p:nvPr/>
        </p:nvSpPr>
        <p:spPr>
          <a:xfrm>
            <a:off x="901065" y="1859280"/>
            <a:ext cx="2763520" cy="213360"/>
          </a:xfrm>
          <a:prstGeom prst="rect">
            <a:avLst/>
          </a:prstGeom>
          <a:solidFill>
            <a:schemeClr val="bg2">
              <a:lumMod val="50000"/>
              <a:alpha val="71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l"/>
            <a:r>
              <a:rPr lang="en-US" altLang="en-GB" sz="1200"/>
              <a:t>Hard Assignment</a:t>
            </a:r>
            <a:endParaRPr lang="en-US" altLang="en-GB" sz="1200"/>
          </a:p>
        </p:txBody>
      </p:sp>
      <p:sp>
        <p:nvSpPr>
          <p:cNvPr id="18" name="Rectangles 17"/>
          <p:cNvSpPr/>
          <p:nvPr/>
        </p:nvSpPr>
        <p:spPr>
          <a:xfrm>
            <a:off x="8445500" y="1875790"/>
            <a:ext cx="2763520" cy="213360"/>
          </a:xfrm>
          <a:prstGeom prst="rect">
            <a:avLst/>
          </a:prstGeom>
          <a:solidFill>
            <a:schemeClr val="bg2">
              <a:lumMod val="50000"/>
              <a:alpha val="71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l"/>
            <a:r>
              <a:rPr lang="en-US" altLang="en-GB" sz="1200"/>
              <a:t>RFM-Based Rules</a:t>
            </a:r>
            <a:endParaRPr lang="en-US" altLang="en-GB" sz="1200"/>
          </a:p>
        </p:txBody>
      </p:sp>
      <p:sp>
        <p:nvSpPr>
          <p:cNvPr id="19" name="Rectangles 18"/>
          <p:cNvSpPr/>
          <p:nvPr/>
        </p:nvSpPr>
        <p:spPr>
          <a:xfrm>
            <a:off x="4725670" y="1875790"/>
            <a:ext cx="2763520" cy="213360"/>
          </a:xfrm>
          <a:prstGeom prst="rect">
            <a:avLst/>
          </a:prstGeom>
          <a:solidFill>
            <a:schemeClr val="bg2">
              <a:lumMod val="50000"/>
              <a:alpha val="71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l"/>
            <a:r>
              <a:rPr lang="en-US" altLang="en-GB" sz="1200"/>
              <a:t>Soft Probabilistic</a:t>
            </a:r>
            <a:endParaRPr lang="en-US" altLang="en-GB" sz="1200"/>
          </a:p>
        </p:txBody>
      </p:sp>
      <p:sp>
        <p:nvSpPr>
          <p:cNvPr id="44" name="Text Box 43"/>
          <p:cNvSpPr txBox="1"/>
          <p:nvPr/>
        </p:nvSpPr>
        <p:spPr>
          <a:xfrm>
            <a:off x="678815" y="965835"/>
            <a:ext cx="10614660" cy="317500"/>
          </a:xfrm>
          <a:prstGeom prst="rect">
            <a:avLst/>
          </a:prstGeom>
          <a:noFill/>
        </p:spPr>
        <p:txBody>
          <a:bodyPr wrap="square" rtlCol="0">
            <a:noAutofit/>
          </a:bodyPr>
          <a:p>
            <a:r>
              <a:rPr lang="en-US" dirty="0">
                <a:solidFill>
                  <a:srgbClr val="64748B"/>
                </a:solidFill>
                <a:latin typeface="Georgia Pro Cond Light" panose="02040306050405020303" charset="0"/>
                <a:ea typeface="SimSun" panose="02010600030101010101" pitchFamily="2" charset="-122"/>
                <a:cs typeface="Georgia Pro Cond Light" panose="02040306050405020303" charset="0"/>
                <a:sym typeface="+mn-ea"/>
              </a:rPr>
              <a:t>Dual-algorithm approach: KMeans for crisp boundaries, GMM for probabilistic membership &amp; risk scoring.</a:t>
            </a:r>
            <a:endParaRPr lang="en-US" dirty="0">
              <a:solidFill>
                <a:srgbClr val="64748B"/>
              </a:solidFill>
              <a:latin typeface="Georgia Pro Cond Light" panose="02040306050405020303" charset="0"/>
              <a:ea typeface="SimSun" panose="02010600030101010101" pitchFamily="2" charset="-122"/>
              <a:cs typeface="Georgia Pro Cond Light" panose="02040306050405020303" charset="0"/>
            </a:endParaRPr>
          </a:p>
          <a:p>
            <a:endParaRPr lang="en-GB" altLang="en-US">
              <a:latin typeface="Georgia Pro Cond Light" panose="02040306050405020303" charset="0"/>
              <a:cs typeface="Georgia Pro Cond Light" panose="02040306050405020303" charset="0"/>
            </a:endParaRPr>
          </a:p>
        </p:txBody>
      </p:sp>
      <p:sp>
        <p:nvSpPr>
          <p:cNvPr id="45" name="Text 8"/>
          <p:cNvSpPr/>
          <p:nvPr/>
        </p:nvSpPr>
        <p:spPr>
          <a:xfrm>
            <a:off x="678815" y="5316220"/>
            <a:ext cx="10834370" cy="685800"/>
          </a:xfrm>
          <a:prstGeom prst="roundRect">
            <a:avLst>
              <a:gd name="adj" fmla="val 186667"/>
            </a:avLst>
          </a:prstGeom>
          <a:solidFill>
            <a:schemeClr val="tx1">
              <a:lumMod val="10000"/>
              <a:lumOff val="90000"/>
            </a:schemeClr>
          </a:solidFill>
          <a:ln w="9525">
            <a:solidFill>
              <a:srgbClr val="000000"/>
            </a:solidFill>
          </a:ln>
          <a:effectLst>
            <a:outerShdw blurRad="190500" dist="38100" dir="5400000" algn="bl" rotWithShape="0">
              <a:srgbClr val="2563EB">
                <a:alpha val="6000"/>
              </a:srgbClr>
            </a:outerShdw>
          </a:effectLst>
        </p:spPr>
        <p:txBody>
          <a:bodyPr wrap="none" lIns="0" tIns="0" rIns="0" bIns="0" rtlCol="0" anchor="ctr">
            <a:normAutofit/>
          </a:bodyPr>
          <a:lstStyle/>
          <a:p>
            <a:pPr marL="0" indent="0">
              <a:buNone/>
            </a:pPr>
            <a:endParaRPr lang="en-US" sz="1400" dirty="0">
              <a:latin typeface="Georgia Pro Cond Light" panose="02040306050405020303" charset="0"/>
              <a:cs typeface="Georgia Pro Cond Light" panose="02040306050405020303" charset="0"/>
            </a:endParaRPr>
          </a:p>
        </p:txBody>
      </p:sp>
      <p:sp>
        <p:nvSpPr>
          <p:cNvPr id="46" name="Text 26"/>
          <p:cNvSpPr/>
          <p:nvPr/>
        </p:nvSpPr>
        <p:spPr>
          <a:xfrm>
            <a:off x="859790" y="5579110"/>
            <a:ext cx="1914525" cy="160020"/>
          </a:xfrm>
          <a:prstGeom prst="rect">
            <a:avLst/>
          </a:prstGeom>
          <a:noFill/>
        </p:spPr>
        <p:txBody>
          <a:bodyPr wrap="square" lIns="0" tIns="0" rIns="0" bIns="0" rtlCol="0" anchor="t"/>
          <a:lstStyle/>
          <a:p>
            <a:pPr marL="0" indent="0">
              <a:lnSpc>
                <a:spcPts val="1260"/>
              </a:lnSpc>
              <a:buNone/>
            </a:pPr>
            <a:r>
              <a:rPr lang="en-US" sz="1600" b="1" dirty="0">
                <a:solidFill>
                  <a:srgbClr val="C00000"/>
                </a:solidFill>
                <a:latin typeface="Georgia Pro Cond" panose="02040506050405020303" charset="0"/>
                <a:ea typeface="SimSun" panose="02010600030101010101" pitchFamily="2" charset="-122"/>
                <a:cs typeface="Georgia Pro Cond" panose="02040506050405020303" charset="0"/>
              </a:rPr>
              <a:t>Cluster Distribution</a:t>
            </a:r>
            <a:endParaRPr lang="en-US" sz="1600" b="1" dirty="0">
              <a:solidFill>
                <a:srgbClr val="C00000"/>
              </a:solidFill>
              <a:latin typeface="Georgia Pro Cond" panose="02040506050405020303" charset="0"/>
              <a:ea typeface="SimSun" panose="02010600030101010101" pitchFamily="2" charset="-122"/>
              <a:cs typeface="Georgia Pro Cond" panose="02040506050405020303" charset="0"/>
            </a:endParaRPr>
          </a:p>
        </p:txBody>
      </p:sp>
      <p:sp>
        <p:nvSpPr>
          <p:cNvPr id="48" name="Text 28"/>
          <p:cNvSpPr/>
          <p:nvPr/>
        </p:nvSpPr>
        <p:spPr>
          <a:xfrm>
            <a:off x="2348865" y="5457190"/>
            <a:ext cx="2036445" cy="148590"/>
          </a:xfrm>
          <a:prstGeom prst="rect">
            <a:avLst/>
          </a:prstGeom>
          <a:noFill/>
        </p:spPr>
        <p:txBody>
          <a:bodyPr wrap="square" lIns="0" tIns="0" rIns="0" bIns="0" rtlCol="0" anchor="t"/>
          <a:lstStyle/>
          <a:p>
            <a:pPr marL="0" indent="0" algn="ctr">
              <a:lnSpc>
                <a:spcPts val="1170"/>
              </a:lnSpc>
              <a:buNone/>
            </a:pPr>
            <a:r>
              <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rPr>
              <a:t>VIP</a:t>
            </a:r>
            <a:endPar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endParaRPr>
          </a:p>
        </p:txBody>
      </p:sp>
      <p:sp>
        <p:nvSpPr>
          <p:cNvPr id="50" name="Text 30"/>
          <p:cNvSpPr/>
          <p:nvPr/>
        </p:nvSpPr>
        <p:spPr>
          <a:xfrm>
            <a:off x="4404360" y="5457190"/>
            <a:ext cx="2036445" cy="148590"/>
          </a:xfrm>
          <a:prstGeom prst="rect">
            <a:avLst/>
          </a:prstGeom>
          <a:noFill/>
        </p:spPr>
        <p:txBody>
          <a:bodyPr wrap="square" lIns="0" tIns="0" rIns="0" bIns="0" rtlCol="0" anchor="t"/>
          <a:lstStyle/>
          <a:p>
            <a:pPr marL="0" indent="0" algn="ctr">
              <a:lnSpc>
                <a:spcPts val="1170"/>
              </a:lnSpc>
              <a:buNone/>
            </a:pPr>
            <a:r>
              <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rPr>
              <a:t>At Risk</a:t>
            </a:r>
            <a:endPar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endParaRPr>
          </a:p>
        </p:txBody>
      </p:sp>
      <p:sp>
        <p:nvSpPr>
          <p:cNvPr id="52" name="Text 32"/>
          <p:cNvSpPr/>
          <p:nvPr/>
        </p:nvSpPr>
        <p:spPr>
          <a:xfrm>
            <a:off x="6649720" y="5457190"/>
            <a:ext cx="2036445" cy="148590"/>
          </a:xfrm>
          <a:prstGeom prst="rect">
            <a:avLst/>
          </a:prstGeom>
          <a:noFill/>
        </p:spPr>
        <p:txBody>
          <a:bodyPr wrap="square" lIns="0" tIns="0" rIns="0" bIns="0" rtlCol="0" anchor="t"/>
          <a:lstStyle/>
          <a:p>
            <a:pPr marL="0" indent="0" algn="ctr">
              <a:lnSpc>
                <a:spcPts val="1170"/>
              </a:lnSpc>
              <a:buNone/>
            </a:pPr>
            <a:r>
              <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rPr>
              <a:t>Potential</a:t>
            </a:r>
            <a:endPar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endParaRPr>
          </a:p>
        </p:txBody>
      </p:sp>
      <p:sp>
        <p:nvSpPr>
          <p:cNvPr id="54" name="Text 34"/>
          <p:cNvSpPr/>
          <p:nvPr/>
        </p:nvSpPr>
        <p:spPr>
          <a:xfrm>
            <a:off x="8770620" y="5457190"/>
            <a:ext cx="2036445" cy="148590"/>
          </a:xfrm>
          <a:prstGeom prst="rect">
            <a:avLst/>
          </a:prstGeom>
          <a:noFill/>
        </p:spPr>
        <p:txBody>
          <a:bodyPr wrap="square" lIns="0" tIns="0" rIns="0" bIns="0" rtlCol="0" anchor="t"/>
          <a:lstStyle/>
          <a:p>
            <a:pPr marL="0" indent="0" algn="ctr">
              <a:lnSpc>
                <a:spcPts val="1170"/>
              </a:lnSpc>
              <a:buNone/>
            </a:pPr>
            <a:r>
              <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rPr>
              <a:t>Churned</a:t>
            </a:r>
            <a:endParaRPr lang="en-US" sz="1400" dirty="0">
              <a:solidFill>
                <a:srgbClr val="64748B"/>
              </a:solidFill>
              <a:latin typeface="Georgia Pro Cond Light" panose="02040306050405020303" charset="0"/>
              <a:ea typeface="SimSun" panose="02010600030101010101" pitchFamily="2" charset="-122"/>
              <a:cs typeface="Georgia Pro Cond Light" panose="02040306050405020303" charset="0"/>
            </a:endParaRPr>
          </a:p>
        </p:txBody>
      </p:sp>
      <p:sp>
        <p:nvSpPr>
          <p:cNvPr id="55" name="Text Box 54"/>
          <p:cNvSpPr txBox="1"/>
          <p:nvPr/>
        </p:nvSpPr>
        <p:spPr>
          <a:xfrm>
            <a:off x="3034665" y="5619115"/>
            <a:ext cx="629920" cy="275590"/>
          </a:xfrm>
          <a:prstGeom prst="rect">
            <a:avLst/>
          </a:prstGeom>
          <a:noFill/>
        </p:spPr>
        <p:txBody>
          <a:bodyPr wrap="square" rtlCol="0">
            <a:spAutoFit/>
          </a:bodyPr>
          <a:p>
            <a:pPr algn="ctr"/>
            <a:r>
              <a:rPr lang="en-US" altLang="en-GB" sz="1200">
                <a:solidFill>
                  <a:srgbClr val="00B050"/>
                </a:solidFill>
                <a:latin typeface="Georgia Pro Cond" panose="02040506050405020303" charset="0"/>
                <a:cs typeface="Georgia Pro Cond" panose="02040506050405020303" charset="0"/>
                <a:sym typeface="+mn-ea"/>
              </a:rPr>
              <a:t>100</a:t>
            </a:r>
            <a:endParaRPr lang="en-US" altLang="en-GB" sz="1200">
              <a:solidFill>
                <a:srgbClr val="00B050"/>
              </a:solidFill>
              <a:latin typeface="Georgia Pro Cond" panose="02040506050405020303" charset="0"/>
              <a:cs typeface="Georgia Pro Cond" panose="02040506050405020303" charset="0"/>
            </a:endParaRPr>
          </a:p>
        </p:txBody>
      </p:sp>
      <p:sp>
        <p:nvSpPr>
          <p:cNvPr id="66" name="Text Box 65"/>
          <p:cNvSpPr txBox="1"/>
          <p:nvPr/>
        </p:nvSpPr>
        <p:spPr>
          <a:xfrm>
            <a:off x="5107305" y="5619115"/>
            <a:ext cx="629920" cy="275590"/>
          </a:xfrm>
          <a:prstGeom prst="rect">
            <a:avLst/>
          </a:prstGeom>
          <a:noFill/>
        </p:spPr>
        <p:txBody>
          <a:bodyPr wrap="square" rtlCol="0">
            <a:spAutoFit/>
          </a:bodyPr>
          <a:p>
            <a:pPr algn="ctr"/>
            <a:r>
              <a:rPr lang="en-US" altLang="en-GB" sz="1200">
                <a:solidFill>
                  <a:srgbClr val="FF0000"/>
                </a:solidFill>
                <a:latin typeface="Georgia Pro Cond" panose="02040506050405020303" charset="0"/>
                <a:cs typeface="Georgia Pro Cond" panose="02040506050405020303" charset="0"/>
                <a:sym typeface="+mn-ea"/>
              </a:rPr>
              <a:t>2572</a:t>
            </a:r>
            <a:endParaRPr lang="en-US" altLang="en-GB" sz="1200">
              <a:solidFill>
                <a:srgbClr val="FF0000"/>
              </a:solidFill>
              <a:latin typeface="Georgia Pro Cond" panose="02040506050405020303" charset="0"/>
              <a:cs typeface="Georgia Pro Cond" panose="02040506050405020303" charset="0"/>
              <a:sym typeface="+mn-ea"/>
            </a:endParaRPr>
          </a:p>
        </p:txBody>
      </p:sp>
      <p:sp>
        <p:nvSpPr>
          <p:cNvPr id="67" name="Text Box 66"/>
          <p:cNvSpPr txBox="1"/>
          <p:nvPr/>
        </p:nvSpPr>
        <p:spPr>
          <a:xfrm>
            <a:off x="7353300" y="5619115"/>
            <a:ext cx="629920" cy="275590"/>
          </a:xfrm>
          <a:prstGeom prst="rect">
            <a:avLst/>
          </a:prstGeom>
          <a:noFill/>
        </p:spPr>
        <p:txBody>
          <a:bodyPr wrap="square" rtlCol="0">
            <a:spAutoFit/>
          </a:bodyPr>
          <a:p>
            <a:pPr algn="ctr"/>
            <a:r>
              <a:rPr lang="en-US" altLang="en-GB" sz="1200">
                <a:solidFill>
                  <a:schemeClr val="accent5"/>
                </a:solidFill>
                <a:latin typeface="Georgia Pro Cond" panose="02040506050405020303" charset="0"/>
                <a:cs typeface="Georgia Pro Cond" panose="02040506050405020303" charset="0"/>
                <a:sym typeface="+mn-ea"/>
              </a:rPr>
              <a:t>625</a:t>
            </a:r>
            <a:endParaRPr lang="en-US" altLang="en-GB" sz="1200">
              <a:solidFill>
                <a:schemeClr val="accent5"/>
              </a:solidFill>
              <a:latin typeface="Georgia Pro Cond" panose="02040506050405020303" charset="0"/>
              <a:cs typeface="Georgia Pro Cond" panose="02040506050405020303" charset="0"/>
              <a:sym typeface="+mn-ea"/>
            </a:endParaRPr>
          </a:p>
        </p:txBody>
      </p:sp>
      <p:sp>
        <p:nvSpPr>
          <p:cNvPr id="68" name="Text Box 67"/>
          <p:cNvSpPr txBox="1"/>
          <p:nvPr/>
        </p:nvSpPr>
        <p:spPr>
          <a:xfrm>
            <a:off x="9589135" y="5619115"/>
            <a:ext cx="629920" cy="275590"/>
          </a:xfrm>
          <a:prstGeom prst="rect">
            <a:avLst/>
          </a:prstGeom>
          <a:noFill/>
        </p:spPr>
        <p:txBody>
          <a:bodyPr wrap="square" rtlCol="0">
            <a:spAutoFit/>
          </a:bodyPr>
          <a:p>
            <a:r>
              <a:rPr lang="en-US" altLang="en-GB" sz="1200">
                <a:solidFill>
                  <a:schemeClr val="bg2">
                    <a:lumMod val="25000"/>
                  </a:schemeClr>
                </a:solidFill>
                <a:latin typeface="Georgia Pro Cond" panose="02040506050405020303" charset="0"/>
                <a:cs typeface="Georgia Pro Cond" panose="02040506050405020303" charset="0"/>
                <a:sym typeface="+mn-ea"/>
              </a:rPr>
              <a:t>1026</a:t>
            </a:r>
            <a:endParaRPr lang="en-US" altLang="en-GB" sz="1200">
              <a:solidFill>
                <a:schemeClr val="bg2">
                  <a:lumMod val="25000"/>
                </a:schemeClr>
              </a:solidFill>
              <a:latin typeface="Georgia Pro Cond" panose="02040506050405020303" charset="0"/>
              <a:cs typeface="Georgia Pro Cond" panose="02040506050405020303" charset="0"/>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678815" y="405765"/>
            <a:ext cx="4958715" cy="810895"/>
          </a:xfrm>
        </p:spPr>
        <p:txBody>
          <a:bodyPr>
            <a:normAutofit fontScale="90000"/>
          </a:bodyPr>
          <a:lstStyle/>
          <a:p>
            <a:r>
              <a:rPr lang="en-US" dirty="0">
                <a:solidFill>
                  <a:srgbClr val="0F172A"/>
                </a:solidFill>
                <a:latin typeface="Georgia Pro Cond Light" panose="02040306050405020303" charset="0"/>
                <a:ea typeface="SimSun" panose="02010600030101010101" pitchFamily="2" charset="-122"/>
                <a:cs typeface="Georgia Pro Cond Light" panose="02040306050405020303" charset="0"/>
                <a:sym typeface="+mn-ea"/>
              </a:rPr>
              <a:t>Segmentation Insights &amp; Risk Modeling</a:t>
            </a:r>
            <a:endParaRPr lang="en-IN">
              <a:latin typeface="Georgia Pro Cond Light" panose="02040306050405020303" charset="0"/>
              <a:cs typeface="Georgia Pro Cond Light" panose="02040306050405020303" charset="0"/>
            </a:endParaRPr>
          </a:p>
        </p:txBody>
      </p:sp>
      <p:pic>
        <p:nvPicPr>
          <p:cNvPr id="3" name="Content Placeholder 2" descr="output"/>
          <p:cNvPicPr>
            <a:picLocks noChangeAspect="1"/>
          </p:cNvPicPr>
          <p:nvPr>
            <p:ph idx="1"/>
          </p:nvPr>
        </p:nvPicPr>
        <p:blipFill>
          <a:blip r:embed="rId1"/>
          <a:stretch>
            <a:fillRect/>
          </a:stretch>
        </p:blipFill>
        <p:spPr>
          <a:xfrm>
            <a:off x="6818630" y="1348740"/>
            <a:ext cx="4846320" cy="4160520"/>
          </a:xfrm>
          <a:prstGeom prst="rect">
            <a:avLst/>
          </a:prstGeom>
        </p:spPr>
      </p:pic>
      <p:sp>
        <p:nvSpPr>
          <p:cNvPr id="2" name="Text Box 1"/>
          <p:cNvSpPr txBox="1"/>
          <p:nvPr/>
        </p:nvSpPr>
        <p:spPr>
          <a:xfrm>
            <a:off x="7080885" y="419735"/>
            <a:ext cx="4064000" cy="368300"/>
          </a:xfrm>
          <a:prstGeom prst="rect">
            <a:avLst/>
          </a:prstGeom>
          <a:noFill/>
        </p:spPr>
        <p:txBody>
          <a:bodyPr wrap="square" rtlCol="0">
            <a:spAutoFit/>
          </a:bodyPr>
          <a:p>
            <a:pPr algn="ctr"/>
            <a:r>
              <a:rPr lang="en-US" altLang="en-GB">
                <a:solidFill>
                  <a:schemeClr val="bg2"/>
                </a:solidFill>
              </a:rPr>
              <a:t>Segment x Risk Profile</a:t>
            </a:r>
            <a:endParaRPr lang="en-US" altLang="en-GB">
              <a:solidFill>
                <a:schemeClr val="bg2"/>
              </a:solidFill>
            </a:endParaRPr>
          </a:p>
        </p:txBody>
      </p:sp>
      <p:sp>
        <p:nvSpPr>
          <p:cNvPr id="6" name="Text Box 5"/>
          <p:cNvSpPr txBox="1"/>
          <p:nvPr/>
        </p:nvSpPr>
        <p:spPr>
          <a:xfrm>
            <a:off x="679450" y="1442085"/>
            <a:ext cx="4958080" cy="584835"/>
          </a:xfrm>
          <a:prstGeom prst="rect">
            <a:avLst/>
          </a:prstGeom>
          <a:noFill/>
        </p:spPr>
        <p:txBody>
          <a:bodyPr wrap="square" rtlCol="0">
            <a:noAutofit/>
          </a:bodyPr>
          <a:p>
            <a:r>
              <a:rPr lang="en-US" dirty="0">
                <a:solidFill>
                  <a:srgbClr val="64748B"/>
                </a:solidFill>
                <a:latin typeface="Georgia Pro Cond Light" panose="02040306050405020303" charset="0"/>
                <a:ea typeface="SimSun" panose="02010600030101010101" pitchFamily="2" charset="-122"/>
                <a:cs typeface="Georgia Pro Cond Light" panose="02040306050405020303" charset="0"/>
                <a:sym typeface="+mn-ea"/>
              </a:rPr>
              <a:t>Combining cluster labels with GMM log-likelihood scores to derive actionable risk tiers.</a:t>
            </a:r>
            <a:endParaRPr lang="en-US" dirty="0">
              <a:latin typeface="Georgia Pro Cond Light" panose="02040306050405020303" charset="0"/>
              <a:cs typeface="Georgia Pro Cond Light" panose="02040306050405020303" charset="0"/>
            </a:endParaRPr>
          </a:p>
          <a:p>
            <a:endParaRPr lang="en-US" altLang="en-US" dirty="0">
              <a:latin typeface="Georgia Pro Cond Light" panose="02040306050405020303" charset="0"/>
              <a:cs typeface="Georgia Pro Cond Light" panose="02040306050405020303" charset="0"/>
            </a:endParaRPr>
          </a:p>
        </p:txBody>
      </p:sp>
      <p:sp>
        <p:nvSpPr>
          <p:cNvPr id="18" name="Text 1"/>
          <p:cNvSpPr/>
          <p:nvPr/>
        </p:nvSpPr>
        <p:spPr>
          <a:xfrm>
            <a:off x="704850" y="2252345"/>
            <a:ext cx="4661535" cy="1266190"/>
          </a:xfrm>
          <a:prstGeom prst="rect">
            <a:avLst/>
          </a:prstGeom>
          <a:solidFill>
            <a:srgbClr val="2563EB">
              <a:alpha val="6000"/>
            </a:srgbClr>
          </a:solidFill>
          <a:ln w="9525">
            <a:solidFill>
              <a:srgbClr val="2563EB"/>
            </a:solidFill>
          </a:ln>
        </p:spPr>
        <p:txBody>
          <a:bodyPr wrap="none" lIns="0" tIns="0" rIns="0" bIns="0" rtlCol="0" anchor="ctr">
            <a:normAutofit/>
          </a:bodyPr>
          <a:lstStyle/>
          <a:p>
            <a:pPr marL="0" indent="0">
              <a:buNone/>
            </a:pPr>
            <a:endParaRPr lang="en-US" sz="1400" dirty="0">
              <a:latin typeface="Georgia Pro Cond" panose="02040506050405020303" charset="0"/>
              <a:cs typeface="Georgia Pro Cond" panose="02040506050405020303" charset="0"/>
            </a:endParaRPr>
          </a:p>
        </p:txBody>
      </p:sp>
      <p:sp>
        <p:nvSpPr>
          <p:cNvPr id="22" name="Text 3"/>
          <p:cNvSpPr/>
          <p:nvPr/>
        </p:nvSpPr>
        <p:spPr>
          <a:xfrm>
            <a:off x="704850" y="3630295"/>
            <a:ext cx="4661535" cy="1056640"/>
          </a:xfrm>
          <a:prstGeom prst="rect">
            <a:avLst/>
          </a:prstGeom>
          <a:solidFill>
            <a:srgbClr val="EF4444">
              <a:alpha val="5000"/>
            </a:srgbClr>
          </a:solidFill>
          <a:ln w="9525">
            <a:solidFill>
              <a:srgbClr val="EF4444"/>
            </a:solidFill>
          </a:ln>
        </p:spPr>
        <p:txBody>
          <a:bodyPr wrap="none" lIns="0" tIns="0" rIns="0" bIns="0" rtlCol="0" anchor="ctr">
            <a:normAutofit/>
          </a:bodyPr>
          <a:lstStyle/>
          <a:p>
            <a:pPr marL="0" indent="0">
              <a:buNone/>
            </a:pPr>
            <a:endParaRPr lang="en-US" sz="1400" dirty="0">
              <a:latin typeface="Georgia Pro Cond" panose="02040506050405020303" charset="0"/>
              <a:cs typeface="Georgia Pro Cond" panose="02040506050405020303" charset="0"/>
            </a:endParaRPr>
          </a:p>
        </p:txBody>
      </p:sp>
      <p:sp>
        <p:nvSpPr>
          <p:cNvPr id="24" name="Text 5"/>
          <p:cNvSpPr/>
          <p:nvPr/>
        </p:nvSpPr>
        <p:spPr>
          <a:xfrm>
            <a:off x="704850" y="4799330"/>
            <a:ext cx="4661535" cy="1056640"/>
          </a:xfrm>
          <a:prstGeom prst="rect">
            <a:avLst/>
          </a:prstGeom>
          <a:solidFill>
            <a:srgbClr val="10B981">
              <a:alpha val="5000"/>
            </a:srgbClr>
          </a:solidFill>
          <a:ln w="9525">
            <a:solidFill>
              <a:srgbClr val="10B981"/>
            </a:solidFill>
          </a:ln>
        </p:spPr>
        <p:txBody>
          <a:bodyPr wrap="none" lIns="0" tIns="0" rIns="0" bIns="0" rtlCol="0" anchor="ctr">
            <a:normAutofit/>
          </a:bodyPr>
          <a:lstStyle/>
          <a:p>
            <a:pPr marL="0" indent="0">
              <a:buNone/>
            </a:pPr>
            <a:endParaRPr lang="en-US" sz="1400" dirty="0">
              <a:latin typeface="Georgia Pro Cond" panose="02040506050405020303" charset="0"/>
              <a:cs typeface="Georgia Pro Cond" panose="02040506050405020303" charset="0"/>
            </a:endParaRPr>
          </a:p>
        </p:txBody>
      </p:sp>
      <p:sp>
        <p:nvSpPr>
          <p:cNvPr id="26" name="Text 10"/>
          <p:cNvSpPr/>
          <p:nvPr/>
        </p:nvSpPr>
        <p:spPr>
          <a:xfrm>
            <a:off x="906780" y="2422525"/>
            <a:ext cx="1885950" cy="228600"/>
          </a:xfrm>
          <a:prstGeom prst="rect">
            <a:avLst/>
          </a:prstGeom>
          <a:noFill/>
        </p:spPr>
        <p:txBody>
          <a:bodyPr wrap="square" lIns="0" tIns="0" rIns="0" bIns="0" rtlCol="0" anchor="t"/>
          <a:lstStyle/>
          <a:p>
            <a:pPr marL="0" indent="0">
              <a:lnSpc>
                <a:spcPts val="1530"/>
              </a:lnSpc>
              <a:buNone/>
            </a:pPr>
            <a:r>
              <a:rPr lang="en-US" sz="1200" b="1" dirty="0">
                <a:solidFill>
                  <a:srgbClr val="2563EB"/>
                </a:solidFill>
                <a:latin typeface="Georgia Pro Cond" panose="02040506050405020303" charset="0"/>
                <a:ea typeface="SimSun" panose="02010600030101010101" pitchFamily="2" charset="-122"/>
                <a:cs typeface="Georgia Pro Cond" panose="02040506050405020303" charset="0"/>
              </a:rPr>
              <a:t>⭐ VIP + High Risk</a:t>
            </a:r>
            <a:endParaRPr lang="en-US" sz="1200" b="1" dirty="0">
              <a:solidFill>
                <a:srgbClr val="2563EB"/>
              </a:solidFill>
              <a:latin typeface="Georgia Pro Cond" panose="02040506050405020303" charset="0"/>
              <a:ea typeface="SimSun" panose="02010600030101010101" pitchFamily="2" charset="-122"/>
              <a:cs typeface="Georgia Pro Cond" panose="02040506050405020303" charset="0"/>
            </a:endParaRPr>
          </a:p>
        </p:txBody>
      </p:sp>
      <p:sp>
        <p:nvSpPr>
          <p:cNvPr id="27" name="Text 11"/>
          <p:cNvSpPr/>
          <p:nvPr/>
        </p:nvSpPr>
        <p:spPr>
          <a:xfrm>
            <a:off x="906780" y="2778760"/>
            <a:ext cx="4291965" cy="629285"/>
          </a:xfrm>
          <a:prstGeom prst="rect">
            <a:avLst/>
          </a:prstGeom>
          <a:noFill/>
        </p:spPr>
        <p:txBody>
          <a:bodyPr wrap="square" lIns="0" tIns="0" rIns="0" bIns="0" rtlCol="0" anchor="t"/>
          <a:lstStyle/>
          <a:p>
            <a:pPr marL="0" indent="0">
              <a:lnSpc>
                <a:spcPts val="1405"/>
              </a:lnSpc>
              <a:buNone/>
            </a:pPr>
            <a:r>
              <a:rPr lang="en-US" sz="1200" dirty="0">
                <a:solidFill>
                  <a:srgbClr val="334155"/>
                </a:solidFill>
                <a:latin typeface="Georgia Pro Cond" panose="02040506050405020303" charset="0"/>
                <a:ea typeface="SimSun" panose="02010600030101010101" pitchFamily="2" charset="-122"/>
                <a:cs typeface="Georgia Pro Cond" panose="02040506050405020303" charset="0"/>
              </a:rPr>
              <a:t>Top revenue contributors showing engagement drop signals. Immediate personalized outreach required — account for 42% of total revenue.</a:t>
            </a:r>
            <a:endParaRPr lang="en-US" sz="1200" dirty="0">
              <a:solidFill>
                <a:srgbClr val="334155"/>
              </a:solidFill>
              <a:latin typeface="Georgia Pro Cond" panose="02040506050405020303" charset="0"/>
              <a:ea typeface="SimSun" panose="02010600030101010101" pitchFamily="2" charset="-122"/>
              <a:cs typeface="Georgia Pro Cond" panose="02040506050405020303" charset="0"/>
            </a:endParaRPr>
          </a:p>
        </p:txBody>
      </p:sp>
      <p:sp>
        <p:nvSpPr>
          <p:cNvPr id="28" name="Text 12"/>
          <p:cNvSpPr/>
          <p:nvPr/>
        </p:nvSpPr>
        <p:spPr>
          <a:xfrm>
            <a:off x="906780" y="3801110"/>
            <a:ext cx="1948180" cy="228600"/>
          </a:xfrm>
          <a:prstGeom prst="rect">
            <a:avLst/>
          </a:prstGeom>
          <a:noFill/>
        </p:spPr>
        <p:txBody>
          <a:bodyPr wrap="square" lIns="0" tIns="0" rIns="0" bIns="0" rtlCol="0" anchor="t"/>
          <a:lstStyle/>
          <a:p>
            <a:pPr marL="0" indent="0">
              <a:lnSpc>
                <a:spcPts val="1530"/>
              </a:lnSpc>
              <a:buNone/>
            </a:pPr>
            <a:r>
              <a:rPr lang="en-US" sz="1200" b="1" dirty="0">
                <a:solidFill>
                  <a:srgbClr val="DC2626"/>
                </a:solidFill>
                <a:latin typeface="Georgia Pro Cond" panose="02040506050405020303" charset="0"/>
                <a:ea typeface="SimSun" panose="02010600030101010101" pitchFamily="2" charset="-122"/>
                <a:cs typeface="Georgia Pro Cond" panose="02040506050405020303" charset="0"/>
              </a:rPr>
              <a:t>⚠ At Risk + High Risk</a:t>
            </a:r>
            <a:endParaRPr lang="en-US" sz="1200" b="1" dirty="0">
              <a:solidFill>
                <a:srgbClr val="DC2626"/>
              </a:solidFill>
              <a:latin typeface="Georgia Pro Cond" panose="02040506050405020303" charset="0"/>
              <a:ea typeface="SimSun" panose="02010600030101010101" pitchFamily="2" charset="-122"/>
              <a:cs typeface="Georgia Pro Cond" panose="02040506050405020303" charset="0"/>
            </a:endParaRPr>
          </a:p>
        </p:txBody>
      </p:sp>
      <p:sp>
        <p:nvSpPr>
          <p:cNvPr id="29" name="Text 13"/>
          <p:cNvSpPr/>
          <p:nvPr/>
        </p:nvSpPr>
        <p:spPr>
          <a:xfrm>
            <a:off x="906780" y="4183380"/>
            <a:ext cx="4291965" cy="419735"/>
          </a:xfrm>
          <a:prstGeom prst="rect">
            <a:avLst/>
          </a:prstGeom>
          <a:noFill/>
        </p:spPr>
        <p:txBody>
          <a:bodyPr wrap="square" lIns="0" tIns="0" rIns="0" bIns="0" rtlCol="0" anchor="t"/>
          <a:lstStyle/>
          <a:p>
            <a:pPr marL="0" indent="0">
              <a:lnSpc>
                <a:spcPts val="1405"/>
              </a:lnSpc>
              <a:buNone/>
            </a:pPr>
            <a:r>
              <a:rPr lang="en-US" sz="1200" dirty="0">
                <a:solidFill>
                  <a:srgbClr val="334155"/>
                </a:solidFill>
                <a:latin typeface="Georgia Pro Cond" panose="02040506050405020303" charset="0"/>
                <a:ea typeface="SimSun" panose="02010600030101010101" pitchFamily="2" charset="-122"/>
                <a:cs typeface="Georgia Pro Cond" panose="02040506050405020303" charset="0"/>
              </a:rPr>
              <a:t>Already disengaging with high GMM anomaly scores. Win-back campaigns with discount triggers needed within 30 days.</a:t>
            </a:r>
            <a:endParaRPr lang="en-US" sz="1200" dirty="0">
              <a:solidFill>
                <a:srgbClr val="334155"/>
              </a:solidFill>
              <a:latin typeface="Georgia Pro Cond" panose="02040506050405020303" charset="0"/>
              <a:ea typeface="SimSun" panose="02010600030101010101" pitchFamily="2" charset="-122"/>
              <a:cs typeface="Georgia Pro Cond" panose="02040506050405020303" charset="0"/>
            </a:endParaRPr>
          </a:p>
        </p:txBody>
      </p:sp>
      <p:sp>
        <p:nvSpPr>
          <p:cNvPr id="30" name="Text 14"/>
          <p:cNvSpPr/>
          <p:nvPr/>
        </p:nvSpPr>
        <p:spPr>
          <a:xfrm>
            <a:off x="906780" y="4969510"/>
            <a:ext cx="1948815" cy="228600"/>
          </a:xfrm>
          <a:prstGeom prst="rect">
            <a:avLst/>
          </a:prstGeom>
          <a:noFill/>
        </p:spPr>
        <p:txBody>
          <a:bodyPr wrap="square" lIns="0" tIns="0" rIns="0" bIns="0" rtlCol="0" anchor="t"/>
          <a:lstStyle/>
          <a:p>
            <a:pPr marL="0" indent="0">
              <a:lnSpc>
                <a:spcPts val="1530"/>
              </a:lnSpc>
              <a:buNone/>
            </a:pPr>
            <a:r>
              <a:rPr lang="en-US" sz="1200" b="1" dirty="0">
                <a:solidFill>
                  <a:srgbClr val="059669"/>
                </a:solidFill>
                <a:latin typeface="Georgia Pro Cond" panose="02040506050405020303" charset="0"/>
                <a:ea typeface="SimSun" panose="02010600030101010101" pitchFamily="2" charset="-122"/>
                <a:cs typeface="Georgia Pro Cond" panose="02040506050405020303" charset="0"/>
              </a:rPr>
              <a:t>🌱  Potential + Low Risk</a:t>
            </a:r>
            <a:endParaRPr lang="en-US" sz="1200" b="1" dirty="0">
              <a:solidFill>
                <a:srgbClr val="059669"/>
              </a:solidFill>
              <a:latin typeface="Georgia Pro Cond" panose="02040506050405020303" charset="0"/>
              <a:ea typeface="SimSun" panose="02010600030101010101" pitchFamily="2" charset="-122"/>
              <a:cs typeface="Georgia Pro Cond" panose="02040506050405020303" charset="0"/>
            </a:endParaRPr>
          </a:p>
        </p:txBody>
      </p:sp>
      <p:sp>
        <p:nvSpPr>
          <p:cNvPr id="31" name="Text 15"/>
          <p:cNvSpPr/>
          <p:nvPr/>
        </p:nvSpPr>
        <p:spPr>
          <a:xfrm>
            <a:off x="952500" y="5267960"/>
            <a:ext cx="4291965" cy="442595"/>
          </a:xfrm>
          <a:prstGeom prst="rect">
            <a:avLst/>
          </a:prstGeom>
          <a:noFill/>
        </p:spPr>
        <p:txBody>
          <a:bodyPr wrap="square" lIns="0" tIns="0" rIns="0" bIns="0" rtlCol="0" anchor="t"/>
          <a:lstStyle/>
          <a:p>
            <a:pPr marL="0" indent="0">
              <a:lnSpc>
                <a:spcPts val="1405"/>
              </a:lnSpc>
              <a:buNone/>
            </a:pPr>
            <a:r>
              <a:rPr lang="en-US" sz="1200" dirty="0">
                <a:solidFill>
                  <a:srgbClr val="334155"/>
                </a:solidFill>
                <a:latin typeface="Georgia Pro Cond" panose="02040506050405020303" charset="0"/>
                <a:ea typeface="SimSun" panose="02010600030101010101" pitchFamily="2" charset="-122"/>
                <a:cs typeface="Georgia Pro Cond" panose="02040506050405020303" charset="0"/>
              </a:rPr>
              <a:t>Stable behavioral pattern, increasing frequency. Loyalty program enrollment and cross-sell campaigns for revenue uplift.</a:t>
            </a:r>
            <a:endParaRPr lang="en-US" sz="1200" dirty="0">
              <a:solidFill>
                <a:srgbClr val="334155"/>
              </a:solidFill>
              <a:latin typeface="Georgia Pro Cond" panose="02040506050405020303" charset="0"/>
              <a:ea typeface="SimSun" panose="02010600030101010101" pitchFamily="2" charset="-122"/>
              <a:cs typeface="Georgia Pro Cond" panose="02040506050405020303" charset="0"/>
            </a:endParaRPr>
          </a:p>
        </p:txBody>
      </p:sp>
      <p:sp>
        <p:nvSpPr>
          <p:cNvPr id="33" name="Text Box 32"/>
          <p:cNvSpPr txBox="1"/>
          <p:nvPr/>
        </p:nvSpPr>
        <p:spPr>
          <a:xfrm>
            <a:off x="3735070" y="3703320"/>
            <a:ext cx="1576070" cy="283845"/>
          </a:xfrm>
          <a:prstGeom prst="rect">
            <a:avLst/>
          </a:prstGeom>
          <a:solidFill>
            <a:schemeClr val="accent4">
              <a:lumMod val="40000"/>
              <a:lumOff val="60000"/>
              <a:alpha val="57000"/>
            </a:schemeClr>
          </a:solidFill>
        </p:spPr>
        <p:txBody>
          <a:bodyPr wrap="square" rtlCol="0" anchor="t" anchorCtr="0">
            <a:noAutofit/>
          </a:bodyPr>
          <a:p>
            <a:r>
              <a:rPr lang="en-US" sz="1000" b="1" dirty="0">
                <a:solidFill>
                  <a:srgbClr val="D97706"/>
                </a:solidFill>
                <a:latin typeface="Georgia Pro Cond" panose="02040506050405020303" charset="0"/>
                <a:ea typeface="SimSun" panose="02010600030101010101" pitchFamily="2" charset="-122"/>
                <a:cs typeface="Georgia Pro Cond" panose="02040506050405020303" charset="0"/>
                <a:sym typeface="+mn-ea"/>
              </a:rPr>
              <a:t>🟡  Likely Churn</a:t>
            </a:r>
            <a:endParaRPr lang="en-US" sz="1000" b="1" dirty="0">
              <a:solidFill>
                <a:srgbClr val="D97706"/>
              </a:solidFill>
              <a:latin typeface="Georgia Pro Cond" panose="02040506050405020303" charset="0"/>
              <a:ea typeface="SimSun" panose="02010600030101010101" pitchFamily="2" charset="-122"/>
              <a:cs typeface="Georgia Pro Cond" panose="02040506050405020303" charset="0"/>
            </a:endParaRPr>
          </a:p>
          <a:p>
            <a:endParaRPr lang="en-US" altLang="en-US" sz="1000" b="1" dirty="0">
              <a:solidFill>
                <a:srgbClr val="D97706"/>
              </a:solidFill>
              <a:latin typeface="Georgia Pro Cond" panose="02040506050405020303" charset="0"/>
              <a:ea typeface="SimSun" panose="02010600030101010101" pitchFamily="2" charset="-122"/>
              <a:cs typeface="Georgia Pro Cond" panose="02040506050405020303" charset="0"/>
            </a:endParaRPr>
          </a:p>
        </p:txBody>
      </p:sp>
      <p:sp>
        <p:nvSpPr>
          <p:cNvPr id="34" name="Text Box 33"/>
          <p:cNvSpPr txBox="1"/>
          <p:nvPr/>
        </p:nvSpPr>
        <p:spPr>
          <a:xfrm>
            <a:off x="3734435" y="2311400"/>
            <a:ext cx="1576070" cy="245110"/>
          </a:xfrm>
          <a:prstGeom prst="rect">
            <a:avLst/>
          </a:prstGeom>
          <a:solidFill>
            <a:schemeClr val="accent2">
              <a:lumMod val="40000"/>
              <a:lumOff val="60000"/>
            </a:schemeClr>
          </a:solidFill>
        </p:spPr>
        <p:txBody>
          <a:bodyPr wrap="square" rtlCol="0" anchor="t">
            <a:spAutoFit/>
          </a:bodyPr>
          <a:p>
            <a:pPr marL="0" indent="0" algn="l" fontAlgn="t">
              <a:lnSpc>
                <a:spcPct val="100000"/>
              </a:lnSpc>
              <a:buNone/>
            </a:pPr>
            <a:r>
              <a:rPr lang="en-US" sz="1000" b="1" dirty="0">
                <a:solidFill>
                  <a:srgbClr val="DC2626"/>
                </a:solidFill>
                <a:latin typeface="Georgia Pro Cond" panose="02040506050405020303" charset="0"/>
                <a:ea typeface="SimSun" panose="02010600030101010101" pitchFamily="2" charset="-122"/>
                <a:cs typeface="Georgia Pro Cond" panose="02040506050405020303" charset="0"/>
                <a:sym typeface="+mn-ea"/>
              </a:rPr>
              <a:t>🔴   Critical Retention</a:t>
            </a:r>
            <a:endParaRPr lang="en-US" altLang="en-US" sz="1000" b="1" dirty="0">
              <a:solidFill>
                <a:srgbClr val="DC2626"/>
              </a:solidFill>
              <a:latin typeface="Georgia Pro Cond" panose="02040506050405020303" charset="0"/>
              <a:ea typeface="SimSun" panose="02010600030101010101" pitchFamily="2" charset="-122"/>
              <a:cs typeface="Georgia Pro Cond" panose="02040506050405020303" charset="0"/>
              <a:sym typeface="+mn-ea"/>
            </a:endParaRPr>
          </a:p>
        </p:txBody>
      </p:sp>
      <p:sp>
        <p:nvSpPr>
          <p:cNvPr id="35" name="Text Box 34"/>
          <p:cNvSpPr txBox="1"/>
          <p:nvPr/>
        </p:nvSpPr>
        <p:spPr>
          <a:xfrm>
            <a:off x="3734435" y="4909185"/>
            <a:ext cx="1576070" cy="245110"/>
          </a:xfrm>
          <a:prstGeom prst="rect">
            <a:avLst/>
          </a:prstGeom>
          <a:solidFill>
            <a:schemeClr val="accent6">
              <a:lumMod val="40000"/>
              <a:lumOff val="60000"/>
            </a:schemeClr>
          </a:solidFill>
        </p:spPr>
        <p:txBody>
          <a:bodyPr wrap="square" rtlCol="0" anchor="t">
            <a:spAutoFit/>
          </a:bodyPr>
          <a:p>
            <a:pPr marL="0" indent="0" algn="l">
              <a:buNone/>
            </a:pPr>
            <a:r>
              <a:rPr lang="en-US" sz="1000" b="1" dirty="0">
                <a:solidFill>
                  <a:srgbClr val="059669"/>
                </a:solidFill>
                <a:latin typeface="Georgia Pro Cond" panose="02040506050405020303" charset="0"/>
                <a:ea typeface="SimSun" panose="02010600030101010101" pitchFamily="2" charset="-122"/>
                <a:cs typeface="Georgia Pro Cond" panose="02040506050405020303" charset="0"/>
                <a:sym typeface="+mn-ea"/>
              </a:rPr>
              <a:t>🟢 Growth Opportunity</a:t>
            </a:r>
            <a:endParaRPr lang="en-US" altLang="en-US" sz="1000" b="1" dirty="0">
              <a:solidFill>
                <a:srgbClr val="059669"/>
              </a:solidFill>
              <a:latin typeface="Georgia Pro Cond" panose="02040506050405020303" charset="0"/>
              <a:ea typeface="SimSun" panose="02010600030101010101" pitchFamily="2" charset="-122"/>
              <a:cs typeface="Georgia Pro Cond" panose="02040506050405020303" charset="0"/>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Flowchart: Alternate Process 50"/>
          <p:cNvSpPr/>
          <p:nvPr>
            <p:custDataLst>
              <p:tags r:id="rId1"/>
            </p:custDataLst>
          </p:nvPr>
        </p:nvSpPr>
        <p:spPr>
          <a:xfrm>
            <a:off x="527050" y="1695450"/>
            <a:ext cx="6155690" cy="3861435"/>
          </a:xfrm>
          <a:prstGeom prst="flowChartAlternateProcess">
            <a:avLst/>
          </a:prstGeom>
          <a:blipFill rotWithShape="1">
            <a:blip r:embed="rId2">
              <a:alphaModFix amt="70000"/>
            </a:blip>
            <a:tile tx="0" ty="0" sx="100000" sy="100000" flip="none" algn="tl"/>
          </a:blipFill>
          <a:ln w="6350" cap="rnd">
            <a:noFill/>
            <a:round/>
          </a:ln>
          <a:effectLst/>
          <a:scene3d>
            <a:camera prst="orthographicFront"/>
            <a:lightRig rig="threePt" dir="t"/>
          </a:scene3d>
          <a:sp3d extrusionH="25400"/>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52" name="Text Box 51"/>
          <p:cNvSpPr txBox="1"/>
          <p:nvPr/>
        </p:nvSpPr>
        <p:spPr>
          <a:xfrm>
            <a:off x="1371600" y="1767840"/>
            <a:ext cx="4064000" cy="368300"/>
          </a:xfrm>
          <a:prstGeom prst="rect">
            <a:avLst/>
          </a:prstGeom>
          <a:noFill/>
        </p:spPr>
        <p:txBody>
          <a:bodyPr wrap="square" rtlCol="0">
            <a:spAutoFit/>
          </a:bodyPr>
          <a:p>
            <a:pPr algn="ctr"/>
            <a:r>
              <a:rPr lang="en-US" altLang="en-GB" b="1">
                <a:solidFill>
                  <a:srgbClr val="C00000"/>
                </a:solidFill>
                <a:latin typeface="Georgia Pro Cond" panose="02040506050405020303" charset="0"/>
                <a:cs typeface="Georgia Pro Cond" panose="02040506050405020303" charset="0"/>
              </a:rPr>
              <a:t>Model Architecture</a:t>
            </a:r>
            <a:endParaRPr lang="en-US" altLang="en-GB" b="1">
              <a:solidFill>
                <a:srgbClr val="C00000"/>
              </a:solidFill>
              <a:latin typeface="Georgia Pro Cond" panose="02040506050405020303" charset="0"/>
              <a:cs typeface="Georgia Pro Cond" panose="02040506050405020303" charset="0"/>
            </a:endParaRPr>
          </a:p>
        </p:txBody>
      </p:sp>
      <p:sp>
        <p:nvSpPr>
          <p:cNvPr id="4" name="Title 3"/>
          <p:cNvSpPr>
            <a:spLocks noGrp="1"/>
          </p:cNvSpPr>
          <p:nvPr>
            <p:ph type="title"/>
          </p:nvPr>
        </p:nvSpPr>
        <p:spPr>
          <a:xfrm>
            <a:off x="527119" y="363001"/>
            <a:ext cx="10834234" cy="612775"/>
          </a:xfrm>
        </p:spPr>
        <p:txBody>
          <a:bodyPr>
            <a:normAutofit/>
          </a:bodyPr>
          <a:lstStyle/>
          <a:p>
            <a:r>
              <a:rPr lang="en-US" dirty="0">
                <a:solidFill>
                  <a:srgbClr val="0F172A"/>
                </a:solidFill>
                <a:latin typeface="Georgia Pro Cond Light" panose="02040306050405020303" charset="0"/>
                <a:ea typeface="SimSun" panose="02010600030101010101" pitchFamily="2" charset="-122"/>
                <a:cs typeface="Georgia Pro Cond Light" panose="02040306050405020303" charset="0"/>
                <a:sym typeface="+mn-ea"/>
              </a:rPr>
              <a:t> Predictive Modelling Overview</a:t>
            </a:r>
            <a:endParaRPr lang="en-US" dirty="0">
              <a:latin typeface="Georgia Pro Cond Light" panose="02040306050405020303" charset="0"/>
              <a:cs typeface="Georgia Pro Cond Light" panose="02040306050405020303" charset="0"/>
            </a:endParaRPr>
          </a:p>
        </p:txBody>
      </p:sp>
      <p:grpSp>
        <p:nvGrpSpPr>
          <p:cNvPr id="47" name="Group 46"/>
          <p:cNvGrpSpPr/>
          <p:nvPr>
            <p:custDataLst>
              <p:tags r:id="rId3"/>
            </p:custDataLst>
          </p:nvPr>
        </p:nvGrpSpPr>
        <p:grpSpPr>
          <a:xfrm>
            <a:off x="789305" y="2230919"/>
            <a:ext cx="5604634" cy="3005161"/>
            <a:chOff x="1125" y="2292"/>
            <a:chExt cx="6467" cy="3440"/>
          </a:xfrm>
        </p:grpSpPr>
        <p:sp>
          <p:nvSpPr>
            <p:cNvPr id="33" name="Text 2"/>
            <p:cNvSpPr/>
            <p:nvPr>
              <p:custDataLst>
                <p:tags r:id="rId4"/>
              </p:custDataLst>
            </p:nvPr>
          </p:nvSpPr>
          <p:spPr>
            <a:xfrm>
              <a:off x="1125" y="2292"/>
              <a:ext cx="6467" cy="847"/>
            </a:xfrm>
            <a:prstGeom prst="roundRect">
              <a:avLst>
                <a:gd name="adj" fmla="val 136042"/>
              </a:avLst>
            </a:prstGeom>
            <a:solidFill>
              <a:schemeClr val="accent6">
                <a:lumMod val="75000"/>
                <a:alpha val="89000"/>
              </a:schemeClr>
            </a:solidFill>
          </p:spPr>
          <p:txBody>
            <a:bodyPr wrap="none" lIns="0" tIns="0" rIns="0" bIns="0" rtlCol="0" anchor="ctr">
              <a:normAutofit/>
            </a:bodyPr>
            <a:lstStyle/>
            <a:p>
              <a:pPr marL="0" indent="0">
                <a:buNone/>
              </a:pPr>
              <a:endParaRPr lang="en-US" dirty="0">
                <a:latin typeface="Georgia Pro Cond Light" panose="02040306050405020303" charset="0"/>
                <a:cs typeface="Georgia Pro Cond Light" panose="02040306050405020303" charset="0"/>
              </a:endParaRPr>
            </a:p>
          </p:txBody>
        </p:sp>
        <p:sp>
          <p:nvSpPr>
            <p:cNvPr id="34" name="Text 3"/>
            <p:cNvSpPr/>
            <p:nvPr>
              <p:custDataLst>
                <p:tags r:id="rId5"/>
              </p:custDataLst>
            </p:nvPr>
          </p:nvSpPr>
          <p:spPr>
            <a:xfrm>
              <a:off x="4343" y="3259"/>
              <a:ext cx="30" cy="210"/>
            </a:xfrm>
            <a:prstGeom prst="rect">
              <a:avLst/>
            </a:prstGeom>
            <a:solidFill>
              <a:srgbClr val="2563EB">
                <a:alpha val="30000"/>
              </a:srgbClr>
            </a:solidFill>
          </p:spPr>
          <p:txBody>
            <a:bodyPr wrap="none" lIns="0" tIns="0" rIns="0" bIns="0" rtlCol="0" anchor="ctr">
              <a:noAutofit/>
            </a:bodyPr>
            <a:lstStyle/>
            <a:p>
              <a:pPr marL="0" indent="0">
                <a:buNone/>
              </a:pPr>
              <a:endParaRPr lang="en-US" sz="1700" dirty="0">
                <a:latin typeface="Georgia Pro Cond Light" panose="02040306050405020303" charset="0"/>
                <a:cs typeface="Georgia Pro Cond Light" panose="02040306050405020303" charset="0"/>
              </a:endParaRPr>
            </a:p>
          </p:txBody>
        </p:sp>
        <p:sp>
          <p:nvSpPr>
            <p:cNvPr id="35" name="Text 4"/>
            <p:cNvSpPr/>
            <p:nvPr>
              <p:custDataLst>
                <p:tags r:id="rId6"/>
              </p:custDataLst>
            </p:nvPr>
          </p:nvSpPr>
          <p:spPr>
            <a:xfrm>
              <a:off x="1125" y="3589"/>
              <a:ext cx="6467" cy="847"/>
            </a:xfrm>
            <a:prstGeom prst="roundRect">
              <a:avLst>
                <a:gd name="adj" fmla="val 136042"/>
              </a:avLst>
            </a:prstGeom>
            <a:solidFill>
              <a:schemeClr val="bg2">
                <a:lumMod val="25000"/>
                <a:alpha val="89000"/>
              </a:schemeClr>
            </a:solidFill>
          </p:spPr>
          <p:txBody>
            <a:bodyPr wrap="none" lIns="0" tIns="0" rIns="0" bIns="0" rtlCol="0" anchor="ctr">
              <a:normAutofit/>
            </a:bodyPr>
            <a:lstStyle/>
            <a:p>
              <a:pPr marL="0" indent="0">
                <a:buNone/>
              </a:pPr>
              <a:endParaRPr lang="en-US" dirty="0">
                <a:latin typeface="Georgia Pro Cond Light" panose="02040306050405020303" charset="0"/>
                <a:cs typeface="Georgia Pro Cond Light" panose="02040306050405020303" charset="0"/>
              </a:endParaRPr>
            </a:p>
          </p:txBody>
        </p:sp>
        <p:sp>
          <p:nvSpPr>
            <p:cNvPr id="36" name="Text 5"/>
            <p:cNvSpPr/>
            <p:nvPr>
              <p:custDataLst>
                <p:tags r:id="rId7"/>
              </p:custDataLst>
            </p:nvPr>
          </p:nvSpPr>
          <p:spPr>
            <a:xfrm>
              <a:off x="4343" y="4556"/>
              <a:ext cx="30" cy="210"/>
            </a:xfrm>
            <a:prstGeom prst="rect">
              <a:avLst/>
            </a:prstGeom>
            <a:solidFill>
              <a:srgbClr val="7C3AED">
                <a:alpha val="30000"/>
              </a:srgbClr>
            </a:solidFill>
          </p:spPr>
          <p:txBody>
            <a:bodyPr wrap="none" lIns="0" tIns="0" rIns="0" bIns="0" rtlCol="0" anchor="ctr">
              <a:noAutofit/>
            </a:bodyPr>
            <a:lstStyle/>
            <a:p>
              <a:pPr marL="0" indent="0">
                <a:buNone/>
              </a:pPr>
              <a:endParaRPr lang="en-US" sz="1700" dirty="0">
                <a:latin typeface="Georgia Pro Cond Light" panose="02040306050405020303" charset="0"/>
                <a:cs typeface="Georgia Pro Cond Light" panose="02040306050405020303" charset="0"/>
              </a:endParaRPr>
            </a:p>
          </p:txBody>
        </p:sp>
        <p:sp>
          <p:nvSpPr>
            <p:cNvPr id="37" name="Text 6"/>
            <p:cNvSpPr/>
            <p:nvPr>
              <p:custDataLst>
                <p:tags r:id="rId8"/>
              </p:custDataLst>
            </p:nvPr>
          </p:nvSpPr>
          <p:spPr>
            <a:xfrm>
              <a:off x="1125" y="4886"/>
              <a:ext cx="6467" cy="847"/>
            </a:xfrm>
            <a:prstGeom prst="roundRect">
              <a:avLst>
                <a:gd name="adj" fmla="val 136042"/>
              </a:avLst>
            </a:prstGeom>
            <a:solidFill>
              <a:srgbClr val="0891B2">
                <a:alpha val="89000"/>
              </a:srgbClr>
            </a:solidFill>
          </p:spPr>
          <p:txBody>
            <a:bodyPr wrap="none" lIns="0" tIns="0" rIns="0" bIns="0" rtlCol="0" anchor="ctr">
              <a:normAutofit/>
            </a:bodyPr>
            <a:lstStyle/>
            <a:p>
              <a:pPr marL="0" indent="0">
                <a:buNone/>
              </a:pPr>
              <a:endParaRPr lang="en-US" dirty="0">
                <a:latin typeface="Georgia Pro Cond Light" panose="02040306050405020303" charset="0"/>
                <a:cs typeface="Georgia Pro Cond Light" panose="02040306050405020303" charset="0"/>
              </a:endParaRPr>
            </a:p>
          </p:txBody>
        </p:sp>
        <p:sp>
          <p:nvSpPr>
            <p:cNvPr id="39" name="Text 17"/>
            <p:cNvSpPr/>
            <p:nvPr>
              <p:custDataLst>
                <p:tags r:id="rId9"/>
              </p:custDataLst>
            </p:nvPr>
          </p:nvSpPr>
          <p:spPr>
            <a:xfrm>
              <a:off x="1740" y="2442"/>
              <a:ext cx="4758" cy="288"/>
            </a:xfrm>
            <a:prstGeom prst="rect">
              <a:avLst/>
            </a:prstGeom>
            <a:noFill/>
          </p:spPr>
          <p:txBody>
            <a:bodyPr wrap="square" lIns="0" tIns="0" rIns="0" bIns="0" rtlCol="0" anchor="t"/>
            <a:lstStyle/>
            <a:p>
              <a:pPr marL="0" indent="0">
                <a:lnSpc>
                  <a:spcPts val="1440"/>
                </a:lnSpc>
                <a:buNone/>
              </a:pPr>
              <a:r>
                <a:rPr lang="en-US" sz="1600" b="1" dirty="0">
                  <a:solidFill>
                    <a:schemeClr val="bg2"/>
                  </a:solidFill>
                  <a:latin typeface="Georgia Pro Cond Light" panose="02040306050405020303" charset="0"/>
                  <a:ea typeface="SimSun" panose="02010600030101010101" pitchFamily="2" charset="-122"/>
                  <a:cs typeface="Georgia Pro Cond Light" panose="02040306050405020303" charset="0"/>
                </a:rPr>
                <a:t>Input Layer</a:t>
              </a:r>
              <a:endParaRPr lang="en-US" sz="1600" b="1" dirty="0">
                <a:solidFill>
                  <a:schemeClr val="bg2"/>
                </a:solidFill>
                <a:latin typeface="Georgia Pro Cond Light" panose="02040306050405020303" charset="0"/>
                <a:ea typeface="SimSun" panose="02010600030101010101" pitchFamily="2" charset="-122"/>
                <a:cs typeface="Georgia Pro Cond Light" panose="02040306050405020303" charset="0"/>
              </a:endParaRPr>
            </a:p>
          </p:txBody>
        </p:sp>
        <p:sp>
          <p:nvSpPr>
            <p:cNvPr id="40" name="Text 18"/>
            <p:cNvSpPr/>
            <p:nvPr>
              <p:custDataLst>
                <p:tags r:id="rId10"/>
              </p:custDataLst>
            </p:nvPr>
          </p:nvSpPr>
          <p:spPr>
            <a:xfrm>
              <a:off x="1740" y="2755"/>
              <a:ext cx="5566" cy="282"/>
            </a:xfrm>
            <a:prstGeom prst="rect">
              <a:avLst/>
            </a:prstGeom>
            <a:noFill/>
          </p:spPr>
          <p:txBody>
            <a:bodyPr wrap="square" lIns="0" tIns="0" rIns="0" bIns="0" rtlCol="0" anchor="t"/>
            <a:lstStyle/>
            <a:p>
              <a:pPr marL="0" indent="0">
                <a:lnSpc>
                  <a:spcPts val="1295"/>
                </a:lnSpc>
                <a:buNone/>
              </a:pPr>
              <a:r>
                <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rPr>
                <a:t>4 features: Recency, Frequency, Monetary, AvgOrderValue</a:t>
              </a:r>
              <a:endPar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endParaRPr>
            </a:p>
          </p:txBody>
        </p:sp>
        <p:sp>
          <p:nvSpPr>
            <p:cNvPr id="42" name="Text 20"/>
            <p:cNvSpPr/>
            <p:nvPr>
              <p:custDataLst>
                <p:tags r:id="rId11"/>
              </p:custDataLst>
            </p:nvPr>
          </p:nvSpPr>
          <p:spPr>
            <a:xfrm>
              <a:off x="1740" y="3739"/>
              <a:ext cx="4483" cy="288"/>
            </a:xfrm>
            <a:prstGeom prst="rect">
              <a:avLst/>
            </a:prstGeom>
            <a:noFill/>
          </p:spPr>
          <p:txBody>
            <a:bodyPr wrap="square" lIns="0" tIns="0" rIns="0" bIns="0" rtlCol="0" anchor="t"/>
            <a:lstStyle/>
            <a:p>
              <a:pPr marL="0" indent="0">
                <a:lnSpc>
                  <a:spcPts val="1440"/>
                </a:lnSpc>
                <a:buNone/>
              </a:pPr>
              <a:r>
                <a:rPr lang="en-US" sz="1600" b="1" dirty="0">
                  <a:solidFill>
                    <a:schemeClr val="bg2"/>
                  </a:solidFill>
                  <a:latin typeface="Georgia Pro Cond Light" panose="02040306050405020303" charset="0"/>
                  <a:ea typeface="SimSun" panose="02010600030101010101" pitchFamily="2" charset="-122"/>
                  <a:cs typeface="Georgia Pro Cond Light" panose="02040306050405020303" charset="0"/>
                </a:rPr>
                <a:t>Gradient Boosting (GBM)</a:t>
              </a:r>
              <a:endParaRPr lang="en-US" sz="1600" b="1" dirty="0">
                <a:solidFill>
                  <a:schemeClr val="bg2"/>
                </a:solidFill>
                <a:latin typeface="Georgia Pro Cond Light" panose="02040306050405020303" charset="0"/>
                <a:ea typeface="SimSun" panose="02010600030101010101" pitchFamily="2" charset="-122"/>
                <a:cs typeface="Georgia Pro Cond Light" panose="02040306050405020303" charset="0"/>
              </a:endParaRPr>
            </a:p>
          </p:txBody>
        </p:sp>
        <p:sp>
          <p:nvSpPr>
            <p:cNvPr id="43" name="Text 21"/>
            <p:cNvSpPr/>
            <p:nvPr>
              <p:custDataLst>
                <p:tags r:id="rId12"/>
              </p:custDataLst>
            </p:nvPr>
          </p:nvSpPr>
          <p:spPr>
            <a:xfrm>
              <a:off x="1740" y="4063"/>
              <a:ext cx="5566" cy="259"/>
            </a:xfrm>
            <a:prstGeom prst="rect">
              <a:avLst/>
            </a:prstGeom>
            <a:noFill/>
          </p:spPr>
          <p:txBody>
            <a:bodyPr wrap="square" lIns="0" tIns="0" rIns="0" bIns="0" rtlCol="0" anchor="t"/>
            <a:lstStyle/>
            <a:p>
              <a:pPr marL="0" indent="0">
                <a:lnSpc>
                  <a:spcPts val="1295"/>
                </a:lnSpc>
                <a:buNone/>
              </a:pPr>
              <a:r>
                <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rPr>
                <a:t>n_estimators=120, max_depth=4, learning_rate=0.05</a:t>
              </a:r>
              <a:endPar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endParaRPr>
            </a:p>
          </p:txBody>
        </p:sp>
        <p:sp>
          <p:nvSpPr>
            <p:cNvPr id="45" name="Text 23"/>
            <p:cNvSpPr/>
            <p:nvPr>
              <p:custDataLst>
                <p:tags r:id="rId13"/>
              </p:custDataLst>
            </p:nvPr>
          </p:nvSpPr>
          <p:spPr>
            <a:xfrm>
              <a:off x="1740" y="5036"/>
              <a:ext cx="4514" cy="288"/>
            </a:xfrm>
            <a:prstGeom prst="rect">
              <a:avLst/>
            </a:prstGeom>
            <a:noFill/>
          </p:spPr>
          <p:txBody>
            <a:bodyPr wrap="square" lIns="0" tIns="0" rIns="0" bIns="0" rtlCol="0" anchor="t"/>
            <a:lstStyle/>
            <a:p>
              <a:pPr marL="0" indent="0">
                <a:lnSpc>
                  <a:spcPts val="1440"/>
                </a:lnSpc>
                <a:buNone/>
              </a:pPr>
              <a:r>
                <a:rPr lang="en-US" sz="1600" b="1" dirty="0">
                  <a:solidFill>
                    <a:schemeClr val="bg2"/>
                  </a:solidFill>
                  <a:latin typeface="Georgia Pro Cond Light" panose="02040306050405020303" charset="0"/>
                  <a:ea typeface="SimSun" panose="02010600030101010101" pitchFamily="2" charset="-122"/>
                  <a:cs typeface="Georgia Pro Cond Light" panose="02040306050405020303" charset="0"/>
                </a:rPr>
                <a:t>Dual Output</a:t>
              </a:r>
              <a:endParaRPr lang="en-US" sz="1600" b="1" dirty="0">
                <a:solidFill>
                  <a:schemeClr val="bg2"/>
                </a:solidFill>
                <a:latin typeface="Georgia Pro Cond Light" panose="02040306050405020303" charset="0"/>
                <a:ea typeface="SimSun" panose="02010600030101010101" pitchFamily="2" charset="-122"/>
                <a:cs typeface="Georgia Pro Cond Light" panose="02040306050405020303" charset="0"/>
              </a:endParaRPr>
            </a:p>
          </p:txBody>
        </p:sp>
        <p:sp>
          <p:nvSpPr>
            <p:cNvPr id="46" name="Text 24"/>
            <p:cNvSpPr/>
            <p:nvPr>
              <p:custDataLst>
                <p:tags r:id="rId14"/>
              </p:custDataLst>
            </p:nvPr>
          </p:nvSpPr>
          <p:spPr>
            <a:xfrm>
              <a:off x="1740" y="5371"/>
              <a:ext cx="5565" cy="259"/>
            </a:xfrm>
            <a:prstGeom prst="rect">
              <a:avLst/>
            </a:prstGeom>
            <a:noFill/>
          </p:spPr>
          <p:txBody>
            <a:bodyPr wrap="square" lIns="0" tIns="0" rIns="0" bIns="0" rtlCol="0" anchor="t"/>
            <a:lstStyle/>
            <a:p>
              <a:pPr marL="0" indent="0">
                <a:lnSpc>
                  <a:spcPts val="1295"/>
                </a:lnSpc>
                <a:buNone/>
              </a:pPr>
              <a:r>
                <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rPr>
                <a:t>Segment label + Risk tier (High/Low) with probabilities</a:t>
              </a:r>
              <a:endParaRPr lang="en-US" sz="1600" dirty="0">
                <a:solidFill>
                  <a:schemeClr val="bg2"/>
                </a:solidFill>
                <a:latin typeface="Georgia Pro Cond Light" panose="02040306050405020303" charset="0"/>
                <a:ea typeface="SimSun" panose="02010600030101010101" pitchFamily="2" charset="-122"/>
                <a:cs typeface="Georgia Pro Cond Light" panose="02040306050405020303" charset="0"/>
              </a:endParaRPr>
            </a:p>
          </p:txBody>
        </p:sp>
      </p:grpSp>
      <p:sp>
        <p:nvSpPr>
          <p:cNvPr id="48" name="Flowchart: Sort 47"/>
          <p:cNvSpPr/>
          <p:nvPr>
            <p:custDataLst>
              <p:tags r:id="rId15"/>
            </p:custDataLst>
          </p:nvPr>
        </p:nvSpPr>
        <p:spPr>
          <a:xfrm>
            <a:off x="960755" y="2463165"/>
            <a:ext cx="196215" cy="274955"/>
          </a:xfrm>
          <a:prstGeom prst="flowChartSort">
            <a:avLst/>
          </a:prstGeom>
          <a:solidFill>
            <a:schemeClr val="bg1">
              <a:lumMod val="9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49" name="Flowchart: Sort 48"/>
          <p:cNvSpPr/>
          <p:nvPr>
            <p:custDataLst>
              <p:tags r:id="rId16"/>
            </p:custDataLst>
          </p:nvPr>
        </p:nvSpPr>
        <p:spPr>
          <a:xfrm>
            <a:off x="960755" y="3596005"/>
            <a:ext cx="196215" cy="274955"/>
          </a:xfrm>
          <a:prstGeom prst="flowChartSort">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50" name="Flowchart: Sort 49"/>
          <p:cNvSpPr/>
          <p:nvPr>
            <p:custDataLst>
              <p:tags r:id="rId17"/>
            </p:custDataLst>
          </p:nvPr>
        </p:nvSpPr>
        <p:spPr>
          <a:xfrm>
            <a:off x="960755" y="4728845"/>
            <a:ext cx="196215" cy="274955"/>
          </a:xfrm>
          <a:prstGeom prst="flowChartSort">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grpSp>
        <p:nvGrpSpPr>
          <p:cNvPr id="64" name="Group 63"/>
          <p:cNvGrpSpPr/>
          <p:nvPr/>
        </p:nvGrpSpPr>
        <p:grpSpPr>
          <a:xfrm>
            <a:off x="7061200" y="2056765"/>
            <a:ext cx="4250055" cy="3500120"/>
            <a:chOff x="8432" y="2292"/>
            <a:chExt cx="4843" cy="3288"/>
          </a:xfrm>
        </p:grpSpPr>
        <p:sp>
          <p:nvSpPr>
            <p:cNvPr id="66" name="Text 35"/>
            <p:cNvSpPr/>
            <p:nvPr/>
          </p:nvSpPr>
          <p:spPr>
            <a:xfrm>
              <a:off x="8432" y="2352"/>
              <a:ext cx="205" cy="360"/>
            </a:xfrm>
            <a:prstGeom prst="rect">
              <a:avLst/>
            </a:prstGeom>
            <a:noFill/>
          </p:spPr>
          <p:txBody>
            <a:bodyPr wrap="square" lIns="0" tIns="0" rIns="0" bIns="0" rtlCol="0" anchor="t"/>
            <a:lstStyle/>
            <a:p>
              <a:pPr marL="0" indent="0">
                <a:lnSpc>
                  <a:spcPts val="1800"/>
                </a:lnSpc>
                <a:buNone/>
              </a:pPr>
              <a:r>
                <a:rPr lang="en-US" dirty="0">
                  <a:solidFill>
                    <a:srgbClr val="2563EB"/>
                  </a:solidFill>
                  <a:latin typeface="Georgia Pro Cond Light" panose="02040306050405020303" charset="0"/>
                  <a:ea typeface="SimSun" panose="02010600030101010101" pitchFamily="2" charset="-122"/>
                  <a:cs typeface="SimSun" panose="02010600030101010101" pitchFamily="2" charset="-122"/>
                </a:rPr>
                <a:t>✓</a:t>
              </a:r>
              <a:endParaRPr lang="en-US" dirty="0">
                <a:solidFill>
                  <a:srgbClr val="2563EB"/>
                </a:solidFill>
                <a:latin typeface="Georgia Pro Cond Light" panose="02040306050405020303" charset="0"/>
                <a:ea typeface="SimSun" panose="02010600030101010101" pitchFamily="2" charset="-122"/>
                <a:cs typeface="SimSun" panose="02010600030101010101" pitchFamily="2" charset="-122"/>
              </a:endParaRPr>
            </a:p>
          </p:txBody>
        </p:sp>
        <p:sp>
          <p:nvSpPr>
            <p:cNvPr id="67" name="Text 36"/>
            <p:cNvSpPr/>
            <p:nvPr/>
          </p:nvSpPr>
          <p:spPr>
            <a:xfrm>
              <a:off x="8753" y="2292"/>
              <a:ext cx="4522" cy="562"/>
            </a:xfrm>
            <a:prstGeom prst="rect">
              <a:avLst/>
            </a:prstGeom>
            <a:noFill/>
          </p:spPr>
          <p:txBody>
            <a:bodyPr wrap="square" lIns="0" tIns="0" rIns="0" bIns="0" rtlCol="0" anchor="t"/>
            <a:lstStyle/>
            <a:p>
              <a:pPr marL="0" indent="0">
                <a:lnSpc>
                  <a:spcPct val="100000"/>
                </a:lnSpc>
                <a:buNone/>
              </a:pPr>
              <a:r>
                <a:rPr lang="en-US" b="1" dirty="0">
                  <a:solidFill>
                    <a:srgbClr val="334155"/>
                  </a:solidFill>
                  <a:latin typeface="Georgia Pro Cond Light" panose="02040306050405020303" charset="0"/>
                  <a:ea typeface="SimSun" panose="02010600030101010101" pitchFamily="2" charset="-122"/>
                  <a:cs typeface="Georgia Pro Cond Light" panose="02040306050405020303" charset="0"/>
                </a:rPr>
                <a:t>Handles non-linearity</a:t>
              </a:r>
              <a:r>
                <a:rPr lang="en-US" dirty="0">
                  <a:solidFill>
                    <a:srgbClr val="334155"/>
                  </a:solidFill>
                  <a:latin typeface="Georgia Pro Cond Light" panose="02040306050405020303" charset="0"/>
                  <a:ea typeface="SimSun" panose="02010600030101010101" pitchFamily="2" charset="-122"/>
                  <a:cs typeface="Georgia Pro Cond Light" panose="02040306050405020303" charset="0"/>
                </a:rPr>
                <a:t> in RFM feature interactions without manual polynomial expansion</a:t>
              </a:r>
              <a:endParaRPr lang="en-US" dirty="0">
                <a:latin typeface="Georgia Pro Cond Light" panose="02040306050405020303" charset="0"/>
                <a:cs typeface="Georgia Pro Cond Light" panose="02040306050405020303" charset="0"/>
              </a:endParaRPr>
            </a:p>
          </p:txBody>
        </p:sp>
        <p:sp>
          <p:nvSpPr>
            <p:cNvPr id="68" name="Text 37"/>
            <p:cNvSpPr/>
            <p:nvPr/>
          </p:nvSpPr>
          <p:spPr>
            <a:xfrm>
              <a:off x="8432" y="3174"/>
              <a:ext cx="205" cy="360"/>
            </a:xfrm>
            <a:prstGeom prst="rect">
              <a:avLst/>
            </a:prstGeom>
            <a:noFill/>
          </p:spPr>
          <p:txBody>
            <a:bodyPr wrap="square" lIns="0" tIns="0" rIns="0" bIns="0" rtlCol="0" anchor="t"/>
            <a:lstStyle/>
            <a:p>
              <a:pPr marL="0" indent="0">
                <a:lnSpc>
                  <a:spcPts val="1800"/>
                </a:lnSpc>
                <a:buNone/>
              </a:pPr>
              <a:r>
                <a:rPr lang="en-US" dirty="0">
                  <a:solidFill>
                    <a:srgbClr val="7C3AED"/>
                  </a:solidFill>
                  <a:latin typeface="Georgia Pro Cond Light" panose="02040306050405020303" charset="0"/>
                  <a:ea typeface="SimSun" panose="02010600030101010101" pitchFamily="2" charset="-122"/>
                  <a:cs typeface="SimSun" panose="02010600030101010101" pitchFamily="2" charset="-122"/>
                </a:rPr>
                <a:t>✓</a:t>
              </a:r>
              <a:endParaRPr lang="en-US" dirty="0">
                <a:solidFill>
                  <a:srgbClr val="7C3AED"/>
                </a:solidFill>
                <a:latin typeface="Georgia Pro Cond Light" panose="02040306050405020303" charset="0"/>
                <a:ea typeface="SimSun" panose="02010600030101010101" pitchFamily="2" charset="-122"/>
                <a:cs typeface="SimSun" panose="02010600030101010101" pitchFamily="2" charset="-122"/>
              </a:endParaRPr>
            </a:p>
          </p:txBody>
        </p:sp>
        <p:sp>
          <p:nvSpPr>
            <p:cNvPr id="69" name="Text 38"/>
            <p:cNvSpPr/>
            <p:nvPr/>
          </p:nvSpPr>
          <p:spPr>
            <a:xfrm>
              <a:off x="8753" y="3124"/>
              <a:ext cx="4522" cy="562"/>
            </a:xfrm>
            <a:prstGeom prst="rect">
              <a:avLst/>
            </a:prstGeom>
            <a:noFill/>
          </p:spPr>
          <p:txBody>
            <a:bodyPr wrap="square" lIns="0" tIns="0" rIns="0" bIns="0" rtlCol="0" anchor="t"/>
            <a:lstStyle/>
            <a:p>
              <a:pPr marL="0" indent="0">
                <a:lnSpc>
                  <a:spcPct val="100000"/>
                </a:lnSpc>
                <a:buNone/>
              </a:pPr>
              <a:r>
                <a:rPr lang="en-US" b="1" dirty="0">
                  <a:solidFill>
                    <a:srgbClr val="334155"/>
                  </a:solidFill>
                  <a:latin typeface="Georgia Pro Cond Light" panose="02040306050405020303" charset="0"/>
                  <a:ea typeface="SimSun" panose="02010600030101010101" pitchFamily="2" charset="-122"/>
                  <a:cs typeface="Georgia Pro Cond Light" panose="02040306050405020303" charset="0"/>
                </a:rPr>
                <a:t>Robust to outliers</a:t>
              </a:r>
              <a:r>
                <a:rPr lang="en-US" dirty="0">
                  <a:solidFill>
                    <a:srgbClr val="334155"/>
                  </a:solidFill>
                  <a:latin typeface="Georgia Pro Cond Light" panose="02040306050405020303" charset="0"/>
                  <a:ea typeface="SimSun" panose="02010600030101010101" pitchFamily="2" charset="-122"/>
                  <a:cs typeface="Georgia Pro Cond Light" panose="02040306050405020303" charset="0"/>
                </a:rPr>
                <a:t> — boosting iteratively corrects for hard-to-classify edge cases</a:t>
              </a:r>
              <a:endParaRPr lang="en-US" dirty="0">
                <a:latin typeface="Georgia Pro Cond Light" panose="02040306050405020303" charset="0"/>
                <a:cs typeface="Georgia Pro Cond Light" panose="02040306050405020303" charset="0"/>
              </a:endParaRPr>
            </a:p>
          </p:txBody>
        </p:sp>
        <p:sp>
          <p:nvSpPr>
            <p:cNvPr id="70" name="Text 39"/>
            <p:cNvSpPr/>
            <p:nvPr/>
          </p:nvSpPr>
          <p:spPr>
            <a:xfrm>
              <a:off x="8432" y="3785"/>
              <a:ext cx="205" cy="360"/>
            </a:xfrm>
            <a:prstGeom prst="rect">
              <a:avLst/>
            </a:prstGeom>
            <a:noFill/>
          </p:spPr>
          <p:txBody>
            <a:bodyPr wrap="square" lIns="0" tIns="0" rIns="0" bIns="0" rtlCol="0" anchor="t"/>
            <a:lstStyle/>
            <a:p>
              <a:pPr marL="0" indent="0">
                <a:lnSpc>
                  <a:spcPts val="1800"/>
                </a:lnSpc>
                <a:buNone/>
              </a:pPr>
              <a:r>
                <a:rPr lang="en-US" dirty="0">
                  <a:solidFill>
                    <a:srgbClr val="0891B2"/>
                  </a:solidFill>
                  <a:latin typeface="Georgia Pro Cond Light" panose="02040306050405020303" charset="0"/>
                  <a:ea typeface="SimSun" panose="02010600030101010101" pitchFamily="2" charset="-122"/>
                  <a:cs typeface="SimSun" panose="02010600030101010101" pitchFamily="2" charset="-122"/>
                </a:rPr>
                <a:t>✓</a:t>
              </a:r>
              <a:endParaRPr lang="en-US" dirty="0">
                <a:solidFill>
                  <a:srgbClr val="0891B2"/>
                </a:solidFill>
                <a:latin typeface="Georgia Pro Cond Light" panose="02040306050405020303" charset="0"/>
                <a:ea typeface="SimSun" panose="02010600030101010101" pitchFamily="2" charset="-122"/>
                <a:cs typeface="SimSun" panose="02010600030101010101" pitchFamily="2" charset="-122"/>
              </a:endParaRPr>
            </a:p>
          </p:txBody>
        </p:sp>
        <p:sp>
          <p:nvSpPr>
            <p:cNvPr id="71" name="Text 40"/>
            <p:cNvSpPr/>
            <p:nvPr/>
          </p:nvSpPr>
          <p:spPr>
            <a:xfrm>
              <a:off x="8753" y="3725"/>
              <a:ext cx="4522" cy="562"/>
            </a:xfrm>
            <a:prstGeom prst="rect">
              <a:avLst/>
            </a:prstGeom>
            <a:noFill/>
          </p:spPr>
          <p:txBody>
            <a:bodyPr wrap="square" lIns="0" tIns="0" rIns="0" bIns="0" rtlCol="0" anchor="t"/>
            <a:lstStyle/>
            <a:p>
              <a:pPr marL="0" indent="0">
                <a:lnSpc>
                  <a:spcPct val="100000"/>
                </a:lnSpc>
                <a:buNone/>
              </a:pPr>
              <a:r>
                <a:rPr lang="en-US" b="1" dirty="0">
                  <a:solidFill>
                    <a:srgbClr val="334155"/>
                  </a:solidFill>
                  <a:latin typeface="Georgia Pro Cond Light" panose="02040306050405020303" charset="0"/>
                  <a:ea typeface="SimSun" panose="02010600030101010101" pitchFamily="2" charset="-122"/>
                  <a:cs typeface="Georgia Pro Cond Light" panose="02040306050405020303" charset="0"/>
                </a:rPr>
                <a:t>Feature importance</a:t>
              </a:r>
              <a:r>
                <a:rPr lang="en-US" dirty="0">
                  <a:solidFill>
                    <a:srgbClr val="334155"/>
                  </a:solidFill>
                  <a:latin typeface="Georgia Pro Cond Light" panose="02040306050405020303" charset="0"/>
                  <a:ea typeface="SimSun" panose="02010600030101010101" pitchFamily="2" charset="-122"/>
                  <a:cs typeface="Georgia Pro Cond Light" panose="02040306050405020303" charset="0"/>
                </a:rPr>
                <a:t> built-in — interpretable for business stakeholders</a:t>
              </a:r>
              <a:endParaRPr lang="en-US" dirty="0">
                <a:latin typeface="Georgia Pro Cond Light" panose="02040306050405020303" charset="0"/>
                <a:cs typeface="Georgia Pro Cond Light" panose="02040306050405020303" charset="0"/>
              </a:endParaRPr>
            </a:p>
          </p:txBody>
        </p:sp>
        <p:sp>
          <p:nvSpPr>
            <p:cNvPr id="72" name="Text 41"/>
            <p:cNvSpPr/>
            <p:nvPr/>
          </p:nvSpPr>
          <p:spPr>
            <a:xfrm>
              <a:off x="8432" y="4427"/>
              <a:ext cx="205" cy="360"/>
            </a:xfrm>
            <a:prstGeom prst="rect">
              <a:avLst/>
            </a:prstGeom>
            <a:noFill/>
          </p:spPr>
          <p:txBody>
            <a:bodyPr wrap="square" lIns="0" tIns="0" rIns="0" bIns="0" rtlCol="0" anchor="t"/>
            <a:lstStyle/>
            <a:p>
              <a:pPr marL="0" indent="0">
                <a:lnSpc>
                  <a:spcPts val="1800"/>
                </a:lnSpc>
                <a:buNone/>
              </a:pPr>
              <a:r>
                <a:rPr lang="en-US" dirty="0">
                  <a:solidFill>
                    <a:srgbClr val="059669"/>
                  </a:solidFill>
                  <a:latin typeface="Georgia Pro Cond Light" panose="02040306050405020303" charset="0"/>
                  <a:ea typeface="SimSun" panose="02010600030101010101" pitchFamily="2" charset="-122"/>
                  <a:cs typeface="SimSun" panose="02010600030101010101" pitchFamily="2" charset="-122"/>
                </a:rPr>
                <a:t>✓</a:t>
              </a:r>
              <a:endParaRPr lang="en-US" dirty="0">
                <a:solidFill>
                  <a:srgbClr val="059669"/>
                </a:solidFill>
                <a:latin typeface="Georgia Pro Cond Light" panose="02040306050405020303" charset="0"/>
                <a:ea typeface="SimSun" panose="02010600030101010101" pitchFamily="2" charset="-122"/>
                <a:cs typeface="SimSun" panose="02010600030101010101" pitchFamily="2" charset="-122"/>
              </a:endParaRPr>
            </a:p>
          </p:txBody>
        </p:sp>
        <p:sp>
          <p:nvSpPr>
            <p:cNvPr id="73" name="Text 42"/>
            <p:cNvSpPr/>
            <p:nvPr/>
          </p:nvSpPr>
          <p:spPr>
            <a:xfrm>
              <a:off x="8753" y="4367"/>
              <a:ext cx="4522" cy="562"/>
            </a:xfrm>
            <a:prstGeom prst="rect">
              <a:avLst/>
            </a:prstGeom>
            <a:noFill/>
          </p:spPr>
          <p:txBody>
            <a:bodyPr wrap="square" lIns="0" tIns="0" rIns="0" bIns="0" rtlCol="0" anchor="t"/>
            <a:lstStyle/>
            <a:p>
              <a:pPr marL="0" indent="0">
                <a:lnSpc>
                  <a:spcPct val="100000"/>
                </a:lnSpc>
                <a:buNone/>
              </a:pPr>
              <a:r>
                <a:rPr lang="en-US" b="1" dirty="0">
                  <a:solidFill>
                    <a:srgbClr val="334155"/>
                  </a:solidFill>
                  <a:latin typeface="Georgia Pro Cond Light" panose="02040306050405020303" charset="0"/>
                  <a:ea typeface="SimSun" panose="02010600030101010101" pitchFamily="2" charset="-122"/>
                  <a:cs typeface="Georgia Pro Cond Light" panose="02040306050405020303" charset="0"/>
                </a:rPr>
                <a:t>Outperformed</a:t>
              </a:r>
              <a:r>
                <a:rPr lang="en-US" dirty="0">
                  <a:solidFill>
                    <a:srgbClr val="334155"/>
                  </a:solidFill>
                  <a:latin typeface="Georgia Pro Cond Light" panose="02040306050405020303" charset="0"/>
                  <a:ea typeface="SimSun" panose="02010600030101010101" pitchFamily="2" charset="-122"/>
                  <a:cs typeface="Georgia Pro Cond Light" panose="02040306050405020303" charset="0"/>
                </a:rPr>
                <a:t> Random Forest and SVM in cross-validation</a:t>
              </a:r>
              <a:endParaRPr lang="en-US" dirty="0">
                <a:latin typeface="Georgia Pro Cond Light" panose="02040306050405020303" charset="0"/>
                <a:cs typeface="Georgia Pro Cond Light" panose="02040306050405020303" charset="0"/>
              </a:endParaRPr>
            </a:p>
          </p:txBody>
        </p:sp>
        <p:sp>
          <p:nvSpPr>
            <p:cNvPr id="74" name="Text 43"/>
            <p:cNvSpPr/>
            <p:nvPr/>
          </p:nvSpPr>
          <p:spPr>
            <a:xfrm>
              <a:off x="8432" y="5088"/>
              <a:ext cx="205" cy="360"/>
            </a:xfrm>
            <a:prstGeom prst="rect">
              <a:avLst/>
            </a:prstGeom>
            <a:noFill/>
          </p:spPr>
          <p:txBody>
            <a:bodyPr wrap="square" lIns="0" tIns="0" rIns="0" bIns="0" rtlCol="0" anchor="t"/>
            <a:lstStyle/>
            <a:p>
              <a:pPr marL="0" indent="0">
                <a:lnSpc>
                  <a:spcPts val="1800"/>
                </a:lnSpc>
                <a:buNone/>
              </a:pPr>
              <a:r>
                <a:rPr lang="en-US" dirty="0">
                  <a:solidFill>
                    <a:srgbClr val="D97706"/>
                  </a:solidFill>
                  <a:latin typeface="Georgia Pro Cond Light" panose="02040306050405020303" charset="0"/>
                  <a:ea typeface="SimSun" panose="02010600030101010101" pitchFamily="2" charset="-122"/>
                  <a:cs typeface="SimSun" panose="02010600030101010101" pitchFamily="2" charset="-122"/>
                </a:rPr>
                <a:t>✓</a:t>
              </a:r>
              <a:endParaRPr lang="en-US" dirty="0">
                <a:solidFill>
                  <a:srgbClr val="D97706"/>
                </a:solidFill>
                <a:latin typeface="Georgia Pro Cond Light" panose="02040306050405020303" charset="0"/>
                <a:ea typeface="SimSun" panose="02010600030101010101" pitchFamily="2" charset="-122"/>
                <a:cs typeface="SimSun" panose="02010600030101010101" pitchFamily="2" charset="-122"/>
              </a:endParaRPr>
            </a:p>
          </p:txBody>
        </p:sp>
        <p:sp>
          <p:nvSpPr>
            <p:cNvPr id="75" name="Text 44"/>
            <p:cNvSpPr/>
            <p:nvPr/>
          </p:nvSpPr>
          <p:spPr>
            <a:xfrm>
              <a:off x="8753" y="5018"/>
              <a:ext cx="4522" cy="562"/>
            </a:xfrm>
            <a:prstGeom prst="rect">
              <a:avLst/>
            </a:prstGeom>
            <a:noFill/>
          </p:spPr>
          <p:txBody>
            <a:bodyPr wrap="square" lIns="0" tIns="0" rIns="0" bIns="0" rtlCol="0" anchor="t"/>
            <a:lstStyle/>
            <a:p>
              <a:pPr marL="0" indent="0">
                <a:lnSpc>
                  <a:spcPct val="100000"/>
                </a:lnSpc>
                <a:buNone/>
              </a:pPr>
              <a:r>
                <a:rPr lang="en-US" b="1" dirty="0">
                  <a:solidFill>
                    <a:srgbClr val="334155"/>
                  </a:solidFill>
                  <a:latin typeface="Georgia Pro Cond Light" panose="02040306050405020303" charset="0"/>
                  <a:ea typeface="SimSun" panose="02010600030101010101" pitchFamily="2" charset="-122"/>
                  <a:cs typeface="Georgia Pro Cond Light" panose="02040306050405020303" charset="0"/>
                </a:rPr>
                <a:t>5-fold stratified CV</a:t>
              </a:r>
              <a:r>
                <a:rPr lang="en-US" dirty="0">
                  <a:solidFill>
                    <a:srgbClr val="334155"/>
                  </a:solidFill>
                  <a:latin typeface="Georgia Pro Cond Light" panose="02040306050405020303" charset="0"/>
                  <a:ea typeface="SimSun" panose="02010600030101010101" pitchFamily="2" charset="-122"/>
                  <a:cs typeface="Georgia Pro Cond Light" panose="02040306050405020303" charset="0"/>
                </a:rPr>
                <a:t> — consistent performance across all folds (σ &lt; 0.02)</a:t>
              </a:r>
              <a:endParaRPr lang="en-US" dirty="0">
                <a:latin typeface="Georgia Pro Cond Light" panose="02040306050405020303" charset="0"/>
                <a:cs typeface="Georgia Pro Cond Light" panose="02040306050405020303" charset="0"/>
              </a:endParaRPr>
            </a:p>
          </p:txBody>
        </p:sp>
      </p:grpSp>
      <p:sp>
        <p:nvSpPr>
          <p:cNvPr id="76" name="Text Box 75"/>
          <p:cNvSpPr txBox="1"/>
          <p:nvPr/>
        </p:nvSpPr>
        <p:spPr>
          <a:xfrm>
            <a:off x="7240905" y="1696085"/>
            <a:ext cx="4064000" cy="360680"/>
          </a:xfrm>
          <a:prstGeom prst="rect">
            <a:avLst/>
          </a:prstGeom>
          <a:noFill/>
        </p:spPr>
        <p:txBody>
          <a:bodyPr wrap="square" rtlCol="0" anchor="ctr" anchorCtr="0">
            <a:noAutofit/>
          </a:bodyPr>
          <a:p>
            <a:pPr algn="ctr">
              <a:lnSpc>
                <a:spcPct val="100000"/>
              </a:lnSpc>
            </a:pPr>
            <a:r>
              <a:rPr lang="en-US" b="1" dirty="0">
                <a:solidFill>
                  <a:srgbClr val="C00000"/>
                </a:solidFill>
                <a:latin typeface="Georgia Pro Cond Light" panose="02040306050405020303" charset="0"/>
                <a:ea typeface="SimSun" panose="02010600030101010101" pitchFamily="2" charset="-122"/>
                <a:cs typeface="Georgia Pro Cond Light" panose="02040306050405020303" charset="0"/>
                <a:sym typeface="+mn-ea"/>
              </a:rPr>
              <a:t>Model Selection Rationale</a:t>
            </a:r>
            <a:endParaRPr lang="en-US" b="1" dirty="0">
              <a:solidFill>
                <a:srgbClr val="C00000"/>
              </a:solidFill>
              <a:latin typeface="Georgia Pro Cond Light" panose="02040306050405020303" charset="0"/>
              <a:ea typeface="SimSun" panose="02010600030101010101" pitchFamily="2" charset="-122"/>
              <a:cs typeface="Georgia Pro Cond Light" panose="02040306050405020303" charset="0"/>
            </a:endParaRPr>
          </a:p>
          <a:p>
            <a:pPr algn="ctr"/>
            <a:endParaRPr lang="en-US" altLang="en-US" b="1" dirty="0">
              <a:solidFill>
                <a:srgbClr val="C00000"/>
              </a:solidFill>
              <a:latin typeface="Georgia Pro Cond Light" panose="02040306050405020303" charset="0"/>
              <a:ea typeface="SimSun" panose="02010600030101010101" pitchFamily="2" charset="-122"/>
              <a:cs typeface="Georgia Pro Cond Light" panose="02040306050405020303" charset="0"/>
            </a:endParaRPr>
          </a:p>
        </p:txBody>
      </p:sp>
      <p:sp>
        <p:nvSpPr>
          <p:cNvPr id="77" name="Text Box 76"/>
          <p:cNvSpPr txBox="1"/>
          <p:nvPr/>
        </p:nvSpPr>
        <p:spPr>
          <a:xfrm>
            <a:off x="527050" y="1066800"/>
            <a:ext cx="10834370" cy="538480"/>
          </a:xfrm>
          <a:prstGeom prst="rect">
            <a:avLst/>
          </a:prstGeom>
          <a:noFill/>
        </p:spPr>
        <p:txBody>
          <a:bodyPr wrap="square" rtlCol="0">
            <a:noAutofit/>
          </a:bodyPr>
          <a:p>
            <a:r>
              <a:rPr lang="en-US" dirty="0">
                <a:solidFill>
                  <a:srgbClr val="64748B"/>
                </a:solidFill>
                <a:latin typeface="Georgia Pro Cond Light" panose="02040306050405020303" charset="0"/>
                <a:ea typeface="SimSun" panose="02010600030101010101" pitchFamily="2" charset="-122"/>
                <a:cs typeface="Georgia Pro Cond Light" panose="02040306050405020303" charset="0"/>
                <a:sym typeface="+mn-ea"/>
              </a:rPr>
              <a:t>Gradient Boosting Classifier trained on RFM features to predict segment &amp; risk tier in real-time.</a:t>
            </a:r>
            <a:endParaRPr lang="en-US" dirty="0">
              <a:latin typeface="Georgia Pro Cond Light" panose="02040306050405020303" charset="0"/>
              <a:cs typeface="Georgia Pro Cond Light" panose="02040306050405020303" charset="0"/>
            </a:endParaRPr>
          </a:p>
          <a:p>
            <a:endParaRPr lang="en-US" altLang="en-US" dirty="0">
              <a:latin typeface="Georgia Pro Cond Light" panose="02040306050405020303" charset="0"/>
              <a:cs typeface="Georgia Pro Cond Light" panose="02040306050405020303"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ltLang="en-GB">
                <a:latin typeface="Georgia Pro Cond Light" panose="02040306050405020303" charset="0"/>
                <a:cs typeface="Georgia Pro Cond Light" panose="02040306050405020303" charset="0"/>
              </a:rPr>
              <a:t>Model Evaluation and Results</a:t>
            </a:r>
            <a:endParaRPr lang="en-US" altLang="en-GB">
              <a:latin typeface="Georgia Pro Cond Light" panose="02040306050405020303" charset="0"/>
              <a:cs typeface="Georgia Pro Cond Light" panose="02040306050405020303" charset="0"/>
            </a:endParaRPr>
          </a:p>
        </p:txBody>
      </p:sp>
      <p:sp>
        <p:nvSpPr>
          <p:cNvPr id="52" name="Text Box 51"/>
          <p:cNvSpPr txBox="1"/>
          <p:nvPr/>
        </p:nvSpPr>
        <p:spPr>
          <a:xfrm>
            <a:off x="1868805" y="1469390"/>
            <a:ext cx="4064000" cy="368300"/>
          </a:xfrm>
          <a:prstGeom prst="rect">
            <a:avLst/>
          </a:prstGeom>
          <a:noFill/>
        </p:spPr>
        <p:txBody>
          <a:bodyPr wrap="square" rtlCol="0">
            <a:spAutoFit/>
          </a:bodyPr>
          <a:p>
            <a:pPr algn="ctr"/>
            <a:r>
              <a:rPr lang="en-US" altLang="en-GB">
                <a:solidFill>
                  <a:srgbClr val="C00000"/>
                </a:solidFill>
                <a:latin typeface="Georgia Pro Cond" panose="02040506050405020303" charset="0"/>
                <a:cs typeface="Georgia Pro Cond" panose="02040506050405020303" charset="0"/>
              </a:rPr>
              <a:t>Performance Metrics</a:t>
            </a:r>
            <a:endParaRPr lang="en-US" altLang="en-GB">
              <a:solidFill>
                <a:srgbClr val="C00000"/>
              </a:solidFill>
              <a:latin typeface="Georgia Pro Cond" panose="02040506050405020303" charset="0"/>
              <a:cs typeface="Georgia Pro Cond" panose="02040506050405020303" charset="0"/>
            </a:endParaRPr>
          </a:p>
        </p:txBody>
      </p:sp>
      <p:sp>
        <p:nvSpPr>
          <p:cNvPr id="49" name="Flowchart: Sort 48"/>
          <p:cNvSpPr/>
          <p:nvPr>
            <p:custDataLst>
              <p:tags r:id="rId1"/>
            </p:custDataLst>
          </p:nvPr>
        </p:nvSpPr>
        <p:spPr>
          <a:xfrm>
            <a:off x="960755" y="3297555"/>
            <a:ext cx="196215" cy="274955"/>
          </a:xfrm>
          <a:prstGeom prst="flowChartSort">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50" name="Flowchart: Sort 49"/>
          <p:cNvSpPr/>
          <p:nvPr>
            <p:custDataLst>
              <p:tags r:id="rId2"/>
            </p:custDataLst>
          </p:nvPr>
        </p:nvSpPr>
        <p:spPr>
          <a:xfrm>
            <a:off x="960755" y="4430395"/>
            <a:ext cx="196215" cy="274955"/>
          </a:xfrm>
          <a:prstGeom prst="flowChartSort">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8" name="Text Box 7"/>
          <p:cNvSpPr txBox="1"/>
          <p:nvPr/>
        </p:nvSpPr>
        <p:spPr>
          <a:xfrm>
            <a:off x="8325485" y="1469390"/>
            <a:ext cx="3571240" cy="368300"/>
          </a:xfrm>
          <a:prstGeom prst="rect">
            <a:avLst/>
          </a:prstGeom>
          <a:solidFill>
            <a:schemeClr val="bg1"/>
          </a:solidFill>
        </p:spPr>
        <p:txBody>
          <a:bodyPr wrap="square" rtlCol="0">
            <a:spAutoFit/>
          </a:bodyPr>
          <a:p>
            <a:pPr algn="ctr"/>
            <a:r>
              <a:rPr lang="en-US" altLang="en-GB">
                <a:solidFill>
                  <a:srgbClr val="C00000"/>
                </a:solidFill>
                <a:latin typeface="Georgia Pro Cond" panose="02040506050405020303" charset="0"/>
                <a:cs typeface="Georgia Pro Cond" panose="02040506050405020303" charset="0"/>
              </a:rPr>
              <a:t>Confusion Matrix</a:t>
            </a:r>
            <a:endParaRPr lang="en-US" altLang="en-GB">
              <a:solidFill>
                <a:srgbClr val="C00000"/>
              </a:solidFill>
              <a:latin typeface="Georgia Pro Cond" panose="02040506050405020303" charset="0"/>
              <a:cs typeface="Georgia Pro Cond" panose="02040506050405020303" charset="0"/>
            </a:endParaRPr>
          </a:p>
        </p:txBody>
      </p:sp>
      <p:sp>
        <p:nvSpPr>
          <p:cNvPr id="9" name="Flowchart: Alternate Process 8"/>
          <p:cNvSpPr/>
          <p:nvPr/>
        </p:nvSpPr>
        <p:spPr>
          <a:xfrm>
            <a:off x="1251585" y="2447925"/>
            <a:ext cx="1388745" cy="454025"/>
          </a:xfrm>
          <a:prstGeom prst="flowChartAlternateProcess">
            <a:avLst/>
          </a:prstGeom>
          <a:solidFill>
            <a:schemeClr val="accent2"/>
          </a:solidFill>
          <a:effectLst>
            <a:outerShdw blurRad="50800" dist="38100" dir="2700000" algn="tl" rotWithShape="0">
              <a:prstClr val="black">
                <a:alpha val="40000"/>
              </a:prst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latin typeface="Georgia Pro Cond Light" panose="02040306050405020303" charset="0"/>
                <a:cs typeface="Georgia Pro Cond Light" panose="02040306050405020303" charset="0"/>
              </a:rPr>
              <a:t>Accuracy</a:t>
            </a:r>
            <a:endParaRPr lang="en-US" altLang="en-GB">
              <a:latin typeface="Georgia Pro Cond Light" panose="02040306050405020303" charset="0"/>
              <a:cs typeface="Georgia Pro Cond Light" panose="02040306050405020303" charset="0"/>
            </a:endParaRPr>
          </a:p>
        </p:txBody>
      </p:sp>
      <p:sp>
        <p:nvSpPr>
          <p:cNvPr id="10" name="Flowchart: Alternate Process 9"/>
          <p:cNvSpPr/>
          <p:nvPr/>
        </p:nvSpPr>
        <p:spPr>
          <a:xfrm>
            <a:off x="3175000" y="2448560"/>
            <a:ext cx="1393190" cy="453390"/>
          </a:xfrm>
          <a:prstGeom prst="flowChartAlternateProcess">
            <a:avLst/>
          </a:prstGeom>
          <a:solidFill>
            <a:schemeClr val="accent2"/>
          </a:solidFill>
          <a:ln>
            <a:solidFill>
              <a:schemeClr val="accent1"/>
            </a:solidFill>
          </a:ln>
          <a:effectLst>
            <a:outerShdw blurRad="50800" dist="38100" dir="5400000" algn="t" rotWithShape="0">
              <a:prstClr val="black">
                <a:alpha val="40000"/>
              </a:prst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latin typeface="Georgia Pro Cond Light" panose="02040306050405020303" charset="0"/>
                <a:cs typeface="Georgia Pro Cond Light" panose="02040306050405020303" charset="0"/>
              </a:rPr>
              <a:t>Precision</a:t>
            </a:r>
            <a:endParaRPr lang="en-US" altLang="en-GB">
              <a:latin typeface="Georgia Pro Cond Light" panose="02040306050405020303" charset="0"/>
              <a:cs typeface="Georgia Pro Cond Light" panose="02040306050405020303" charset="0"/>
            </a:endParaRPr>
          </a:p>
        </p:txBody>
      </p:sp>
      <p:sp>
        <p:nvSpPr>
          <p:cNvPr id="11" name="Flowchart: Alternate Process 10"/>
          <p:cNvSpPr/>
          <p:nvPr/>
        </p:nvSpPr>
        <p:spPr>
          <a:xfrm>
            <a:off x="5102860" y="2447925"/>
            <a:ext cx="1298575" cy="454025"/>
          </a:xfrm>
          <a:prstGeom prst="flowChartAlternateProcess">
            <a:avLst/>
          </a:prstGeom>
          <a:solidFill>
            <a:schemeClr val="accent2"/>
          </a:solidFill>
          <a:effectLst>
            <a:outerShdw blurRad="50800" dist="38100" dir="8100000" algn="tr" rotWithShape="0">
              <a:prstClr val="black">
                <a:alpha val="40000"/>
              </a:prst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latin typeface="Georgia Pro Cond Light" panose="02040306050405020303" charset="0"/>
                <a:cs typeface="Georgia Pro Cond Light" panose="02040306050405020303" charset="0"/>
              </a:rPr>
              <a:t>Recall</a:t>
            </a:r>
            <a:endParaRPr lang="en-US" altLang="en-GB">
              <a:latin typeface="Georgia Pro Cond Light" panose="02040306050405020303" charset="0"/>
              <a:cs typeface="Georgia Pro Cond Light" panose="02040306050405020303" charset="0"/>
            </a:endParaRPr>
          </a:p>
        </p:txBody>
      </p:sp>
      <p:sp>
        <p:nvSpPr>
          <p:cNvPr id="12" name="Round Same Side Corner Rectangle 11"/>
          <p:cNvSpPr/>
          <p:nvPr/>
        </p:nvSpPr>
        <p:spPr>
          <a:xfrm>
            <a:off x="1394460" y="1945640"/>
            <a:ext cx="1150620" cy="502920"/>
          </a:xfrm>
          <a:prstGeom prst="round2SameRect">
            <a:avLst/>
          </a:prstGeom>
          <a:effectLst>
            <a:outerShdw blurRad="50800" dist="38100" algn="l" rotWithShape="0">
              <a:prstClr val="black">
                <a:alpha val="40000"/>
              </a:prst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effectLst>
                  <a:outerShdw blurRad="38100" dist="38100" dir="2700000" algn="tl">
                    <a:srgbClr val="000000">
                      <a:alpha val="43137"/>
                    </a:srgbClr>
                  </a:outerShdw>
                </a:effectLst>
                <a:latin typeface="Georgia Pro Cond" panose="02040506050405020303" charset="0"/>
                <a:cs typeface="Georgia Pro Cond" panose="02040506050405020303" charset="0"/>
              </a:rPr>
              <a:t>94%</a:t>
            </a:r>
            <a:endParaRPr lang="en-US" altLang="en-GB">
              <a:effectLst>
                <a:outerShdw blurRad="38100" dist="38100" dir="2700000" algn="tl">
                  <a:srgbClr val="000000">
                    <a:alpha val="43137"/>
                  </a:srgbClr>
                </a:outerShdw>
              </a:effectLst>
              <a:latin typeface="Georgia Pro Cond" panose="02040506050405020303" charset="0"/>
              <a:cs typeface="Georgia Pro Cond" panose="02040506050405020303" charset="0"/>
            </a:endParaRPr>
          </a:p>
        </p:txBody>
      </p:sp>
      <p:sp>
        <p:nvSpPr>
          <p:cNvPr id="13" name="Round Same Side Corner Rectangle 12"/>
          <p:cNvSpPr/>
          <p:nvPr/>
        </p:nvSpPr>
        <p:spPr>
          <a:xfrm>
            <a:off x="5182870" y="1945005"/>
            <a:ext cx="1150620" cy="502920"/>
          </a:xfrm>
          <a:prstGeom prst="round2SameRect">
            <a:avLst/>
          </a:prstGeom>
          <a:effectLst>
            <a:outerShdw blurRad="50800" dist="38100" dir="10800000" algn="r" rotWithShape="0">
              <a:prstClr val="black">
                <a:alpha val="40000"/>
              </a:prst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effectLst>
                  <a:outerShdw blurRad="38100" dist="38100" dir="2700000" algn="tl">
                    <a:srgbClr val="000000">
                      <a:alpha val="43137"/>
                    </a:srgbClr>
                  </a:outerShdw>
                </a:effectLst>
                <a:latin typeface="Georgia Pro Cond" panose="02040506050405020303" charset="0"/>
                <a:cs typeface="Georgia Pro Cond" panose="02040506050405020303" charset="0"/>
              </a:rPr>
              <a:t>84%</a:t>
            </a:r>
            <a:endParaRPr lang="en-US" altLang="en-GB">
              <a:effectLst>
                <a:outerShdw blurRad="38100" dist="38100" dir="2700000" algn="tl">
                  <a:srgbClr val="000000">
                    <a:alpha val="43137"/>
                  </a:srgbClr>
                </a:outerShdw>
              </a:effectLst>
              <a:latin typeface="Georgia Pro Cond" panose="02040506050405020303" charset="0"/>
              <a:cs typeface="Georgia Pro Cond" panose="02040506050405020303" charset="0"/>
            </a:endParaRPr>
          </a:p>
        </p:txBody>
      </p:sp>
      <p:sp>
        <p:nvSpPr>
          <p:cNvPr id="14" name="Round Same Side Corner Rectangle 13"/>
          <p:cNvSpPr/>
          <p:nvPr/>
        </p:nvSpPr>
        <p:spPr>
          <a:xfrm>
            <a:off x="3296285" y="1945005"/>
            <a:ext cx="1150620" cy="502920"/>
          </a:xfrm>
          <a:prstGeom prst="round2SameRect">
            <a:avLst/>
          </a:prstGeom>
          <a:effectLst>
            <a:outerShdw blurRad="63500" sx="102000" sy="102000" algn="ctr" rotWithShape="0">
              <a:prstClr val="black">
                <a:alpha val="40000"/>
              </a:prst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effectLst>
                  <a:outerShdw blurRad="38100" dist="38100" dir="2700000" algn="tl">
                    <a:srgbClr val="000000">
                      <a:alpha val="43137"/>
                    </a:srgbClr>
                  </a:outerShdw>
                </a:effectLst>
                <a:latin typeface="Georgia Pro Cond" panose="02040506050405020303" charset="0"/>
                <a:cs typeface="Georgia Pro Cond" panose="02040506050405020303" charset="0"/>
              </a:rPr>
              <a:t>90%</a:t>
            </a:r>
            <a:endParaRPr lang="en-US" altLang="en-GB">
              <a:effectLst>
                <a:outerShdw blurRad="38100" dist="38100" dir="2700000" algn="tl">
                  <a:srgbClr val="000000">
                    <a:alpha val="43137"/>
                  </a:srgbClr>
                </a:outerShdw>
              </a:effectLst>
              <a:latin typeface="Georgia Pro Cond" panose="02040506050405020303" charset="0"/>
              <a:cs typeface="Georgia Pro Cond" panose="02040506050405020303" charset="0"/>
            </a:endParaRPr>
          </a:p>
        </p:txBody>
      </p:sp>
      <p:pic>
        <p:nvPicPr>
          <p:cNvPr id="16" name="Picture 15"/>
          <p:cNvPicPr>
            <a:picLocks noChangeAspect="1"/>
          </p:cNvPicPr>
          <p:nvPr/>
        </p:nvPicPr>
        <p:blipFill>
          <a:blip r:embed="rId3"/>
          <a:stretch>
            <a:fillRect/>
          </a:stretch>
        </p:blipFill>
        <p:spPr>
          <a:xfrm>
            <a:off x="8328025" y="2119630"/>
            <a:ext cx="3568700" cy="3143885"/>
          </a:xfrm>
          <a:prstGeom prst="rect">
            <a:avLst/>
          </a:prstGeom>
        </p:spPr>
      </p:pic>
      <p:pic>
        <p:nvPicPr>
          <p:cNvPr id="17" name="Picture 16"/>
          <p:cNvPicPr/>
          <p:nvPr/>
        </p:nvPicPr>
        <p:blipFill>
          <a:blip r:embed="rId4"/>
          <a:stretch>
            <a:fillRect/>
          </a:stretch>
        </p:blipFill>
        <p:spPr>
          <a:xfrm>
            <a:off x="1584325" y="3124200"/>
            <a:ext cx="4633595" cy="2885440"/>
          </a:xfrm>
          <a:prstGeom prst="rect">
            <a:avLst/>
          </a:prstGeom>
          <a:ln>
            <a:solidFill>
              <a:schemeClr val="accent1"/>
            </a:solid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ltLang="en-GB">
                <a:latin typeface="Georgia Pro Cond Light" panose="02040306050405020303" charset="0"/>
                <a:cs typeface="Georgia Pro Cond Light" panose="02040306050405020303" charset="0"/>
              </a:rPr>
              <a:t>Conclusion</a:t>
            </a:r>
            <a:endParaRPr lang="en-US" altLang="en-GB">
              <a:latin typeface="Georgia Pro Cond Light" panose="02040306050405020303" charset="0"/>
              <a:cs typeface="Georgia Pro Cond Light" panose="02040306050405020303" charset="0"/>
            </a:endParaRPr>
          </a:p>
        </p:txBody>
      </p:sp>
      <p:grpSp>
        <p:nvGrpSpPr>
          <p:cNvPr id="10" name="Group 9"/>
          <p:cNvGrpSpPr/>
          <p:nvPr/>
        </p:nvGrpSpPr>
        <p:grpSpPr>
          <a:xfrm>
            <a:off x="861060" y="1814195"/>
            <a:ext cx="3555365" cy="3743325"/>
            <a:chOff x="1500" y="2521"/>
            <a:chExt cx="5295" cy="2663"/>
          </a:xfrm>
        </p:grpSpPr>
        <p:sp>
          <p:nvSpPr>
            <p:cNvPr id="6" name="Text 12"/>
            <p:cNvSpPr/>
            <p:nvPr/>
          </p:nvSpPr>
          <p:spPr>
            <a:xfrm>
              <a:off x="1500" y="2521"/>
              <a:ext cx="5295" cy="576"/>
            </a:xfrm>
            <a:prstGeom prst="rect">
              <a:avLst/>
            </a:prstGeom>
            <a:solidFill>
              <a:schemeClr val="tx1">
                <a:lumMod val="25000"/>
                <a:lumOff val="75000"/>
                <a:alpha val="76000"/>
              </a:schemeClr>
            </a:solidFill>
            <a:effectLst/>
          </p:spPr>
          <p:txBody>
            <a:bodyPr wrap="square" lIns="107950" tIns="0" rIns="107950" bIns="0" rtlCol="0" anchor="ctr" anchorCtr="0"/>
            <a:lstStyle/>
            <a:p>
              <a:pPr marL="0" indent="0" algn="just">
                <a:lnSpc>
                  <a:spcPct val="110000"/>
                </a:lnSpc>
                <a:buNone/>
              </a:pPr>
              <a:r>
                <a:rPr lang="en-US" sz="1600" b="1" dirty="0">
                  <a:solidFill>
                    <a:srgbClr val="334155"/>
                  </a:solidFill>
                  <a:latin typeface="Georgia Pro Cond Light" panose="02040306050405020303" charset="0"/>
                  <a:ea typeface="SimSun" panose="02010600030101010101" pitchFamily="2" charset="-122"/>
                  <a:cs typeface="Georgia Pro Cond Light" panose="02040306050405020303" charset="0"/>
                </a:rPr>
                <a:t>4 distinct segments</a:t>
              </a:r>
              <a:r>
                <a:rPr lang="en-US" sz="1600" dirty="0">
                  <a:solidFill>
                    <a:srgbClr val="334155"/>
                  </a:solidFill>
                  <a:latin typeface="Georgia Pro Cond Light" panose="02040306050405020303" charset="0"/>
                  <a:ea typeface="SimSun" panose="02010600030101010101" pitchFamily="2" charset="-122"/>
                  <a:cs typeface="Georgia Pro Cond Light" panose="02040306050405020303" charset="0"/>
                </a:rPr>
                <a:t> identified via KMeans + GMM with 95% classification accuracy</a:t>
              </a:r>
              <a:endParaRPr lang="en-US" sz="1600" dirty="0">
                <a:latin typeface="Georgia Pro Cond Light" panose="02040306050405020303" charset="0"/>
                <a:cs typeface="Georgia Pro Cond Light" panose="02040306050405020303" charset="0"/>
              </a:endParaRPr>
            </a:p>
          </p:txBody>
        </p:sp>
        <p:sp>
          <p:nvSpPr>
            <p:cNvPr id="7" name="Text 14"/>
            <p:cNvSpPr/>
            <p:nvPr/>
          </p:nvSpPr>
          <p:spPr>
            <a:xfrm>
              <a:off x="1545" y="3217"/>
              <a:ext cx="5250" cy="576"/>
            </a:xfrm>
            <a:prstGeom prst="rect">
              <a:avLst/>
            </a:prstGeom>
            <a:solidFill>
              <a:schemeClr val="accent2">
                <a:lumMod val="40000"/>
                <a:lumOff val="60000"/>
                <a:alpha val="76000"/>
              </a:schemeClr>
            </a:solidFill>
          </p:spPr>
          <p:txBody>
            <a:bodyPr wrap="square" lIns="107950" tIns="0" rIns="107950" bIns="0" rtlCol="0" anchor="ctr" anchorCtr="0"/>
            <a:lstStyle/>
            <a:p>
              <a:pPr marL="0" indent="0" algn="just">
                <a:lnSpc>
                  <a:spcPct val="100000"/>
                </a:lnSpc>
                <a:buNone/>
              </a:pPr>
              <a:r>
                <a:rPr lang="en-US" sz="1600" b="1" dirty="0">
                  <a:solidFill>
                    <a:srgbClr val="334155"/>
                  </a:solidFill>
                  <a:latin typeface="Georgia Pro Cond Light" panose="02040306050405020303" charset="0"/>
                  <a:ea typeface="SimSun" panose="02010600030101010101" pitchFamily="2" charset="-122"/>
                  <a:cs typeface="Georgia Pro Cond Light" panose="02040306050405020303" charset="0"/>
                </a:rPr>
                <a:t>VIP customers (32%)</a:t>
              </a:r>
              <a:r>
                <a:rPr lang="en-US" sz="1600" dirty="0">
                  <a:solidFill>
                    <a:srgbClr val="334155"/>
                  </a:solidFill>
                  <a:latin typeface="Georgia Pro Cond Light" panose="02040306050405020303" charset="0"/>
                  <a:ea typeface="SimSun" panose="02010600030101010101" pitchFamily="2" charset="-122"/>
                  <a:cs typeface="Georgia Pro Cond Light" panose="02040306050405020303" charset="0"/>
                </a:rPr>
                <a:t> drive 67% of total revenue — top retention priority</a:t>
              </a:r>
              <a:endParaRPr lang="en-US" sz="1600" dirty="0">
                <a:latin typeface="Georgia Pro Cond Light" panose="02040306050405020303" charset="0"/>
                <a:cs typeface="Georgia Pro Cond Light" panose="02040306050405020303" charset="0"/>
              </a:endParaRPr>
            </a:p>
          </p:txBody>
        </p:sp>
        <p:sp>
          <p:nvSpPr>
            <p:cNvPr id="8" name="Text 16"/>
            <p:cNvSpPr/>
            <p:nvPr/>
          </p:nvSpPr>
          <p:spPr>
            <a:xfrm>
              <a:off x="1560" y="3913"/>
              <a:ext cx="5235" cy="576"/>
            </a:xfrm>
            <a:prstGeom prst="rect">
              <a:avLst/>
            </a:prstGeom>
            <a:solidFill>
              <a:schemeClr val="accent4">
                <a:lumMod val="40000"/>
                <a:lumOff val="60000"/>
                <a:alpha val="76000"/>
              </a:schemeClr>
            </a:solidFill>
          </p:spPr>
          <p:txBody>
            <a:bodyPr wrap="square" lIns="107950" tIns="0" rIns="107950" bIns="0" rtlCol="0" anchor="ctr" anchorCtr="0"/>
            <a:lstStyle/>
            <a:p>
              <a:pPr marL="0" indent="0" algn="just">
                <a:lnSpc>
                  <a:spcPct val="100000"/>
                </a:lnSpc>
                <a:buNone/>
              </a:pPr>
              <a:r>
                <a:rPr lang="en-US" sz="1600" b="1" dirty="0">
                  <a:solidFill>
                    <a:srgbClr val="334155"/>
                  </a:solidFill>
                  <a:latin typeface="Georgia Pro Cond Light" panose="02040306050405020303" charset="0"/>
                  <a:ea typeface="SimSun" panose="02010600030101010101" pitchFamily="2" charset="-122"/>
                  <a:cs typeface="Georgia Pro Cond Light" panose="02040306050405020303" charset="0"/>
                </a:rPr>
                <a:t>20% at-risk customers</a:t>
              </a:r>
              <a:r>
                <a:rPr lang="en-US" sz="1600" dirty="0">
                  <a:solidFill>
                    <a:srgbClr val="334155"/>
                  </a:solidFill>
                  <a:latin typeface="Georgia Pro Cond Light" panose="02040306050405020303" charset="0"/>
                  <a:ea typeface="SimSun" panose="02010600030101010101" pitchFamily="2" charset="-122"/>
                  <a:cs typeface="Georgia Pro Cond Light" panose="02040306050405020303" charset="0"/>
                </a:rPr>
                <a:t> with early churn signals — winback window: 30 days</a:t>
              </a:r>
              <a:endParaRPr lang="en-US" sz="1600" dirty="0">
                <a:latin typeface="Georgia Pro Cond Light" panose="02040306050405020303" charset="0"/>
                <a:cs typeface="Georgia Pro Cond Light" panose="02040306050405020303" charset="0"/>
              </a:endParaRPr>
            </a:p>
          </p:txBody>
        </p:sp>
        <p:sp>
          <p:nvSpPr>
            <p:cNvPr id="9" name="Text 18"/>
            <p:cNvSpPr/>
            <p:nvPr/>
          </p:nvSpPr>
          <p:spPr>
            <a:xfrm>
              <a:off x="1560" y="4608"/>
              <a:ext cx="5235" cy="576"/>
            </a:xfrm>
            <a:prstGeom prst="rect">
              <a:avLst/>
            </a:prstGeom>
            <a:solidFill>
              <a:schemeClr val="accent6">
                <a:lumMod val="40000"/>
                <a:lumOff val="60000"/>
                <a:alpha val="76000"/>
              </a:schemeClr>
            </a:solidFill>
          </p:spPr>
          <p:txBody>
            <a:bodyPr wrap="square" lIns="107950" tIns="0" rIns="107950" bIns="0" rtlCol="0" anchor="ctr" anchorCtr="0"/>
            <a:lstStyle/>
            <a:p>
              <a:pPr marL="0" indent="0" algn="just">
                <a:lnSpc>
                  <a:spcPct val="100000"/>
                </a:lnSpc>
                <a:buNone/>
              </a:pPr>
              <a:r>
                <a:rPr lang="en-US" sz="1600" b="1" dirty="0">
                  <a:solidFill>
                    <a:srgbClr val="334155"/>
                  </a:solidFill>
                  <a:latin typeface="Georgia Pro Cond Light" panose="02040306050405020303" charset="0"/>
                  <a:ea typeface="SimSun" panose="02010600030101010101" pitchFamily="2" charset="-122"/>
                  <a:cs typeface="Georgia Pro Cond Light" panose="02040306050405020303" charset="0"/>
                </a:rPr>
                <a:t>GMM log-likelihood</a:t>
              </a:r>
              <a:r>
                <a:rPr lang="en-US" sz="1600" dirty="0">
                  <a:solidFill>
                    <a:srgbClr val="334155"/>
                  </a:solidFill>
                  <a:latin typeface="Georgia Pro Cond Light" panose="02040306050405020303" charset="0"/>
                  <a:ea typeface="SimSun" panose="02010600030101010101" pitchFamily="2" charset="-122"/>
                  <a:cs typeface="Georgia Pro Cond Light" panose="02040306050405020303" charset="0"/>
                </a:rPr>
                <a:t> provides nuanced risk scores beyond binary cluster labels</a:t>
              </a:r>
              <a:endParaRPr lang="en-US" sz="1600" dirty="0">
                <a:latin typeface="Georgia Pro Cond Light" panose="02040306050405020303" charset="0"/>
                <a:cs typeface="Georgia Pro Cond Light" panose="02040306050405020303" charset="0"/>
              </a:endParaRPr>
            </a:p>
          </p:txBody>
        </p:sp>
      </p:grpSp>
      <p:grpSp>
        <p:nvGrpSpPr>
          <p:cNvPr id="27" name="Group 26"/>
          <p:cNvGrpSpPr/>
          <p:nvPr/>
        </p:nvGrpSpPr>
        <p:grpSpPr>
          <a:xfrm>
            <a:off x="4961255" y="2259965"/>
            <a:ext cx="6252210" cy="3378200"/>
            <a:chOff x="7605" y="3900"/>
            <a:chExt cx="5670" cy="3896"/>
          </a:xfrm>
        </p:grpSpPr>
        <p:sp>
          <p:nvSpPr>
            <p:cNvPr id="24" name="Text 5"/>
            <p:cNvSpPr/>
            <p:nvPr/>
          </p:nvSpPr>
          <p:spPr>
            <a:xfrm>
              <a:off x="7605" y="3900"/>
              <a:ext cx="5670" cy="1199"/>
            </a:xfrm>
            <a:prstGeom prst="roundRect">
              <a:avLst>
                <a:gd name="adj" fmla="val 120117"/>
              </a:avLst>
            </a:prstGeom>
            <a:solidFill>
              <a:srgbClr val="7C3AED">
                <a:alpha val="36000"/>
              </a:srgbClr>
            </a:solidFill>
          </p:spPr>
          <p:txBody>
            <a:bodyPr wrap="none" lIns="0" tIns="0" rIns="0" bIns="0" rtlCol="0" anchor="ctr">
              <a:normAutofit/>
            </a:bodyPr>
            <a:lstStyle/>
            <a:p>
              <a:pPr marL="0" indent="0">
                <a:buNone/>
              </a:pPr>
              <a:endParaRPr lang="en-US" sz="1600" dirty="0">
                <a:latin typeface="Georgia Pro Cond Light" panose="02040306050405020303" charset="0"/>
                <a:cs typeface="Georgia Pro Cond Light" panose="02040306050405020303" charset="0"/>
              </a:endParaRPr>
            </a:p>
          </p:txBody>
        </p:sp>
        <p:sp>
          <p:nvSpPr>
            <p:cNvPr id="25" name="Text 6"/>
            <p:cNvSpPr/>
            <p:nvPr/>
          </p:nvSpPr>
          <p:spPr>
            <a:xfrm>
              <a:off x="7605" y="5249"/>
              <a:ext cx="5670" cy="1199"/>
            </a:xfrm>
            <a:prstGeom prst="roundRect">
              <a:avLst>
                <a:gd name="adj" fmla="val 120117"/>
              </a:avLst>
            </a:prstGeom>
            <a:solidFill>
              <a:srgbClr val="10B981">
                <a:alpha val="34000"/>
              </a:srgbClr>
            </a:solidFill>
          </p:spPr>
          <p:txBody>
            <a:bodyPr wrap="none" lIns="0" tIns="0" rIns="0" bIns="0" rtlCol="0" anchor="ctr">
              <a:normAutofit/>
            </a:bodyPr>
            <a:lstStyle/>
            <a:p>
              <a:pPr marL="0" indent="0">
                <a:buNone/>
              </a:pPr>
              <a:endParaRPr lang="en-US" sz="1600" dirty="0">
                <a:latin typeface="Georgia Pro Cond Light" panose="02040306050405020303" charset="0"/>
                <a:cs typeface="Georgia Pro Cond Light" panose="02040306050405020303" charset="0"/>
              </a:endParaRPr>
            </a:p>
          </p:txBody>
        </p:sp>
        <p:sp>
          <p:nvSpPr>
            <p:cNvPr id="26" name="Text 7"/>
            <p:cNvSpPr/>
            <p:nvPr/>
          </p:nvSpPr>
          <p:spPr>
            <a:xfrm>
              <a:off x="7605" y="6598"/>
              <a:ext cx="5670" cy="1199"/>
            </a:xfrm>
            <a:prstGeom prst="roundRect">
              <a:avLst>
                <a:gd name="adj" fmla="val 120117"/>
              </a:avLst>
            </a:prstGeom>
            <a:solidFill>
              <a:srgbClr val="0891B2">
                <a:alpha val="28000"/>
              </a:srgbClr>
            </a:solidFill>
          </p:spPr>
          <p:txBody>
            <a:bodyPr wrap="none" lIns="0" tIns="0" rIns="0" bIns="0" rtlCol="0" anchor="ctr">
              <a:normAutofit/>
            </a:bodyPr>
            <a:lstStyle/>
            <a:p>
              <a:pPr marL="0" indent="0">
                <a:buNone/>
              </a:pPr>
              <a:endParaRPr lang="en-US" sz="1600" dirty="0">
                <a:latin typeface="Georgia Pro Cond Light" panose="02040306050405020303" charset="0"/>
                <a:cs typeface="Georgia Pro Cond Light" panose="02040306050405020303" charset="0"/>
              </a:endParaRPr>
            </a:p>
          </p:txBody>
        </p:sp>
        <p:sp>
          <p:nvSpPr>
            <p:cNvPr id="31" name="Text 28"/>
            <p:cNvSpPr/>
            <p:nvPr/>
          </p:nvSpPr>
          <p:spPr>
            <a:xfrm>
              <a:off x="8265" y="4080"/>
              <a:ext cx="4927" cy="306"/>
            </a:xfrm>
            <a:prstGeom prst="rect">
              <a:avLst/>
            </a:prstGeom>
            <a:noFill/>
          </p:spPr>
          <p:txBody>
            <a:bodyPr wrap="square" lIns="0" tIns="0" rIns="0" bIns="0" rtlCol="0" anchor="t"/>
            <a:lstStyle/>
            <a:p>
              <a:pPr marL="0" indent="0">
                <a:lnSpc>
                  <a:spcPts val="1530"/>
                </a:lnSpc>
                <a:buNone/>
              </a:pPr>
              <a:r>
                <a:rPr lang="en-US" sz="1600" b="1" dirty="0">
                  <a:solidFill>
                    <a:srgbClr val="C00000"/>
                  </a:solidFill>
                  <a:latin typeface="Georgia Pro Cond Light" panose="02040306050405020303" charset="0"/>
                  <a:ea typeface="SimSun" panose="02010600030101010101" pitchFamily="2" charset="-122"/>
                  <a:cs typeface="Georgia Pro Cond Light" panose="02040306050405020303" charset="0"/>
                </a:rPr>
                <a:t>Recommendation Engine Integration</a:t>
              </a:r>
              <a:endParaRPr lang="en-US" sz="1600" b="1" dirty="0">
                <a:solidFill>
                  <a:srgbClr val="C00000"/>
                </a:solidFill>
                <a:latin typeface="Georgia Pro Cond Light" panose="02040306050405020303" charset="0"/>
                <a:ea typeface="SimSun" panose="02010600030101010101" pitchFamily="2" charset="-122"/>
                <a:cs typeface="Georgia Pro Cond Light" panose="02040306050405020303" charset="0"/>
              </a:endParaRPr>
            </a:p>
          </p:txBody>
        </p:sp>
        <p:sp>
          <p:nvSpPr>
            <p:cNvPr id="32" name="Text 29"/>
            <p:cNvSpPr/>
            <p:nvPr/>
          </p:nvSpPr>
          <p:spPr>
            <a:xfrm>
              <a:off x="8265" y="4386"/>
              <a:ext cx="4830" cy="533"/>
            </a:xfrm>
            <a:prstGeom prst="rect">
              <a:avLst/>
            </a:prstGeom>
            <a:noFill/>
          </p:spPr>
          <p:txBody>
            <a:bodyPr wrap="square" lIns="0" tIns="0" rIns="0" bIns="0" rtlCol="0" anchor="t"/>
            <a:lstStyle/>
            <a:p>
              <a:pPr marL="0" indent="0">
                <a:lnSpc>
                  <a:spcPts val="1330"/>
                </a:lnSpc>
                <a:buNone/>
              </a:pPr>
              <a:r>
                <a:rPr lang="en-US" sz="1600" dirty="0">
                  <a:solidFill>
                    <a:srgbClr val="64748B"/>
                  </a:solidFill>
                  <a:latin typeface="Georgia Pro Cond Light" panose="02040306050405020303" charset="0"/>
                  <a:ea typeface="SimSun" panose="02010600030101010101" pitchFamily="2" charset="-122"/>
                  <a:cs typeface="Georgia Pro Cond Light" panose="02040306050405020303" charset="0"/>
                </a:rPr>
                <a:t>Feed segment labels into collaborative filtering for personalized product suggestions</a:t>
              </a:r>
              <a:endParaRPr lang="en-US" sz="1600" dirty="0">
                <a:solidFill>
                  <a:srgbClr val="64748B"/>
                </a:solidFill>
                <a:latin typeface="Georgia Pro Cond Light" panose="02040306050405020303" charset="0"/>
                <a:ea typeface="SimSun" panose="02010600030101010101" pitchFamily="2" charset="-122"/>
                <a:cs typeface="Georgia Pro Cond Light" panose="02040306050405020303" charset="0"/>
              </a:endParaRPr>
            </a:p>
          </p:txBody>
        </p:sp>
        <p:sp>
          <p:nvSpPr>
            <p:cNvPr id="34" name="Text 31"/>
            <p:cNvSpPr/>
            <p:nvPr/>
          </p:nvSpPr>
          <p:spPr>
            <a:xfrm>
              <a:off x="8265" y="5429"/>
              <a:ext cx="4927" cy="306"/>
            </a:xfrm>
            <a:prstGeom prst="rect">
              <a:avLst/>
            </a:prstGeom>
            <a:noFill/>
          </p:spPr>
          <p:txBody>
            <a:bodyPr wrap="square" lIns="0" tIns="0" rIns="0" bIns="0" rtlCol="0" anchor="t"/>
            <a:lstStyle/>
            <a:p>
              <a:pPr marL="0" indent="0">
                <a:lnSpc>
                  <a:spcPts val="1530"/>
                </a:lnSpc>
                <a:buNone/>
              </a:pPr>
              <a:r>
                <a:rPr lang="en-US" sz="1600" b="1" dirty="0">
                  <a:solidFill>
                    <a:srgbClr val="C00000"/>
                  </a:solidFill>
                  <a:latin typeface="Georgia Pro Cond Light" panose="02040306050405020303" charset="0"/>
                  <a:ea typeface="SimSun" panose="02010600030101010101" pitchFamily="2" charset="-122"/>
                  <a:cs typeface="Georgia Pro Cond Light" panose="02040306050405020303" charset="0"/>
                </a:rPr>
                <a:t>Personalized Campaign Automation</a:t>
              </a:r>
              <a:endParaRPr lang="en-US" sz="1600" b="1" dirty="0">
                <a:solidFill>
                  <a:srgbClr val="C00000"/>
                </a:solidFill>
                <a:latin typeface="Georgia Pro Cond Light" panose="02040306050405020303" charset="0"/>
                <a:ea typeface="SimSun" panose="02010600030101010101" pitchFamily="2" charset="-122"/>
                <a:cs typeface="Georgia Pro Cond Light" panose="02040306050405020303" charset="0"/>
              </a:endParaRPr>
            </a:p>
          </p:txBody>
        </p:sp>
        <p:sp>
          <p:nvSpPr>
            <p:cNvPr id="35" name="Text 32"/>
            <p:cNvSpPr/>
            <p:nvPr/>
          </p:nvSpPr>
          <p:spPr>
            <a:xfrm>
              <a:off x="8265" y="5735"/>
              <a:ext cx="4830" cy="533"/>
            </a:xfrm>
            <a:prstGeom prst="rect">
              <a:avLst/>
            </a:prstGeom>
            <a:noFill/>
          </p:spPr>
          <p:txBody>
            <a:bodyPr wrap="square" lIns="0" tIns="0" rIns="0" bIns="0" rtlCol="0" anchor="t"/>
            <a:lstStyle/>
            <a:p>
              <a:pPr marL="0" indent="0">
                <a:lnSpc>
                  <a:spcPts val="1330"/>
                </a:lnSpc>
                <a:buNone/>
              </a:pPr>
              <a:r>
                <a:rPr lang="en-US" sz="1600" dirty="0">
                  <a:solidFill>
                    <a:srgbClr val="64748B"/>
                  </a:solidFill>
                  <a:latin typeface="Georgia Pro Cond Light" panose="02040306050405020303" charset="0"/>
                  <a:ea typeface="SimSun" panose="02010600030101010101" pitchFamily="2" charset="-122"/>
                  <a:cs typeface="Georgia Pro Cond Light" panose="02040306050405020303" charset="0"/>
                </a:rPr>
                <a:t>CRM integration with Segment-aware email, push &amp; SMS triggers via segment API</a:t>
              </a:r>
              <a:endParaRPr lang="en-US" sz="1600" dirty="0">
                <a:solidFill>
                  <a:srgbClr val="64748B"/>
                </a:solidFill>
                <a:latin typeface="Georgia Pro Cond Light" panose="02040306050405020303" charset="0"/>
                <a:ea typeface="SimSun" panose="02010600030101010101" pitchFamily="2" charset="-122"/>
                <a:cs typeface="Georgia Pro Cond Light" panose="02040306050405020303" charset="0"/>
              </a:endParaRPr>
            </a:p>
          </p:txBody>
        </p:sp>
        <p:sp>
          <p:nvSpPr>
            <p:cNvPr id="37" name="Text 34"/>
            <p:cNvSpPr/>
            <p:nvPr/>
          </p:nvSpPr>
          <p:spPr>
            <a:xfrm>
              <a:off x="8265" y="6778"/>
              <a:ext cx="4927" cy="306"/>
            </a:xfrm>
            <a:prstGeom prst="rect">
              <a:avLst/>
            </a:prstGeom>
            <a:noFill/>
          </p:spPr>
          <p:txBody>
            <a:bodyPr wrap="square" lIns="0" tIns="0" rIns="0" bIns="0" rtlCol="0" anchor="t"/>
            <a:lstStyle/>
            <a:p>
              <a:pPr marL="0" indent="0">
                <a:lnSpc>
                  <a:spcPts val="1530"/>
                </a:lnSpc>
                <a:buNone/>
              </a:pPr>
              <a:r>
                <a:rPr lang="en-US" sz="1600" b="1" dirty="0">
                  <a:solidFill>
                    <a:srgbClr val="C00000"/>
                  </a:solidFill>
                  <a:latin typeface="Georgia Pro Cond Light" panose="02040306050405020303" charset="0"/>
                  <a:ea typeface="SimSun" panose="02010600030101010101" pitchFamily="2" charset="-122"/>
                  <a:cs typeface="Georgia Pro Cond Light" panose="02040306050405020303" charset="0"/>
                </a:rPr>
                <a:t>Monthly Model Retraining Pipeline</a:t>
              </a:r>
              <a:endParaRPr lang="en-US" sz="1600" b="1" dirty="0">
                <a:solidFill>
                  <a:srgbClr val="C00000"/>
                </a:solidFill>
                <a:latin typeface="Georgia Pro Cond Light" panose="02040306050405020303" charset="0"/>
                <a:ea typeface="SimSun" panose="02010600030101010101" pitchFamily="2" charset="-122"/>
                <a:cs typeface="Georgia Pro Cond Light" panose="02040306050405020303" charset="0"/>
              </a:endParaRPr>
            </a:p>
          </p:txBody>
        </p:sp>
        <p:sp>
          <p:nvSpPr>
            <p:cNvPr id="38" name="Text 35"/>
            <p:cNvSpPr/>
            <p:nvPr/>
          </p:nvSpPr>
          <p:spPr>
            <a:xfrm>
              <a:off x="8265" y="7084"/>
              <a:ext cx="4830" cy="533"/>
            </a:xfrm>
            <a:prstGeom prst="rect">
              <a:avLst/>
            </a:prstGeom>
            <a:noFill/>
          </p:spPr>
          <p:txBody>
            <a:bodyPr wrap="square" lIns="0" tIns="0" rIns="0" bIns="0" rtlCol="0" anchor="t"/>
            <a:lstStyle/>
            <a:p>
              <a:pPr marL="0" indent="0">
                <a:lnSpc>
                  <a:spcPts val="1330"/>
                </a:lnSpc>
                <a:buNone/>
              </a:pPr>
              <a:r>
                <a:rPr lang="en-US" sz="1600" dirty="0">
                  <a:solidFill>
                    <a:srgbClr val="64748B"/>
                  </a:solidFill>
                  <a:latin typeface="Georgia Pro Cond Light" panose="02040306050405020303" charset="0"/>
                  <a:ea typeface="SimSun" panose="02010600030101010101" pitchFamily="2" charset="-122"/>
                  <a:cs typeface="Georgia Pro Cond Light" panose="02040306050405020303" charset="0"/>
                </a:rPr>
                <a:t>Automated drift detection + Airflow DAG for scheduled re-segmentation</a:t>
              </a:r>
              <a:endParaRPr lang="en-US" sz="1600" dirty="0">
                <a:solidFill>
                  <a:srgbClr val="64748B"/>
                </a:solidFill>
                <a:latin typeface="Georgia Pro Cond Light" panose="02040306050405020303" charset="0"/>
                <a:ea typeface="SimSun" panose="02010600030101010101" pitchFamily="2" charset="-122"/>
                <a:cs typeface="Georgia Pro Cond Light" panose="02040306050405020303" charset="0"/>
              </a:endParaRPr>
            </a:p>
          </p:txBody>
        </p:sp>
      </p:grpSp>
      <p:sp>
        <p:nvSpPr>
          <p:cNvPr id="28" name="Chevron 27"/>
          <p:cNvSpPr/>
          <p:nvPr/>
        </p:nvSpPr>
        <p:spPr>
          <a:xfrm>
            <a:off x="5277485" y="2663825"/>
            <a:ext cx="320675" cy="188595"/>
          </a:xfrm>
          <a:prstGeom prst="chevron">
            <a:avLst/>
          </a:prstGeom>
          <a:solidFill>
            <a:schemeClr val="bg1">
              <a:alpha val="5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29" name="Chevron 28"/>
          <p:cNvSpPr/>
          <p:nvPr/>
        </p:nvSpPr>
        <p:spPr>
          <a:xfrm>
            <a:off x="5277485" y="3824605"/>
            <a:ext cx="320675" cy="203200"/>
          </a:xfrm>
          <a:prstGeom prst="chevron">
            <a:avLst/>
          </a:prstGeom>
          <a:solidFill>
            <a:schemeClr val="bg1">
              <a:alpha val="5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30" name="Chevron 29"/>
          <p:cNvSpPr/>
          <p:nvPr/>
        </p:nvSpPr>
        <p:spPr>
          <a:xfrm>
            <a:off x="5277485" y="5002530"/>
            <a:ext cx="320675" cy="188595"/>
          </a:xfrm>
          <a:prstGeom prst="chevron">
            <a:avLst/>
          </a:prstGeom>
          <a:solidFill>
            <a:schemeClr val="bg1">
              <a:alpha val="50000"/>
            </a:schemeClr>
          </a:solidFill>
          <a:ln>
            <a:solidFill>
              <a:srgbClr val="BAE0EA"/>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33" name="Text Box 32"/>
          <p:cNvSpPr txBox="1"/>
          <p:nvPr/>
        </p:nvSpPr>
        <p:spPr>
          <a:xfrm>
            <a:off x="7742555" y="1761490"/>
            <a:ext cx="1325245" cy="368300"/>
          </a:xfrm>
          <a:prstGeom prst="rect">
            <a:avLst/>
          </a:prstGeom>
          <a:noFill/>
        </p:spPr>
        <p:txBody>
          <a:bodyPr wrap="square" rtlCol="0">
            <a:spAutoFit/>
          </a:bodyPr>
          <a:p>
            <a:r>
              <a:rPr lang="en-US" altLang="en-GB">
                <a:solidFill>
                  <a:srgbClr val="C00000"/>
                </a:solidFill>
                <a:latin typeface="Georgia Pro Cond" panose="02040506050405020303" charset="0"/>
                <a:cs typeface="Georgia Pro Cond" panose="02040506050405020303" charset="0"/>
              </a:rPr>
              <a:t>Next Steps</a:t>
            </a:r>
            <a:endParaRPr lang="en-US" altLang="en-GB">
              <a:solidFill>
                <a:srgbClr val="C00000"/>
              </a:solidFill>
              <a:latin typeface="Georgia Pro Cond" panose="02040506050405020303" charset="0"/>
              <a:cs typeface="Georgia Pro Cond" panose="02040506050405020303"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chor="ctr" anchorCtr="0">
            <a:normAutofit/>
          </a:bodyPr>
          <a:lstStyle/>
          <a:p>
            <a:pPr algn="ctr"/>
            <a:r>
              <a:rPr lang="en-IN" dirty="0">
                <a:latin typeface="Georgia Pro Black" panose="02040A02050405020203" charset="0"/>
                <a:cs typeface="Georgia Pro Black" panose="02040A02050405020203" charset="0"/>
              </a:rPr>
              <a:t>Questions ?</a:t>
            </a:r>
            <a:endParaRPr lang="en-IN" dirty="0">
              <a:latin typeface="Georgia Pro Black" panose="02040A02050405020203" charset="0"/>
              <a:cs typeface="Georgia Pro Black" panose="02040A02050405020203"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2091872"/>
            <a:ext cx="12192000" cy="1765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b="1" dirty="0">
                <a:latin typeface="Georgia Pro Black" panose="02040A02050405020203" charset="0"/>
                <a:cs typeface="Georgia Pro Black" panose="02040A02050405020203" charset="0"/>
              </a:rPr>
              <a:t>Thank You!</a:t>
            </a:r>
            <a:endParaRPr lang="en-IN" sz="6600" b="1" dirty="0">
              <a:latin typeface="Georgia Pro Black" panose="02040A02050405020203" charset="0"/>
              <a:cs typeface="Georgia Pro Black" panose="02040A02050405020203" charset="0"/>
            </a:endParaRPr>
          </a:p>
        </p:txBody>
      </p:sp>
    </p:spTree>
  </p:cSld>
  <p:clrMapOvr>
    <a:masterClrMapping/>
  </p:clrMapOvr>
</p:sld>
</file>

<file path=ppt/tags/tag1.xml><?xml version="1.0" encoding="utf-8"?>
<p:tagLst xmlns:p="http://schemas.openxmlformats.org/presentationml/2006/main">
  <p:tag name="KSO_WM_DIAGRAM_VIRTUALLY_FRAME" val="{&quot;height&quot;:277.35,&quot;left&quot;:352.15,&quot;top&quot;:29.65,&quot;width&quot;:536.35}"/>
</p:tagLst>
</file>

<file path=ppt/tags/tag2.xml><?xml version="1.0" encoding="utf-8"?>
<p:tagLst xmlns:p="http://schemas.openxmlformats.org/presentationml/2006/main">
  <p:tag name="KSO_WM_DIAGRAM_VIRTUALLY_FRAME" val="{&quot;height&quot;:277.35,&quot;left&quot;:352.15,&quot;top&quot;:29.65,&quot;width&quot;:536.35}"/>
</p:tagLst>
</file>

<file path=ppt/tags/tag3.xml><?xml version="1.0" encoding="utf-8"?>
<p:tagLst xmlns:p="http://schemas.openxmlformats.org/presentationml/2006/main">
  <p:tag name="KSO_WM_DIAGRAM_VIRTUALLY_FRAME" val="{&quot;height&quot;:277.35,&quot;left&quot;:352.15,&quot;top&quot;:29.65,&quot;width&quot;:536.35}"/>
</p:tagLst>
</file>

<file path=ppt/tags/tag4.xml><?xml version="1.0" encoding="utf-8"?>
<p:tagLst xmlns:p="http://schemas.openxmlformats.org/presentationml/2006/main">
  <p:tag name="KSO_WM_DIAGRAM_VIRTUALLY_FRAME" val="{&quot;height&quot;:277.35,&quot;left&quot;:352.15,&quot;top&quot;:29.65,&quot;width&quot;:536.35}"/>
</p:tagLst>
</file>

<file path=ppt/tags/tag5.xml><?xml version="1.0" encoding="utf-8"?>
<p:tagLst xmlns:p="http://schemas.openxmlformats.org/presentationml/2006/main">
  <p:tag name="KSO_WM_DIAGRAM_VIRTUALLY_FRAME" val="{&quot;height&quot;:277.35,&quot;left&quot;:352.15,&quot;top&quot;:29.65,&quot;width&quot;:536.35}"/>
</p:tagLst>
</file>

<file path=ppt/tags/tag6.xml><?xml version="1.0" encoding="utf-8"?>
<p:tagLst xmlns:p="http://schemas.openxmlformats.org/presentationml/2006/main">
  <p:tag name="KSO_WM_DIAGRAM_VIRTUALLY_FRAME" val="{&quot;height&quot;:277.35,&quot;left&quot;:352.15,&quot;top&quot;:29.65,&quot;width&quot;:536.35}"/>
</p:tagLst>
</file>

<file path=ppt/tags/tag7.xml><?xml version="1.0" encoding="utf-8"?>
<p:tagLst xmlns:p="http://schemas.openxmlformats.org/presentationml/2006/main">
  <p:tag name="KSO_WM_DIAGRAM_VIRTUALLY_FRAME" val="{&quot;height&quot;:277.35,&quot;left&quot;:352.15,&quot;top&quot;:29.65,&quot;width&quot;:536.35}"/>
</p:tagLst>
</file>

<file path=ppt/tags/tag8.xml><?xml version="1.0" encoding="utf-8"?>
<p:tagLst xmlns:p="http://schemas.openxmlformats.org/presentationml/2006/main">
  <p:tag name="KSO_WM_DIAGRAM_VIRTUALLY_FRAME" val="{&quot;height&quot;:277.35,&quot;left&quot;:352.15,&quot;top&quot;:29.65,&quot;width&quot;:536.35}"/>
</p:tagLst>
</file>

<file path=ppt/tags/tag9.xml><?xml version="1.0" encoding="utf-8"?>
<p:tagLst xmlns:p="http://schemas.openxmlformats.org/presentationml/2006/main">
  <p:tag name="KSO_WM_DIAGRAM_VIRTUALLY_FRAME" val="{&quot;height&quot;:277.35,&quot;left&quot;:352.15,&quot;top&quot;:29.65,&quot;width&quot;:536.35}"/>
</p:tagLst>
</file>

<file path=ppt/tags/tag10.xml><?xml version="1.0" encoding="utf-8"?>
<p:tagLst xmlns:p="http://schemas.openxmlformats.org/presentationml/2006/main">
  <p:tag name="KSO_WM_DIAGRAM_VIRTUALLY_FRAME" val="{&quot;height&quot;:277.35,&quot;left&quot;:352.15,&quot;top&quot;:29.65,&quot;width&quot;:536.35}"/>
</p:tagLst>
</file>

<file path=ppt/tags/tag11.xml><?xml version="1.0" encoding="utf-8"?>
<p:tagLst xmlns:p="http://schemas.openxmlformats.org/presentationml/2006/main">
  <p:tag name="KSO_WM_DIAGRAM_VIRTUALLY_FRAME" val="{&quot;height&quot;:277.35,&quot;left&quot;:352.15,&quot;top&quot;:29.65,&quot;width&quot;:536.35}"/>
</p:tagLst>
</file>

<file path=ppt/tags/tag12.xml><?xml version="1.0" encoding="utf-8"?>
<p:tagLst xmlns:p="http://schemas.openxmlformats.org/presentationml/2006/main">
  <p:tag name="KSO_WM_DIAGRAM_VIRTUALLY_FRAME" val="{&quot;height&quot;:277.35,&quot;left&quot;:352.15,&quot;top&quot;:29.65,&quot;width&quot;:536.35}"/>
</p:tagLst>
</file>

<file path=ppt/tags/tag13.xml><?xml version="1.0" encoding="utf-8"?>
<p:tagLst xmlns:p="http://schemas.openxmlformats.org/presentationml/2006/main">
  <p:tag name="KSO_WM_DIAGRAM_VIRTUALLY_FRAME" val="{&quot;height&quot;:277.35,&quot;left&quot;:352.15,&quot;top&quot;:29.65,&quot;width&quot;:536.35}"/>
</p:tagLst>
</file>

<file path=ppt/tags/tag14.xml><?xml version="1.0" encoding="utf-8"?>
<p:tagLst xmlns:p="http://schemas.openxmlformats.org/presentationml/2006/main">
  <p:tag name="KSO_WM_DIAGRAM_VIRTUALLY_FRAME" val="{&quot;height&quot;:277.35,&quot;left&quot;:352.15,&quot;top&quot;:29.65,&quot;width&quot;:536.35}"/>
</p:tagLst>
</file>

<file path=ppt/tags/tag15.xml><?xml version="1.0" encoding="utf-8"?>
<p:tagLst xmlns:p="http://schemas.openxmlformats.org/presentationml/2006/main">
  <p:tag name="KSO_WM_DIAGRAM_VIRTUALLY_FRAME" val="{&quot;height&quot;:277.35,&quot;left&quot;:352.15,&quot;top&quot;:29.65,&quot;width&quot;:536.35}"/>
</p:tagLst>
</file>

<file path=ppt/tags/tag16.xml><?xml version="1.0" encoding="utf-8"?>
<p:tagLst xmlns:p="http://schemas.openxmlformats.org/presentationml/2006/main">
  <p:tag name="KSO_WM_DIAGRAM_VIRTUALLY_FRAME" val="{&quot;height&quot;:277.35,&quot;left&quot;:352.15,&quot;top&quot;:29.65,&quot;width&quot;:536.35}"/>
</p:tagLst>
</file>

<file path=ppt/tags/tag17.xml><?xml version="1.0" encoding="utf-8"?>
<p:tagLst xmlns:p="http://schemas.openxmlformats.org/presentationml/2006/main">
  <p:tag name="KSO_WM_DIAGRAM_VIRTUALLY_FRAME" val="{&quot;height&quot;:277.35,&quot;left&quot;:352.15,&quot;top&quot;:29.65,&quot;width&quot;:536.35}"/>
</p:tagLst>
</file>

<file path=ppt/tags/tag18.xml><?xml version="1.0" encoding="utf-8"?>
<p:tagLst xmlns:p="http://schemas.openxmlformats.org/presentationml/2006/main">
  <p:tag name="KSO_WM_DIAGRAM_VIRTUALLY_FRAME" val="{&quot;height&quot;:277.35,&quot;left&quot;:352.15,&quot;top&quot;:29.65,&quot;width&quot;:536.35}"/>
</p:tagLst>
</file>

<file path=ppt/tags/tag19.xml><?xml version="1.0" encoding="utf-8"?>
<p:tagLst xmlns:p="http://schemas.openxmlformats.org/presentationml/2006/main">
  <p:tag name="KSO_WM_DIAGRAM_VIRTUALLY_FRAME" val="{&quot;height&quot;:280.7,&quot;left&quot;:336.55,&quot;top&quot;:74.7,&quot;width&quot;:568.1}"/>
</p:tagLst>
</file>

<file path=ppt/tags/tag20.xml><?xml version="1.0" encoding="utf-8"?>
<p:tagLst xmlns:p="http://schemas.openxmlformats.org/presentationml/2006/main">
  <p:tag name="KSO_WM_DIAGRAM_VIRTUALLY_FRAME" val="{&quot;height&quot;:280.7,&quot;left&quot;:336.55,&quot;top&quot;:74.7,&quot;width&quot;:568.1}"/>
</p:tagLst>
</file>

<file path=ppt/tags/tag21.xml><?xml version="1.0" encoding="utf-8"?>
<p:tagLst xmlns:p="http://schemas.openxmlformats.org/presentationml/2006/main">
  <p:tag name="KSO_WM_DIAGRAM_VIRTUALLY_FRAME" val="{&quot;height&quot;:280.7,&quot;left&quot;:336.55,&quot;top&quot;:74.7,&quot;width&quot;:568.1}"/>
</p:tagLst>
</file>

<file path=ppt/tags/tag22.xml><?xml version="1.0" encoding="utf-8"?>
<p:tagLst xmlns:p="http://schemas.openxmlformats.org/presentationml/2006/main">
  <p:tag name="KSO_WM_DIAGRAM_VIRTUALLY_FRAME" val="{&quot;height&quot;:280.7,&quot;left&quot;:336.55,&quot;top&quot;:74.7,&quot;width&quot;:568.1}"/>
</p:tagLst>
</file>

<file path=ppt/tags/tag23.xml><?xml version="1.0" encoding="utf-8"?>
<p:tagLst xmlns:p="http://schemas.openxmlformats.org/presentationml/2006/main">
  <p:tag name="KSO_WM_DIAGRAM_VIRTUALLY_FRAME" val="{&quot;height&quot;:280.7,&quot;left&quot;:336.55,&quot;top&quot;:74.7,&quot;width&quot;:568.1}"/>
</p:tagLst>
</file>

<file path=ppt/tags/tag24.xml><?xml version="1.0" encoding="utf-8"?>
<p:tagLst xmlns:p="http://schemas.openxmlformats.org/presentationml/2006/main">
  <p:tag name="KSO_WM_DIAGRAM_VIRTUALLY_FRAME" val="{&quot;height&quot;:280.7,&quot;left&quot;:336.55,&quot;top&quot;:74.7,&quot;width&quot;:568.1}"/>
</p:tagLst>
</file>

<file path=ppt/tags/tag25.xml><?xml version="1.0" encoding="utf-8"?>
<p:tagLst xmlns:p="http://schemas.openxmlformats.org/presentationml/2006/main">
  <p:tag name="KSO_WM_DIAGRAM_VIRTUALLY_FRAME" val="{&quot;height&quot;:280.7,&quot;left&quot;:336.55,&quot;top&quot;:74.7,&quot;width&quot;:568.1}"/>
</p:tagLst>
</file>

<file path=ppt/tags/tag26.xml><?xml version="1.0" encoding="utf-8"?>
<p:tagLst xmlns:p="http://schemas.openxmlformats.org/presentationml/2006/main">
  <p:tag name="KSO_WM_DIAGRAM_VIRTUALLY_FRAME" val="{&quot;height&quot;:280.7,&quot;left&quot;:336.55,&quot;top&quot;:74.7,&quot;width&quot;:568.1}"/>
</p:tagLst>
</file>

<file path=ppt/tags/tag27.xml><?xml version="1.0" encoding="utf-8"?>
<p:tagLst xmlns:p="http://schemas.openxmlformats.org/presentationml/2006/main">
  <p:tag name="KSO_WM_DIAGRAM_VIRTUALLY_FRAME" val="{&quot;height&quot;:280.7,&quot;left&quot;:336.55,&quot;top&quot;:74.7,&quot;width&quot;:568.1}"/>
</p:tagLst>
</file>

<file path=ppt/tags/tag28.xml><?xml version="1.0" encoding="utf-8"?>
<p:tagLst xmlns:p="http://schemas.openxmlformats.org/presentationml/2006/main">
  <p:tag name="KSO_WM_DIAGRAM_VIRTUALLY_FRAME" val="{&quot;height&quot;:280.7,&quot;left&quot;:336.55,&quot;top&quot;:74.7,&quot;width&quot;:568.1}"/>
</p:tagLst>
</file>

<file path=ppt/tags/tag29.xml><?xml version="1.0" encoding="utf-8"?>
<p:tagLst xmlns:p="http://schemas.openxmlformats.org/presentationml/2006/main">
  <p:tag name="KSO_WM_DIAGRAM_VIRTUALLY_FRAME" val="{&quot;height&quot;:280.7,&quot;left&quot;:336.55,&quot;top&quot;:74.7,&quot;width&quot;:568.1}"/>
</p:tagLst>
</file>

<file path=ppt/tags/tag30.xml><?xml version="1.0" encoding="utf-8"?>
<p:tagLst xmlns:p="http://schemas.openxmlformats.org/presentationml/2006/main">
  <p:tag name="KSO_WM_DIAGRAM_VIRTUALLY_FRAME" val="{&quot;height&quot;:280.7,&quot;left&quot;:336.55,&quot;top&quot;:74.7,&quot;width&quot;:568.1}"/>
</p:tagLst>
</file>

<file path=ppt/tags/tag31.xml><?xml version="1.0" encoding="utf-8"?>
<p:tagLst xmlns:p="http://schemas.openxmlformats.org/presentationml/2006/main">
  <p:tag name="KSO_WM_DIAGRAM_VIRTUALLY_FRAME" val="{&quot;height&quot;:280.7,&quot;left&quot;:336.55,&quot;top&quot;:74.7,&quot;width&quot;:568.1}"/>
</p:tagLst>
</file>

<file path=ppt/tags/tag32.xml><?xml version="1.0" encoding="utf-8"?>
<p:tagLst xmlns:p="http://schemas.openxmlformats.org/presentationml/2006/main">
  <p:tag name="KSO_WM_DIAGRAM_VIRTUALLY_FRAME" val="{&quot;height&quot;:249.3285489828646,&quot;left&quot;:56.25,&quot;top&quot;:146.09613608653606,&quot;width&quot;:340.92298715203424}"/>
</p:tagLst>
</file>

<file path=ppt/tags/tag33.xml><?xml version="1.0" encoding="utf-8"?>
<p:tagLst xmlns:p="http://schemas.openxmlformats.org/presentationml/2006/main">
  <p:tag name="KSO_WM_DIAGRAM_VIRTUALLY_FRAME" val="{&quot;height&quot;:249.3285489828646,&quot;left&quot;:56.25,&quot;top&quot;:146.09613608653606,&quot;width&quot;:340.92298715203424}"/>
</p:tagLst>
</file>

<file path=ppt/tags/tag34.xml><?xml version="1.0" encoding="utf-8"?>
<p:tagLst xmlns:p="http://schemas.openxmlformats.org/presentationml/2006/main">
  <p:tag name="KSO_WM_DIAGRAM_VIRTUALLY_FRAME" val="{&quot;height&quot;:249.3285489828646,&quot;left&quot;:56.25,&quot;top&quot;:146.09613608653606,&quot;width&quot;:340.92298715203424}"/>
</p:tagLst>
</file>

<file path=ppt/tags/tag35.xml><?xml version="1.0" encoding="utf-8"?>
<p:tagLst xmlns:p="http://schemas.openxmlformats.org/presentationml/2006/main">
  <p:tag name="KSO_WM_DIAGRAM_VIRTUALLY_FRAME" val="{&quot;height&quot;:249.3285489828646,&quot;left&quot;:56.25,&quot;top&quot;:146.09613608653606,&quot;width&quot;:340.92298715203424}"/>
</p:tagLst>
</file>

<file path=ppt/tags/tag36.xml><?xml version="1.0" encoding="utf-8"?>
<p:tagLst xmlns:p="http://schemas.openxmlformats.org/presentationml/2006/main">
  <p:tag name="KSO_WM_DIAGRAM_VIRTUALLY_FRAME" val="{&quot;height&quot;:249.3285489828646,&quot;left&quot;:56.25,&quot;top&quot;:146.09613608653606,&quot;width&quot;:340.92298715203424}"/>
</p:tagLst>
</file>

<file path=ppt/tags/tag37.xml><?xml version="1.0" encoding="utf-8"?>
<p:tagLst xmlns:p="http://schemas.openxmlformats.org/presentationml/2006/main">
  <p:tag name="KSO_WM_DIAGRAM_VIRTUALLY_FRAME" val="{&quot;height&quot;:249.3285489828646,&quot;left&quot;:56.25,&quot;top&quot;:146.09613608653606,&quot;width&quot;:340.92298715203424}"/>
</p:tagLst>
</file>

<file path=ppt/tags/tag38.xml><?xml version="1.0" encoding="utf-8"?>
<p:tagLst xmlns:p="http://schemas.openxmlformats.org/presentationml/2006/main">
  <p:tag name="KSO_WM_DIAGRAM_MAX_ITEMCNT" val="3"/>
  <p:tag name="KSO_WM_DIAGRAM_MIN_ITEMCNT" val="2"/>
  <p:tag name="KSO_WM_DIAGRAM_VIRTUALLY_FRAME" val="{&quot;height&quot;:244.57638244628907,&quot;left&quot;:51.3,&quot;top&quot;:116.75,&quot;width&quot;:849.3944458007812}"/>
  <p:tag name="KSO_WM_DIAGRAM_COLOR_MATCH_VALUE" val="{&quot;shape&quot;:{&quot;fill&quot;:{&quot;solid&quot;:{&quot;brightness&quot;:-0.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8277_2*l_h_i*1_3_2"/>
  <p:tag name="KSO_WM_TEMPLATE_CATEGORY" val="diagram"/>
  <p:tag name="KSO_WM_TEMPLATE_INDEX" val="20238277"/>
  <p:tag name="KSO_WM_UNIT_LAYERLEVEL" val="1_1_1"/>
  <p:tag name="KSO_WM_TAG_VERSION" val="3.0"/>
  <p:tag name="KSO_WM_UNIT_FILL_TYPE" val="1"/>
  <p:tag name="KSO_WM_UNIT_FILL_FORE_SCHEMECOLOR_INDEX" val="5"/>
  <p:tag name="KSO_WM_UNIT_FILL_FORE_SCHEMECOLOR_INDEX_BRIGHTNESS" val="-0.5"/>
  <p:tag name="KSO_WM_DIAGRAM_USE_COLOR_VALUE" val="{&quot;color_scheme&quot;:1,&quot;color_type&quot;:1,&quot;theme_color_indexes&quot;:[]}"/>
</p:tagLst>
</file>

<file path=ppt/tags/tag39.xml><?xml version="1.0" encoding="utf-8"?>
<p:tagLst xmlns:p="http://schemas.openxmlformats.org/presentationml/2006/main">
  <p:tag name="KSO_WM_DIAGRAM_MAX_ITEMCNT" val="3"/>
  <p:tag name="KSO_WM_DIAGRAM_MIN_ITEMCNT" val="2"/>
  <p:tag name="KSO_WM_DIAGRAM_VIRTUALLY_FRAME" val="{&quot;height&quot;:246.7,&quot;left&quot;:51.3,&quot;top&quot;:116.75,&quot;width&quot;:849.3944458007812}"/>
  <p:tag name="KSO_WM_DIAGRAM_COLOR_MATCH_VALUE" val="{&quot;shape&quot;:{&quot;fill&quot;:{&quot;solid&quot;:{&quot;brightness&quot;:-0.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238277_2*l_h_i*1_1_2"/>
  <p:tag name="KSO_WM_TEMPLATE_CATEGORY" val="diagram"/>
  <p:tag name="KSO_WM_TEMPLATE_INDEX" val="20238277"/>
  <p:tag name="KSO_WM_UNIT_LAYERLEVEL" val="1_1_1"/>
  <p:tag name="KSO_WM_TAG_VERSION" val="3.0"/>
  <p:tag name="KSO_WM_BEAUTIFY_FLAG" val="#wm#"/>
  <p:tag name="KSO_WM_UNIT_FILL_TYPE" val="1"/>
  <p:tag name="KSO_WM_UNIT_FILL_FORE_SCHEMECOLOR_INDEX" val="5"/>
  <p:tag name="KSO_WM_UNIT_FILL_FORE_SCHEMECOLOR_INDEX_BRIGHTNESS" val="-0.5"/>
  <p:tag name="KSO_WM_DIAGRAM_USE_COLOR_VALUE" val="{&quot;color_scheme&quot;:1,&quot;color_type&quot;:1,&quot;theme_color_indexes&quot;:[]}"/>
</p:tagLst>
</file>

<file path=ppt/tags/tag40.xml><?xml version="1.0" encoding="utf-8"?>
<p:tagLst xmlns:p="http://schemas.openxmlformats.org/presentationml/2006/main">
  <p:tag name="KSO_WM_DIAGRAM_MAX_ITEMCNT" val="3"/>
  <p:tag name="KSO_WM_DIAGRAM_MIN_ITEMCNT" val="2"/>
  <p:tag name="KSO_WM_DIAGRAM_VIRTUALLY_FRAME" val="{&quot;height&quot;:246.7,&quot;left&quot;:51.3,&quot;top&quot;:116.75,&quot;width&quot;:849.3944458007812}"/>
  <p:tag name="KSO_WM_DIAGRAM_COLOR_MATCH_VALUE" val="{&quot;shape&quot;:{&quot;fill&quot;:{&quot;solid&quot;:{&quot;brightness&quot;:-0.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8277_2*l_h_i*1_3_2"/>
  <p:tag name="KSO_WM_TEMPLATE_CATEGORY" val="diagram"/>
  <p:tag name="KSO_WM_TEMPLATE_INDEX" val="20238277"/>
  <p:tag name="KSO_WM_UNIT_LAYERLEVEL" val="1_1_1"/>
  <p:tag name="KSO_WM_TAG_VERSION" val="3.0"/>
  <p:tag name="KSO_WM_BEAUTIFY_FLAG" val="#wm#"/>
  <p:tag name="KSO_WM_UNIT_FILL_TYPE" val="1"/>
  <p:tag name="KSO_WM_UNIT_FILL_FORE_SCHEMECOLOR_INDEX" val="5"/>
  <p:tag name="KSO_WM_UNIT_FILL_FORE_SCHEMECOLOR_INDEX_BRIGHTNESS" val="-0.5"/>
  <p:tag name="KSO_WM_DIAGRAM_USE_COLOR_VALUE" val="{&quot;color_scheme&quot;:1,&quot;color_type&quot;:1,&quot;theme_color_indexes&quot;:[]}"/>
</p:tagLst>
</file>

<file path=ppt/tags/tag41.xml><?xml version="1.0" encoding="utf-8"?>
<p:tagLst xmlns:p="http://schemas.openxmlformats.org/presentationml/2006/main">
  <p:tag name="KSO_WM_DIAGRAM_MAX_ITEMCNT" val="3"/>
  <p:tag name="KSO_WM_DIAGRAM_MIN_ITEMCNT" val="2"/>
  <p:tag name="KSO_WM_DIAGRAM_VIRTUALLY_FRAME" val="{&quot;height&quot;:244.57638244628907,&quot;left&quot;:51.3,&quot;top&quot;:116.75,&quot;width&quot;:849.3944458007812}"/>
  <p:tag name="KSO_WM_DIAGRAM_COLOR_MATCH_VALUE" val="{&quot;shape&quot;:{&quot;fill&quot;:{&quot;solid&quot;:{&quot;brightness&quot;:-0.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8277_2*l_h_i*1_3_2"/>
  <p:tag name="KSO_WM_TEMPLATE_CATEGORY" val="diagram"/>
  <p:tag name="KSO_WM_TEMPLATE_INDEX" val="20238277"/>
  <p:tag name="KSO_WM_UNIT_LAYERLEVEL" val="1_1_1"/>
  <p:tag name="KSO_WM_TAG_VERSION" val="3.0"/>
  <p:tag name="KSO_WM_UNIT_FILL_TYPE" val="1"/>
  <p:tag name="KSO_WM_UNIT_FILL_FORE_SCHEMECOLOR_INDEX" val="5"/>
  <p:tag name="KSO_WM_UNIT_FILL_FORE_SCHEMECOLOR_INDEX_BRIGHTNESS" val="-0.5"/>
  <p:tag name="KSO_WM_DIAGRAM_USE_COLOR_VALUE" val="{&quot;color_scheme&quot;:1,&quot;color_type&quot;:1,&quot;theme_color_indexes&quot;:[]}"/>
</p:tagLst>
</file>

<file path=ppt/tags/tag42.xml><?xml version="1.0" encoding="utf-8"?>
<p:tagLst xmlns:p="http://schemas.openxmlformats.org/presentationml/2006/main">
  <p:tag name="KSO_WM_DIAGRAM_MIN_ITEMCNT" val="2"/>
  <p:tag name="KSO_WM_DIAGRAM_MAX_ITEMCNT" val="3"/>
  <p:tag name="KSO_WM_DIAGRAM_VIRTUALLY_FRAME" val="{&quot;height&quot;:244.57638244628907,&quot;left&quot;:51.3,&quot;top&quot;:116.75,&quot;width&quot;:849.3944458007812}"/>
  <p:tag name="KSO_WM_DIAGRAM_COLOR_MATCH_VALUE" val="{&quot;shape&quot;:{&quot;fill&quot;:{&quot;solid&quot;:{&quot;brightness&quot;:0,&quot;colorType&quot;:2,&quot;rgb&quot;:&quot;#ffffff&quot;,&quot;transparency&quot;:0},&quot;type&quot;:1},&quot;glow&quot;:{&quot;colorType&quot;:0},&quot;line&quot;:{&quot;solidLine&quot;:{&quot;brightness&quot;:0.800000011920929,&quot;colorType&quot;:1,&quot;foreColorIndex&quot;:5,&quot;transparency&quot;:0},&quot;type&quot;:1},&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292929&quot;,&quot;transparency&quot;:0},&quot;type&quot;:1},&quot;glow&quot;:{&quot;colorType&quot;:0},&quot;line&quot;:{&quot;type&quot;:0},&quot;shadow&quot;:{&quot;colorType&quot;:0},&quot;threeD&quot;:{&quot;curvedSurface&quot;:{&quot;brightness&quot;:0,&quot;colorType&quot;:2,&quot;rgb&quot;:&quot;#000000&quot;},&quot;depth&quot;:{&quot;colorType&quot;:0}}}}"/>
  <p:tag name="KSO_WM_UNIT_LINE_FILL_TYPE" val="2"/>
  <p:tag name="KSO_WM_DIAGRAM_VERSION" val="3"/>
  <p:tag name="KSO_WM_DIAGRAM_COLOR_TRICK" val="1"/>
  <p:tag name="KSO_WM_DIAGRAM_COLOR_TEXT_CAN_REMOVE" val="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8277_2*l_h_f*1_3_1"/>
  <p:tag name="KSO_WM_TEMPLATE_CATEGORY" val="diagram"/>
  <p:tag name="KSO_WM_TEMPLATE_INDEX" val="20238277"/>
  <p:tag name="KSO_WM_UNIT_LAYERLEVEL" val="1_1_1"/>
  <p:tag name="KSO_WM_TAG_VERSION" val="3.0"/>
  <p:tag name="KSO_WM_UNIT_PRESET_TEXT" val="Click here to add text"/>
  <p:tag name="KSO_WM_UNIT_LINE_FORE_SCHEMECOLOR_INDEX" val="5"/>
  <p:tag name="KSO_WM_DIAGRAM_USE_COLOR_VALUE" val="{&quot;color_scheme&quot;:1,&quot;color_type&quot;:1,&quot;theme_color_indexes&quot;:[]}"/>
</p:tagLst>
</file>

<file path=ppt/tags/tag43.xml><?xml version="1.0" encoding="utf-8"?>
<p:tagLst xmlns:p="http://schemas.openxmlformats.org/presentationml/2006/main">
  <p:tag name="KSO_WM_DIAGRAM_MAX_ITEMCNT" val="3"/>
  <p:tag name="KSO_WM_DIAGRAM_MIN_ITEMCNT" val="2"/>
  <p:tag name="KSO_WM_DIAGRAM_VIRTUALLY_FRAME" val="{&quot;height&quot;:244.57638244628907,&quot;left&quot;:51.3,&quot;top&quot;:116.75,&quot;width&quot;:849.3944458007812}"/>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8277_2*l_h_a*1_3_1"/>
  <p:tag name="KSO_WM_TEMPLATE_CATEGORY" val="diagram"/>
  <p:tag name="KSO_WM_TEMPLATE_INDEX" val="20238277"/>
  <p:tag name="KSO_WM_UNIT_LAYERLEVEL" val="1_1_1"/>
  <p:tag name="KSO_WM_TAG_VERSION" val="3.0"/>
  <p:tag name="KSO_WM_UNIT_PRESET_TEXT" val="Your title here"/>
  <p:tag name="KSO_WM_UNIT_FILL_TYPE" val="3"/>
  <p:tag name="KSO_WM_UNIT_TEXT_FILL_FORE_SCHEMECOLOR_INDEX" val="1"/>
  <p:tag name="KSO_WM_UNIT_TEXT_FILL_TYPE" val="1"/>
  <p:tag name="KSO_WM_DIAGRAM_USE_COLOR_VALUE" val="{&quot;color_scheme&quot;:1,&quot;color_type&quot;:1,&quot;theme_color_indexes&quot;:[]}"/>
</p:tagLst>
</file>

<file path=ppt/tags/tag44.xml><?xml version="1.0" encoding="utf-8"?>
<p:tagLst xmlns:p="http://schemas.openxmlformats.org/presentationml/2006/main">
  <p:tag name="KSO_WM_DIAGRAM_MIN_ITEMCNT" val="2"/>
  <p:tag name="KSO_WM_DIAGRAM_MAX_ITEMCNT" val="3"/>
  <p:tag name="KSO_WM_DIAGRAM_VIRTUALLY_FRAME" val="{&quot;height&quot;:246.7,&quot;left&quot;:51.3,&quot;top&quot;:116.75,&quot;width&quot;:849.3944458007812}"/>
  <p:tag name="KSO_WM_DIAGRAM_COLOR_MATCH_VALUE" val="{&quot;shape&quot;:{&quot;fill&quot;:{&quot;solid&quot;:{&quot;brightness&quot;:0,&quot;colorType&quot;:2,&quot;rgb&quot;:&quot;#ffffff&quot;,&quot;transparency&quot;:0},&quot;type&quot;:1},&quot;glow&quot;:{&quot;colorType&quot;:0},&quot;line&quot;:{&quot;solidLine&quot;:{&quot;brightness&quot;:0.800000011920929,&quot;colorType&quot;:1,&quot;foreColorIndex&quot;:5,&quot;transparency&quot;:0},&quot;type&quot;:1},&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292929&quot;,&quot;transparency&quot;:0},&quot;type&quot;:1},&quot;glow&quot;:{&quot;colorType&quot;:0},&quot;line&quot;:{&quot;type&quot;:0},&quot;shadow&quot;:{&quot;colorType&quot;:0},&quot;threeD&quot;:{&quot;curvedSurface&quot;:{&quot;brightness&quot;:0,&quot;colorType&quot;:2,&quot;rgb&quot;:&quot;#000000&quot;},&quot;depth&quot;:{&quot;colorType&quot;:0}}}}"/>
  <p:tag name="KSO_WM_UNIT_LINE_FILL_TYPE" val="2"/>
  <p:tag name="KSO_WM_DIAGRAM_VERSION" val="3"/>
  <p:tag name="KSO_WM_DIAGRAM_COLOR_TRICK" val="1"/>
  <p:tag name="KSO_WM_DIAGRAM_COLOR_TEXT_CAN_REMOVE" val="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8277_2*l_h_f*1_3_1"/>
  <p:tag name="KSO_WM_TEMPLATE_CATEGORY" val="diagram"/>
  <p:tag name="KSO_WM_TEMPLATE_INDEX" val="20238277"/>
  <p:tag name="KSO_WM_UNIT_LAYERLEVEL" val="1_1_1"/>
  <p:tag name="KSO_WM_TAG_VERSION" val="3.0"/>
  <p:tag name="KSO_WM_BEAUTIFY_FLAG" val="#wm#"/>
  <p:tag name="KSO_WM_UNIT_PRESET_TEXT" val="Click here to add text"/>
  <p:tag name="KSO_WM_UNIT_LINE_FORE_SCHEMECOLOR_INDEX" val="5"/>
  <p:tag name="KSO_WM_DIAGRAM_USE_COLOR_VALUE" val="{&quot;color_scheme&quot;:1,&quot;color_type&quot;:1,&quot;theme_color_indexes&quot;:[]}"/>
</p:tagLst>
</file>

<file path=ppt/tags/tag45.xml><?xml version="1.0" encoding="utf-8"?>
<p:tagLst xmlns:p="http://schemas.openxmlformats.org/presentationml/2006/main">
  <p:tag name="KSO_WM_DIAGRAM_MIN_ITEMCNT" val="2"/>
  <p:tag name="KSO_WM_DIAGRAM_MAX_ITEMCNT" val="3"/>
  <p:tag name="KSO_WM_DIAGRAM_VIRTUALLY_FRAME" val="{&quot;height&quot;:244.57638244628907,&quot;left&quot;:51.3,&quot;top&quot;:116.75,&quot;width&quot;:849.3944458007812}"/>
  <p:tag name="KSO_WM_DIAGRAM_COLOR_MATCH_VALUE" val="{&quot;shape&quot;:{&quot;fill&quot;:{&quot;solid&quot;:{&quot;brightness&quot;:0,&quot;colorType&quot;:2,&quot;rgb&quot;:&quot;#ffffff&quot;,&quot;transparency&quot;:0},&quot;type&quot;:1},&quot;glow&quot;:{&quot;colorType&quot;:0},&quot;line&quot;:{&quot;solidLine&quot;:{&quot;brightness&quot;:0.800000011920929,&quot;colorType&quot;:1,&quot;foreColorIndex&quot;:5,&quot;transparency&quot;:0},&quot;type&quot;:1},&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292929&quot;,&quot;transparency&quot;:0},&quot;type&quot;:1},&quot;glow&quot;:{&quot;colorType&quot;:0},&quot;line&quot;:{&quot;type&quot;:0},&quot;shadow&quot;:{&quot;colorType&quot;:0},&quot;threeD&quot;:{&quot;curvedSurface&quot;:{&quot;brightness&quot;:0,&quot;colorType&quot;:2,&quot;rgb&quot;:&quot;#000000&quot;},&quot;depth&quot;:{&quot;colorType&quot;:0}}}}"/>
  <p:tag name="KSO_WM_UNIT_LINE_FILL_TYPE" val="2"/>
  <p:tag name="KSO_WM_DIAGRAM_VERSION" val="3"/>
  <p:tag name="KSO_WM_DIAGRAM_COLOR_TRICK" val="1"/>
  <p:tag name="KSO_WM_DIAGRAM_COLOR_TEXT_CAN_REMOVE" val="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8277_2*l_h_f*1_3_1"/>
  <p:tag name="KSO_WM_TEMPLATE_CATEGORY" val="diagram"/>
  <p:tag name="KSO_WM_TEMPLATE_INDEX" val="20238277"/>
  <p:tag name="KSO_WM_UNIT_LAYERLEVEL" val="1_1_1"/>
  <p:tag name="KSO_WM_TAG_VERSION" val="3.0"/>
  <p:tag name="KSO_WM_UNIT_PRESET_TEXT" val="Click here to add text"/>
  <p:tag name="KSO_WM_UNIT_LINE_FORE_SCHEMECOLOR_INDEX" val="5"/>
  <p:tag name="KSO_WM_DIAGRAM_USE_COLOR_VALUE" val="{&quot;color_scheme&quot;:1,&quot;color_type&quot;:1,&quot;theme_color_indexes&quot;:[]}"/>
</p:tagLst>
</file>

<file path=ppt/tags/tag46.xml><?xml version="1.0" encoding="utf-8"?>
<p:tagLst xmlns:p="http://schemas.openxmlformats.org/presentationml/2006/main">
  <p:tag name="KSO_WM_DIAGRAM_MAX_ITEMCNT" val="3"/>
  <p:tag name="KSO_WM_DIAGRAM_MIN_ITEMCNT" val="2"/>
  <p:tag name="KSO_WM_DIAGRAM_VIRTUALLY_FRAME" val="{&quot;height&quot;:244.57638244628907,&quot;left&quot;:51.3,&quot;top&quot;:116.75,&quot;width&quot;:849.3944458007812}"/>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8277_2*l_h_a*1_3_1"/>
  <p:tag name="KSO_WM_TEMPLATE_CATEGORY" val="diagram"/>
  <p:tag name="KSO_WM_TEMPLATE_INDEX" val="20238277"/>
  <p:tag name="KSO_WM_UNIT_LAYERLEVEL" val="1_1_1"/>
  <p:tag name="KSO_WM_TAG_VERSION" val="3.0"/>
  <p:tag name="KSO_WM_UNIT_PRESET_TEXT" val="Your title here"/>
  <p:tag name="KSO_WM_UNIT_FILL_TYPE" val="3"/>
  <p:tag name="KSO_WM_UNIT_TEXT_FILL_FORE_SCHEMECOLOR_INDEX" val="1"/>
  <p:tag name="KSO_WM_UNIT_TEXT_FILL_TYPE" val="1"/>
  <p:tag name="KSO_WM_DIAGRAM_USE_COLOR_VALUE" val="{&quot;color_scheme&quot;:1,&quot;color_type&quot;:1,&quot;theme_color_indexes&quot;:[]}"/>
</p:tagLst>
</file>

<file path=ppt/tags/tag47.xml><?xml version="1.0" encoding="utf-8"?>
<p:tagLst xmlns:p="http://schemas.openxmlformats.org/presentationml/2006/main">
  <p:tag name="KSO_WM_DIAGRAM_MAX_ITEMCNT" val="3"/>
  <p:tag name="KSO_WM_DIAGRAM_MIN_ITEMCNT" val="2"/>
  <p:tag name="KSO_WM_DIAGRAM_VIRTUALLY_FRAME" val="{&quot;height&quot;:246.7,&quot;left&quot;:51.3,&quot;top&quot;:116.75,&quot;width&quot;:849.3944458007812}"/>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8277_2*l_h_a*1_3_1"/>
  <p:tag name="KSO_WM_TEMPLATE_CATEGORY" val="diagram"/>
  <p:tag name="KSO_WM_TEMPLATE_INDEX" val="20238277"/>
  <p:tag name="KSO_WM_UNIT_LAYERLEVEL" val="1_1_1"/>
  <p:tag name="KSO_WM_TAG_VERSION" val="3.0"/>
  <p:tag name="KSO_WM_BEAUTIFY_FLAG" val="#wm#"/>
  <p:tag name="KSO_WM_UNIT_PRESET_TEXT" val="Your title here"/>
  <p:tag name="KSO_WM_UNIT_FILL_TYPE" val="3"/>
  <p:tag name="KSO_WM_UNIT_TEXT_FILL_FORE_SCHEMECOLOR_INDEX" val="1"/>
  <p:tag name="KSO_WM_UNIT_TEXT_FILL_TYPE" val="1"/>
  <p:tag name="KSO_WM_DIAGRAM_USE_COLOR_VALUE" val="{&quot;color_scheme&quot;:1,&quot;color_type&quot;:1,&quot;theme_color_indexes&quot;:[]}"/>
</p:tagLst>
</file>

<file path=ppt/tags/tag48.xml><?xml version="1.0" encoding="utf-8"?>
<p:tagLst xmlns:p="http://schemas.openxmlformats.org/presentationml/2006/main">
  <p:tag name="KSO_WM_DIAGRAM_VIRTUALLY_FRAME" val="{&quot;height&quot;:334.2,&quot;left&quot;:49.6,&quot;top&quot;:91.2,&quot;width&quot;:463.05}"/>
</p:tagLst>
</file>

<file path=ppt/tags/tag49.xml><?xml version="1.0" encoding="utf-8"?>
<p:tagLst xmlns:p="http://schemas.openxmlformats.org/presentationml/2006/main">
  <p:tag name="KSO_WM_DIAGRAM_VIRTUALLY_FRAME" val="{&quot;height&quot;:334.2,&quot;left&quot;:49.6,&quot;top&quot;:91.2,&quot;width&quot;:463.05}"/>
</p:tagLst>
</file>

<file path=ppt/tags/tag50.xml><?xml version="1.0" encoding="utf-8"?>
<p:tagLst xmlns:p="http://schemas.openxmlformats.org/presentationml/2006/main">
  <p:tag name="KSO_WM_DIAGRAM_VIRTUALLY_FRAME" val="{&quot;height&quot;:334.2,&quot;left&quot;:49.6,&quot;top&quot;:91.2,&quot;width&quot;:463.05}"/>
</p:tagLst>
</file>

<file path=ppt/tags/tag51.xml><?xml version="1.0" encoding="utf-8"?>
<p:tagLst xmlns:p="http://schemas.openxmlformats.org/presentationml/2006/main">
  <p:tag name="KSO_WM_DIAGRAM_VIRTUALLY_FRAME" val="{&quot;height&quot;:334.2,&quot;left&quot;:49.6,&quot;top&quot;:91.2,&quot;width&quot;:463.05}"/>
</p:tagLst>
</file>

<file path=ppt/tags/tag52.xml><?xml version="1.0" encoding="utf-8"?>
<p:tagLst xmlns:p="http://schemas.openxmlformats.org/presentationml/2006/main">
  <p:tag name="KSO_WM_DIAGRAM_VIRTUALLY_FRAME" val="{&quot;height&quot;:334.2,&quot;left&quot;:49.6,&quot;top&quot;:91.2,&quot;width&quot;:463.05}"/>
</p:tagLst>
</file>

<file path=ppt/tags/tag53.xml><?xml version="1.0" encoding="utf-8"?>
<p:tagLst xmlns:p="http://schemas.openxmlformats.org/presentationml/2006/main">
  <p:tag name="KSO_WM_DIAGRAM_VIRTUALLY_FRAME" val="{&quot;height&quot;:334.2,&quot;left&quot;:49.6,&quot;top&quot;:91.2,&quot;width&quot;:463.05}"/>
</p:tagLst>
</file>

<file path=ppt/tags/tag54.xml><?xml version="1.0" encoding="utf-8"?>
<p:tagLst xmlns:p="http://schemas.openxmlformats.org/presentationml/2006/main">
  <p:tag name="KSO_WM_DIAGRAM_VIRTUALLY_FRAME" val="{&quot;height&quot;:334.2,&quot;left&quot;:49.6,&quot;top&quot;:91.2,&quot;width&quot;:463.05}"/>
</p:tagLst>
</file>

<file path=ppt/tags/tag55.xml><?xml version="1.0" encoding="utf-8"?>
<p:tagLst xmlns:p="http://schemas.openxmlformats.org/presentationml/2006/main">
  <p:tag name="KSO_WM_DIAGRAM_VIRTUALLY_FRAME" val="{&quot;height&quot;:334.2,&quot;left&quot;:49.6,&quot;top&quot;:91.2,&quot;width&quot;:463.05}"/>
</p:tagLst>
</file>

<file path=ppt/tags/tag56.xml><?xml version="1.0" encoding="utf-8"?>
<p:tagLst xmlns:p="http://schemas.openxmlformats.org/presentationml/2006/main">
  <p:tag name="KSO_WM_DIAGRAM_VIRTUALLY_FRAME" val="{&quot;height&quot;:334.2,&quot;left&quot;:49.6,&quot;top&quot;:91.2,&quot;width&quot;:463.05}"/>
</p:tagLst>
</file>

<file path=ppt/tags/tag57.xml><?xml version="1.0" encoding="utf-8"?>
<p:tagLst xmlns:p="http://schemas.openxmlformats.org/presentationml/2006/main">
  <p:tag name="KSO_WM_DIAGRAM_VIRTUALLY_FRAME" val="{&quot;height&quot;:334.2,&quot;left&quot;:49.6,&quot;top&quot;:91.2,&quot;width&quot;:463.05}"/>
</p:tagLst>
</file>

<file path=ppt/tags/tag58.xml><?xml version="1.0" encoding="utf-8"?>
<p:tagLst xmlns:p="http://schemas.openxmlformats.org/presentationml/2006/main">
  <p:tag name="KSO_WM_DIAGRAM_VIRTUALLY_FRAME" val="{&quot;height&quot;:334.2,&quot;left&quot;:49.6,&quot;top&quot;:91.2,&quot;width&quot;:463.05}"/>
</p:tagLst>
</file>

<file path=ppt/tags/tag59.xml><?xml version="1.0" encoding="utf-8"?>
<p:tagLst xmlns:p="http://schemas.openxmlformats.org/presentationml/2006/main">
  <p:tag name="KSO_WM_DIAGRAM_VIRTUALLY_FRAME" val="{&quot;height&quot;:334.2,&quot;left&quot;:49.6,&quot;top&quot;:91.2,&quot;width&quot;:463.05}"/>
</p:tagLst>
</file>

<file path=ppt/tags/tag60.xml><?xml version="1.0" encoding="utf-8"?>
<p:tagLst xmlns:p="http://schemas.openxmlformats.org/presentationml/2006/main">
  <p:tag name="KSO_WM_DIAGRAM_VIRTUALLY_FRAME" val="{&quot;height&quot;:334.2,&quot;left&quot;:49.6,&quot;top&quot;:91.2,&quot;width&quot;:463.05}"/>
</p:tagLst>
</file>

<file path=ppt/tags/tag61.xml><?xml version="1.0" encoding="utf-8"?>
<p:tagLst xmlns:p="http://schemas.openxmlformats.org/presentationml/2006/main">
  <p:tag name="KSO_WM_DIAGRAM_VIRTUALLY_FRAME" val="{&quot;height&quot;:334.2,&quot;left&quot;:49.6,&quot;top&quot;:91.2,&quot;width&quot;:463.05}"/>
</p:tagLst>
</file>

<file path=ppt/tags/tag62.xml><?xml version="1.0" encoding="utf-8"?>
<p:tagLst xmlns:p="http://schemas.openxmlformats.org/presentationml/2006/main">
  <p:tag name="KSO_WM_DIAGRAM_VIRTUALLY_FRAME" val="{&quot;height&quot;:334.2,&quot;left&quot;:49.6,&quot;top&quot;:91.2,&quot;width&quot;:463.05}"/>
</p:tagLst>
</file>

<file path=ppt/tags/tag63.xml><?xml version="1.0" encoding="utf-8"?>
<p:tagLst xmlns:p="http://schemas.openxmlformats.org/presentationml/2006/main">
  <p:tag name="KSO_WM_DIAGRAM_VIRTUALLY_FRAME" val="{&quot;height&quot;:334.2,&quot;left&quot;:49.6,&quot;top&quot;:91.2,&quot;width&quot;:463.05}"/>
</p:tagLst>
</file>

<file path=ppt/tags/tag64.xml><?xml version="1.0" encoding="utf-8"?>
<p:tagLst xmlns:p="http://schemas.openxmlformats.org/presentationml/2006/main">
  <p:tag name="KSO_WM_DIAGRAM_VIRTUALLY_FRAME" val="{&quot;height&quot;:334.2,&quot;left&quot;:49.6,&quot;top&quot;:91.2,&quot;width&quot;:463.05}"/>
</p:tagLst>
</file>

<file path=ppt/tags/tag65.xml><?xml version="1.0" encoding="utf-8"?>
<p:tagLst xmlns:p="http://schemas.openxmlformats.org/presentationml/2006/main">
  <p:tag name="KSO_WM_DIAGRAM_VIRTUALLY_FRAME" val="{&quot;height&quot;:334.2,&quot;left&quot;:49.6,&quot;top&quot;:91.2,&quot;width&quot;:463.05}"/>
</p:tagLst>
</file>

<file path=ppt/tags/tag66.xml><?xml version="1.0" encoding="utf-8"?>
<p:tagLst xmlns:p="http://schemas.openxmlformats.org/presentationml/2006/main">
  <p:tag name="resource_record_key" val="{&quot;70&quot;:[3321460,3320295]}"/>
</p:tagLst>
</file>

<file path=ppt/theme/theme1.xml><?xml version="1.0" encoding="utf-8"?>
<a:theme xmlns:a="http://schemas.openxmlformats.org/drawingml/2006/main" name="BIA Template">
  <a:themeElements>
    <a:clrScheme name="Custom 4">
      <a:dk1>
        <a:srgbClr val="161A3E"/>
      </a:dk1>
      <a:lt1>
        <a:sysClr val="window" lastClr="FFFFFF"/>
      </a:lt1>
      <a:dk2>
        <a:srgbClr val="44546A"/>
      </a:dk2>
      <a:lt2>
        <a:srgbClr val="E7E6E6"/>
      </a:lt2>
      <a:accent1>
        <a:srgbClr val="4472C4"/>
      </a:accent1>
      <a:accent2>
        <a:srgbClr val="ED7D31"/>
      </a:accent2>
      <a:accent3>
        <a:srgbClr val="44546A"/>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lang="en-GB" altLang="en-US"/>
        </a:defPPr>
      </a:lstStyle>
      <a:style>
        <a:lnRef idx="2">
          <a:schemeClr val="accent1">
            <a:lumMod val="75000"/>
          </a:schemeClr>
        </a:lnRef>
        <a:fillRef idx="1">
          <a:schemeClr val="accent1"/>
        </a:fillRef>
        <a:effectRef idx="0">
          <a:srgbClr val="FFFFFF"/>
        </a:effectRef>
        <a:fontRef idx="minor">
          <a:schemeClr val="lt1"/>
        </a:fontRef>
      </a:style>
    </a:sp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0</TotalTime>
  <Words>4506</Words>
  <Application>WPS Presentation</Application>
  <PresentationFormat>Widescreen</PresentationFormat>
  <Paragraphs>309</Paragraphs>
  <Slides>11</Slides>
  <Notes>1</Notes>
  <HiddenSlides>0</HiddenSlides>
  <MMClips>0</MMClips>
  <ScaleCrop>false</ScaleCrop>
  <HeadingPairs>
    <vt:vector size="6" baseType="variant">
      <vt:variant>
        <vt:lpstr>已用的字体</vt:lpstr>
      </vt:variant>
      <vt:variant>
        <vt:i4>28</vt:i4>
      </vt:variant>
      <vt:variant>
        <vt:lpstr>主题</vt:lpstr>
      </vt:variant>
      <vt:variant>
        <vt:i4>1</vt:i4>
      </vt:variant>
      <vt:variant>
        <vt:lpstr>幻灯片标题</vt:lpstr>
      </vt:variant>
      <vt:variant>
        <vt:i4>11</vt:i4>
      </vt:variant>
    </vt:vector>
  </HeadingPairs>
  <TitlesOfParts>
    <vt:vector size="40" baseType="lpstr">
      <vt:lpstr>Arial</vt:lpstr>
      <vt:lpstr>SimSun</vt:lpstr>
      <vt:lpstr>Wingdings</vt:lpstr>
      <vt:lpstr>Calibri</vt:lpstr>
      <vt:lpstr>Nunito</vt:lpstr>
      <vt:lpstr>Segoe Print</vt:lpstr>
      <vt:lpstr>Georgia Pro Cond Light</vt:lpstr>
      <vt:lpstr>DM Serif Display</vt:lpstr>
      <vt:lpstr>DM Sans</vt:lpstr>
      <vt:lpstr>DM Sans</vt:lpstr>
      <vt:lpstr>DM Sans</vt:lpstr>
      <vt:lpstr>Microsoft YaHei</vt:lpstr>
      <vt:lpstr>Arial Unicode MS</vt:lpstr>
      <vt:lpstr>MingLiU-ExtB</vt:lpstr>
      <vt:lpstr>Georgia Pro Cond</vt:lpstr>
      <vt:lpstr>DM Serif Display</vt:lpstr>
      <vt:lpstr>DM Serif Display</vt:lpstr>
      <vt:lpstr>Cambria Math</vt:lpstr>
      <vt:lpstr>Georgia Pro Cond Black</vt:lpstr>
      <vt:lpstr>Georgia Pro Black</vt:lpstr>
      <vt:lpstr>Calibri Light</vt:lpstr>
      <vt:lpstr>Bahnschrift</vt:lpstr>
      <vt:lpstr>Bahnschrift SemiBold Condensed</vt:lpstr>
      <vt:lpstr>Cascadia Mono</vt:lpstr>
      <vt:lpstr>Cascadia Mono SemiLight</vt:lpstr>
      <vt:lpstr>Cascadia Code ExtraLight</vt:lpstr>
      <vt:lpstr>Cascadia Code</vt:lpstr>
      <vt:lpstr>Consolas</vt:lpstr>
      <vt:lpstr>BIA Template</vt:lpstr>
      <vt:lpstr>PowerPoint 演示文稿</vt:lpstr>
      <vt:lpstr>Introduction &amp; Objectives</vt:lpstr>
      <vt:lpstr>PowerPoint 演示文稿</vt:lpstr>
      <vt:lpstr>PowerPoint 演示文稿</vt:lpstr>
      <vt:lpstr>PowerPoint 演示文稿</vt:lpstr>
      <vt:lpstr>PowerPoint 演示文稿</vt:lpstr>
      <vt:lpstr>Title</vt:lpstr>
      <vt:lpstr>PowerPoint 演示文稿</vt:lpstr>
      <vt:lpstr>PowerPoint 演示文稿</vt:lpstr>
      <vt:lpstr> Questions ?</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Aayush Shah</dc:creator>
  <cp:lastModifiedBy>Tushar Nalawade</cp:lastModifiedBy>
  <cp:revision>2257</cp:revision>
  <dcterms:created xsi:type="dcterms:W3CDTF">2020-12-23T13:36:00Z</dcterms:created>
  <dcterms:modified xsi:type="dcterms:W3CDTF">2026-04-12T16:00:51Z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0B547D39C558497AB25C6414A889D07D</vt:lpwstr>
  </property>
  <property fmtid="{D5CDD505-2E9C-101B-9397-08002B2CF9AE}" pid="3" name="KSOProductBuildVer">
    <vt:lpwstr>2057-12.2.0.23201</vt:lpwstr>
  </property>
</Properties>
</file>